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4114800"/>
            <a:ext cx="420624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4617720"/>
            <a:ext cx="3108960" cy="384048"/>
          </a:xfrm>
          <a:prstGeom prst="rect">
            <a:avLst/>
          </a:prstGeom>
          <a:solidFill>
            <a:srgbClr val="1B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0" y="5120640"/>
            <a:ext cx="201168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CA8"/>
                </a:solidFill>
                <a:latin typeface="Microsoft YaHei"/>
              </a:rPr>
              <a:t>2026 年海峡大学生人工智能创意大赛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AI 驱动的县域海漂垃圾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智能监测与调度系统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41648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感知 — 决策 — 执行 — 核算  完整闭环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确定性治理智能体内核 · 可审计决策证据链 · 可插拔执行端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汇报提纲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81328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184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问题提出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956816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为什么海面「看见垃圾」不等于「问题被解决」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32304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432304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69464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感知—决策—执行—核算的四层架构与三个核心创新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8328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383280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52044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技术验证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858768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自动化测试、智能体评测与软件集成验收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34256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334256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53542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471416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应用价值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809744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对治理主体的价值、可推广性与能力边界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85232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5285232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422392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加分项举证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760720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知识产权 · 用户需求验证 · 成本与供应链调研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真正的断点不在「看见」，而在「流转」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海漂垃圾治理包含五个环节，每个环节都有独立的失效方式：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792224" cy="500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摄像头巡查 / 无人机飞检 / 群众上报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覆盖时段有限；单帧误报多，人工复核成本高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98064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98064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487168"/>
            <a:ext cx="1792224" cy="500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值班人员肉眼判断是否真实存在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判断标准因人而异；无复核记录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派单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电话通知作业队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依赖个人经验；无优先级依据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0336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0336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作业船按经验航行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空驶多；近处设备被远派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91472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91472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487168"/>
            <a:ext cx="1792224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人工汇总台账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017520"/>
            <a:ext cx="1792224" cy="510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数据滞后、口径不一；难以证明闭环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33087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66928" y="4133087"/>
            <a:ext cx="54864" cy="173736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43159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E4C"/>
                </a:solidFill>
                <a:latin typeface="Microsoft YaHei"/>
              </a:rPr>
              <a:t>关键洞察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754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真正稀缺的不是「发现能力」，而是 </a:t>
            </a:r>
            <a:r>
              <a:rPr sz="1350">
                <a:solidFill>
                  <a:srgbClr val="5B6B7A"/>
                </a:solidFill>
                <a:latin typeface="Microsoft YaHei"/>
              </a:rPr>
              <a:t>从发现到核算的可信流转。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即使检测出 100 个漂浮物，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若无法证明「哪一条被处理了、效果如何、是否值得继续投入」，系统对治理的价值仍接近于零。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 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目标用户的核心任务与四问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当辖区海面出现影响航道、养殖、岸线或旅游环境的漂浮垃圾时，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我要在有限人力和预算下，快速确认问题、派出合适设备、跟踪执行过程，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并向上级证明问题已经闭环 —— 而不是只看到一堆视频和告警。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问题是否真实存在？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应该派谁、何时去？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代价是多少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执行是否顺利完成？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失败后如何处理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2288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最终清理了什么？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是否值得继续采购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需求优先级：按「对闭环可信性的影响」排序，而非实现难度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6344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70916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908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单帧误报抑制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001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值班人员被大量假目标消耗，最终关闭告警，系统整体失效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07492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056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决策过程可回溯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无法向上级证明结论，汇报只能靠人工台账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9496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544068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22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失败可恢复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43153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设备离线即任务悬挂，作业队不知为何停工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580644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88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派单依据量化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9729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空驶成本高，运营费用不可持续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12648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617220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539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高风险动作审批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16305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自动执行一旦出错，无人能拦截，责任不可追溯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设计决策：把「可信流转」放在「识别精度」之前 —— 精度不足只会漏报，流转不可信会让整个系统被使用者抛弃。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系统总体架构：四层闭环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感知层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536192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773936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岸基摄像头 / 无人机 / 人工上报  →  独立 HTTP 推理服务（OpenCV 检测 · ONNX 多 provider）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25880" y="2286000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151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事件层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2395728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26334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Schema 校验 → 双重幂等去重 → 时序验证（跟踪 · 连续命中 · 冷却）→ 可信事件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25880" y="3145536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3255264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决策层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3255264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24912" y="349300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治理智能体内核：Run → Planner → Policy Guard → Approval → Tool Executor → Observer → Verifier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25880" y="4005072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4114800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3342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4114800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24912" y="4352544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任务状态机 → MQTT 下发 → ACK → 进度遥测 → 异常换车重派  |  执行末端可插拔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25880" y="4864608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974336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51937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4974336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24912" y="52120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证据归档 → 日报月报聚合 → 治理热力图 → 单位成本核算 → 审计日志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依赖单向：下层不反向依赖上层；执行端设备不直接写数据库；感知层不直接触发派单（必须经过时序验证）。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技术栈与选型理由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162763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18013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Python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71907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异步 IO 适合同时处理设备上报与指令下发；Pydantic 提供 Schema 强校验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04288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数据库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" y="2304288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48256" y="24780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PostgreSQL 16 + PostGIS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957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事件与点位是天然空间数据；PostGIS 支持就近派单的空间查询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80944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消息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3664" y="2980944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48256" y="31546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EMQX (MQTT) + Redis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7238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设备下行用 MQTT（弱网适配好）；内部事件流支持消费组、PEL 与重投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5760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存储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3657600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48256" y="38313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749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证据帧与影像对象存储，兼容 S3 语义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34256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498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83664" y="4334256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48256" y="45079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Vue 3 + 地图可视化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2569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业务控制台与大屏统一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1091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51755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推理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83664" y="501091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48256" y="51846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ONNX Runtime（多 provider）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1023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不把加速卡写死：按 TensorRT → CUDA → CPU 顺序探测可用 provider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8756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5687568"/>
            <a:ext cx="54864" cy="71323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" y="5815584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关于智能层的设计选择：治理规则实现为确定性内核，而非交给大模型决策。派单涉及设备与公共资源，行为必须可预测、可解释、可追责，且断网时仍须工作。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创新一：时序先验的误报抑制链路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海面检测最大工程难题是误报：浪花、镜面反光、飞鸟、水草都会触发检测，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而其中绝大多数在下一帧就消失。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49631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抽帧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79776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按固定间隔取帧，降低无效计算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6976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55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目标跟踪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39312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基于位置与尺寸的历史窗口做关联，避免同一目标被当作多次独立检出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96512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096512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连续命中计数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98848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目标需连续在 N 帧中被检出才计数为有效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4956048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冷却窗口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58384"/>
            <a:ext cx="6309360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同一目标在冷却期内不重复生成事件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481328"/>
            <a:ext cx="4041648" cy="3200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1700784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合成海面测试结果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84831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≈ 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2656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时序链路误报抑制率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64992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口径：被时序环节过滤的检测数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÷ 输入检测总数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64608"/>
            <a:ext cx="11064240" cy="1536192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864608"/>
            <a:ext cx="54864" cy="1536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0292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必须明确的边界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76% 不是识别精度、不是召回率、不是准确率。分母是输入检测数，它衡量的是时序链路的过滤能力。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系统真实检测精度受限于独立测试集尚未放行，当前评测结论为「未评测」，本文不做任何精度宣称。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一个能说清数字含义与分母的指标，比一个含糊的「准确率 92%」更值得信任。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创新二：确定性治理智能体内核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识别、调度、报表都是能力模块，不是独立智能体。够格的治理智能体必须具备七类原语：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一次完整治理过程的容器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必须有触发源、最大步数、超时与终止原因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一次决策或工具调用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重规划产生新 step，历史步骤永不被覆盖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受控的能力调用单元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含版本、Schema、权限、超时、幂等键、错误码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3368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26771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动作前的策略守卫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56032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违规动作必须在工具执行前被阻断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高风险动作的人工闸门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留审批人、理由、时间，不可绕过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584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5584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5584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运行轨迹完整回放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可从任意 step 重放，用于排障与审计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4476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476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456432"/>
            <a:ext cx="2304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固定场景回归评测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749040"/>
            <a:ext cx="2304288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每次变更可一键对比，防止改好一处坏另一处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44398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运行状态机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6980" y="4882896"/>
            <a:ext cx="76347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created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82422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01168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00501" y="4882896"/>
            <a:ext cx="86594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planning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26898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45643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32855" y="4882896"/>
            <a:ext cx="12907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waiting_policy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713732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901184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69468" y="4882896"/>
            <a:ext cx="150701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waiting_approval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158484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45936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6830" y="4882896"/>
            <a:ext cx="9417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executing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603236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9068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32124" y="4882896"/>
            <a:ext cx="96071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observing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04798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23544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20862" y="4882896"/>
            <a:ext cx="87273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verifying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049274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068019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04893" y="4882896"/>
            <a:ext cx="99418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succeeded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58384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541324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392B"/>
                </a:solidFill>
                <a:latin typeface="Microsoft YaHei"/>
              </a:rPr>
              <a:t>失败路径：failed / cancelled / expired  →  进入 Replanner 产生新 Step  |  达到最大步数则安全终止  |  失败原因结构化保存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结构化失败原因：no_robot_available / tool_timeout / policy_denied / approval_rejected / task_conflict / max_steps_exceeded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大模型的位置：增强项，不是依赖项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治理场景涉及设备与公共资源，行为必须可预测、可解释、可追责，且断网时仍须工作。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2286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确定性内核承担（代码）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状态管理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规则判断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工具调用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超时与重试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终止条件判定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965960"/>
            <a:ext cx="50292" cy="228600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可选大模型承担（增强）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意图理解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异常解释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计划候选生成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自然语言总结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大模型输出必须经三重过滤：  JSON Schema 校验  →  策略守卫  →  工具白名单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85232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5285232"/>
            <a:ext cx="54864" cy="109728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440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模型不可用时自动回落到规则模式，系统核心治理闭环不中断。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这是本作品与「套壳大模型」的根本区别 —— 把大模型放在它真正擅长、且失败不致命的位置。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工具契约：每个动作都可被审计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所有工具必须声明：名称 / 版本 / 输入输出 Schema / 权限 / 风险级别 / 超时 / 幂等键 / 审计事件 / 错误码 —— 缺一不得注册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260604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47672"/>
            <a:ext cx="2423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883664"/>
            <a:ext cx="324612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947672"/>
            <a:ext cx="3063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83664"/>
            <a:ext cx="749808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1947672"/>
            <a:ext cx="5669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权限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1883664"/>
            <a:ext cx="82296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4656" y="1947672"/>
            <a:ext cx="640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1883664"/>
            <a:ext cx="137160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47672"/>
            <a:ext cx="11887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幂等键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6" y="1883664"/>
            <a:ext cx="1810512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12096" y="1947672"/>
            <a:ext cx="162763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关键错误码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86000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386584"/>
            <a:ext cx="91396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event.get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386584"/>
            <a:ext cx="126188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读取事件与证据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86584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386584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86584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386584"/>
            <a:ext cx="141481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event_not_found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06624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807208"/>
            <a:ext cx="192155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device.query_available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807208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查询可用设备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07208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807208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807208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807208"/>
            <a:ext cx="162358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device_unreachable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227832"/>
            <a:ext cx="121764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dispatch.plan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227832"/>
            <a:ext cx="218521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生成候选派单（含淘汰原因）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227832"/>
            <a:ext cx="49244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3227832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227832"/>
            <a:ext cx="351378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3227832"/>
            <a:ext cx="116762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no_candidate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547872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3648456"/>
            <a:ext cx="183210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task.create_or_merge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5848" y="3648456"/>
            <a:ext cx="126188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建单或合并任务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648456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3648456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648456"/>
            <a:ext cx="127855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event+window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3648456"/>
            <a:ext cx="1090363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task_conflict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968496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4069080"/>
            <a:ext cx="130054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task.transition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5848" y="4069080"/>
            <a:ext cx="80021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状态迁移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069080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4069080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069080"/>
            <a:ext cx="103105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task+status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2096" y="4069080"/>
            <a:ext cx="139012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illegal_transition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389120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" y="4489704"/>
            <a:ext cx="136447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mqtt.send_task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5848" y="4489704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下发设备指令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489704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4656" y="4489704"/>
            <a:ext cx="53091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0392B"/>
                </a:solidFill>
                <a:latin typeface="Microsoft YaHei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9056" y="4489704"/>
            <a:ext cx="1180451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task+attempt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2096" y="4489704"/>
            <a:ext cx="1079142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ack_timeout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809744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" y="4910328"/>
            <a:ext cx="20977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human.request_approval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55848" y="4910328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请求人工审批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4910328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656" y="4910328"/>
            <a:ext cx="79380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49056" y="4910328"/>
            <a:ext cx="100059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run+action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12096" y="4910328"/>
            <a:ext cx="1482457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approval_rejected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230368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8368" y="5330952"/>
            <a:ext cx="1409425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report.generate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5330952"/>
            <a:ext cx="110799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生成治理日报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3408" y="5330952"/>
            <a:ext cx="33855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4656" y="5330952"/>
            <a:ext cx="44595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5330952"/>
            <a:ext cx="1197764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window+type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2096" y="5330952"/>
            <a:ext cx="1403269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data_incomplete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7607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66928" y="5760720"/>
            <a:ext cx="54864" cy="65836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注意 dispatch.plan 必须输出淘汰原因 —— 不仅说明选了谁，也说明为什么没选另一个。这让调度决策可被复核，而非黑箱。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创新三：可审计的证据链与数据完整性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治理系统要能被追问，就必须为每个结论保留证据。对「数据不可信」做显式工程防御：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幂等去重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9202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设备重复上报、网络重传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19202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(device_id, seq) 与 event_id 双重判重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6888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5694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状态机守卫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4688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257860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非法状态跳转（未派单直接完成）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46888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显式允许的迁移表，非法迁移被拒绝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1752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11810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ACK 超时恢复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301752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0" y="312724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设备收到指令未确认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30175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12724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超时回退任务并换车，不重复建单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6616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66674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PEL 回收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56616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367588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消费者崩溃导致消息滞留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356616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67588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Redis Streams 消费组 + Pending 回收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11480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21538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字段可空性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411480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0" y="4224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无数据源时输出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411480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0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coverage_area 改为 nullable，无来源返回空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634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4764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操作留痕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61488" y="46634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26080" y="47731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谁在何时改了阈值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46634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47731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审计日志覆盖所有写操作与审批决定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413248"/>
            <a:ext cx="11064240" cy="987552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6928" y="5413248"/>
            <a:ext cx="54864" cy="987552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" y="55412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7A4C"/>
                </a:solidFill>
                <a:latin typeface="Microsoft YaHei"/>
              </a:rPr>
              <a:t>一条容易被忽视但极重要的原则：宁可留空，不可编造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在治理报表里，一个凭空的 0 会被读成「该区域无覆盖」或「该月无清理」，直接污染决策。所以 coverage_area 无来源时返回空，不写 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软硬结合：可插拔执行端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岸基检测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0320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平台研判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79392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自动派单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97296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98464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98464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MQTT 下发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16368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17536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17536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执行端拾取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3660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结果回传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272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为什么把执行末端设计成可插拔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1129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真实海域的约束来自执行器的物理特性：</a:t>
            </a:r>
            <a:r>
              <a:rPr sz="1350">
                <a:solidFill>
                  <a:srgbClr val="5B6B7A"/>
                </a:solidFill>
                <a:latin typeface="Microsoft YaHei"/>
              </a:rPr>
              <a:t>无人机受风力、续航、禁飞区限制；水面机器人受浅滩与渔网缠绕限制。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受限的是某一种执行器，不是系统架构。</a:t>
            </a:r>
            <a:r>
              <a:rPr sz="1350">
                <a:solidFill>
                  <a:srgbClr val="5B6B7A"/>
                </a:solidFill>
                <a:latin typeface="Microsoft YaHei"/>
              </a:rPr>
              <a:t>任务与通信契约标准化后，换个执行器契约不用改。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平台负责目标点、状态与证据回传，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不冒充已具备自主导航与避障能力。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17550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证据等级说明（必须如实标注）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522976"/>
            <a:ext cx="10607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当前执行端为模拟设备 / 受控实验环境，尚未开展真实海域验证。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可表述：已完成 MQTT 派单链路与执行端动作的受控仿真或实验室联调（E1/E2）。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不可表述：已在真实海面完成验证 —— 除非取得现场记录（E3）。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国产算力与工具链：已实测 / 方案级严格区分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486400" cy="42245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486400" cy="42062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已完成实测（E2 级 · 软件集成）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ONNX 模型导出链路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：固定 batch=1、opset 17、图简化，参数与昇腾 ATC 工具链的静态形状要求对齐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推理服务化与多 provider 探测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：独立 HTTP 服务，按 TensorRT → CUDA → CPU 顺序装配，实际 provider 通过健康检查暴露；加载失败降级 stub 并继续启动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智能体编排与知识检索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：在华为云 ModelArts / AgentArts 平台完成部署与多轮工具调用验收，无运行错误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知识图谱增强决策问答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：多跳检索与引用固化，每条结论可回溯到具体资产与版本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17904"/>
            <a:ext cx="5376672" cy="422452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517904"/>
            <a:ext cx="5376672" cy="42062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609344"/>
            <a:ext cx="5376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方案级设计（尚未在目标硬件实测）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08483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昇腾 Atlas + CANN 路径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：ONNX → om 转换（ATC 工具链）→ CANNExecutionProvider 推理 → OM 版本管理与热加载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代码改造点明确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：替换 provider 即可，不需改检测算法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大模型服务接入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：OpenAI 兼容协议（base_url + Bearer 鉴权 + 超时与错误分类 + 回落），已接线并通过行为测试，默认关闭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5074920"/>
            <a:ext cx="4846320" cy="2951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未在昇腾硬件上实测，因此按「方案级」表述，不作为已验证结论。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8873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5980176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把「已跑通」和「设计好」分开陈述 —— 这是评审信任的基础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验证体系：每一项结论都可复现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70048" cy="4572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6A9C"/>
                </a:solidFill>
                <a:latin typeface="Microsoft YaHei"/>
              </a:rPr>
              <a:t>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77440"/>
            <a:ext cx="2395728" cy="28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pytest · 业务/状态机/幂等/契约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7004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固定场景评测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9CA8"/>
                </a:solidFill>
                <a:latin typeface="Microsoft YaHei"/>
              </a:rPr>
              <a:t>27 /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77440"/>
            <a:ext cx="2395728" cy="484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无网络 · 无真实模型 · 无真实设备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572768"/>
            <a:ext cx="2670048" cy="4572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集成验收检查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A4C"/>
                </a:solidFill>
                <a:latin typeface="Microsoft YaHei"/>
              </a:rPr>
              <a:t>129 / 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377440"/>
            <a:ext cx="2395728" cy="484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真实 HTTP · 鉴权 · PG · 审批 · 幂等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572768"/>
            <a:ext cx="2670048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700784"/>
            <a:ext cx="23774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感知评测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Microsoft YaHei"/>
              </a:rPr>
              <a:t>未评测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395728" cy="281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 · 主动留空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017520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1089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契约漂移检查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27248" y="3017520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3118104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接口 Schema 与文档一致性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3017520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0" y="311810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通过 26 / 警告 0 / 失败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29584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36210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故障演练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7248" y="3529584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91840" y="363016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健康降级 · ACK 恢复 · 孪生闭环 · 持久化幂等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3529584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36301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4 组 / 127 用例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041648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41330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前端浏览器回归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4041648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414223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登录 · 权限 · 取消确认 · 关闭与刷新恢复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4041648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41422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交互场景全部通过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53712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46451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智能体评测环境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27248" y="4553712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91840" y="465429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network_access=false · model_access=false · device_access=false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05088" y="455371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0" y="465429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隔离运行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285232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66928" y="5285232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541324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主动披露弱项：评测中的两项未达设计目标的指标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5742432"/>
            <a:ext cx="10607040" cy="7637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recovery_success_rate 33.3%、invalid_loop_rate 7.4%。原因：评测集包含预期失败的负向场景，该指标反映「注入故障能否被完整恢复」，不等于正常流程成功率。已完成定位并列为下一迭代优化项。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会主动披露自己弱项并给出定位的团队，它已披露的强项才更值得相信。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能力边界：E0–E4 证据分级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想法 / 文档 / 接口草案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软件测试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代码 · 单元测试 · 确定性仿真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48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合成集成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377440"/>
            <a:ext cx="214884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多模块联调 · 合成数据 / 模拟设备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776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现场验证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377440"/>
            <a:ext cx="214884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真实设备 / 真实海域 / 真实用户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2804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商业验证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377440"/>
            <a:ext cx="214884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合同 · 订单 · 回款 · 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98094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本作品当前状态（不做越级宣称）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46704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392424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软件整体架构与治理闭环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392424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已实现并通过自动化测试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336499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3401568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94176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739896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智能体内核固定场景评测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3739896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27 场景全通过（无网络/无模型/无设备）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371246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61320" y="3749040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41648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4087368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真实 HTTP + 鉴权 + 数据库 + 审批 + 幂等 + 重启回放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087368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129 项检查全部通过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61320" y="405993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61320" y="4096512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389120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4434840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模型导出、推理服务化、多 provider 探测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4434840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已实现并自检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1320" y="4407408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61320" y="4443984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36592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4782312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云平台智能体部署与多轮工具调用验收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8" y="4782312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工具调用无运行错误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4754880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561320" y="4791456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84064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" y="5129784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检测精度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129784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独立测试集未放行，评测输出 not_evaluated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61320" y="510235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61320" y="5138928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未评测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431536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3232" y="5477256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昇腾硬件推理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5477256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路径设计完成，未在目标硬件实测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61320" y="544982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61320" y="5486400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方案级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779008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5824728"/>
            <a:ext cx="5852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真实海域验证 / 商业合同订单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824728"/>
            <a:ext cx="374903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未开展 / 未取得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61320" y="579729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561320" y="5833872"/>
            <a:ext cx="1051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未取得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本作品真正的价值不在于某个漂亮的演示，而在于建立了一条从感知到核算、每个环节都可被追问和核验的治理链路。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感知评测方法论：数据不足时，宁可不报数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当前检测路线为传统视觉（背景建模 + 颜色/形状规则 + ROI）：零数据依赖、可解释、可纯 CPU 运行，但不等同于已训练模型。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模型拟合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不得混入验证或测试样本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4136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4136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验证集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调参与阈值选择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不得混入测试样本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独立测试集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最终评测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按日期与点位隔离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88552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现场盲测集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交付前封存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743200"/>
            <a:ext cx="2395728" cy="28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演示前不得解封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29584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529584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6576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评测脚本的设计原则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986784"/>
            <a:ext cx="10607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清单未就绪时输出 not_evaluated 并附具体原因 —— 禁止空集下输出任何数字。这一设计避免了在数据不足时用不可信指标误导决策。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1830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目标指标体系（研发目标，非当前成绩）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" y="5157216"/>
            <a:ext cx="256946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各类别分别报告 Precision / Recall / 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AP50 / AP50-95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5936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每千帧误报数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288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29016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事件级发现率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02368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目标出现→事件确认时延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582144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691872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按天气与光照分层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47164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581376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样本量与置信区间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禁止只报告单一「准确率」；禁止用训练集结果对外；每个指标必须能追溯到原始事件和任务。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对治理主体的价值与可核验指标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155448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空驶减少：就近派单替代经验派单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554480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655064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空驶距离占比 / 总航行距离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12848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368296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9928" y="221284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2377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事件确认到任务下发自动触发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212848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2313432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治理响应时延（发现→任务开始）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71216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02666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287121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74519" y="3035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高危动作纳入审批与策略守卫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871216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高风险动作审批覆盖率（目标 100%）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9584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68503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9928" y="3529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19" y="369417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每个结论可回溯到原始证据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3529584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3630168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有证据支撑的结论占比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87952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34340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9928" y="41879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74519" y="435254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单位闭环成本可计算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187952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4288536"/>
            <a:ext cx="406908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每吨综合清理成本 / 每闭环任务成本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11064240" cy="144475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510235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建议的北极星指标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4132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单位有效成本下完成闭环并经过证据确认的垃圾清理量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9436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只有这个指标同时约束了成本与质量 —— 避免「多花钱多检测但没闭环」与「少花钱但数据造假」两种失真路径。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社会价值与可推广性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降低临水作业风险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把部分高风险水域的清理动作从「必须人到现场」转为「远程派单 + 可控执行」。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74136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提升治理资源效率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让有限的作业队与设备优先处理高价值目标，减少无效消耗。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支撑绿色海洋治理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海漂垃圾治理是近岸生态治理的长期议题，本系统提供可量化的过程与效果数据。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8552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数字化能力沉淀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359152"/>
            <a:ext cx="2304288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为沿海县区提供可复制的「感知—决策—执行—核算」信息基础设施。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可推广性：核心逻辑与具体水域无关，迁移只需三步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1  接入检测源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摄像头 / 无人机 / 上报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1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9391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2  标定感知参数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ROI · 类别规则 · 时序窗口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4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91854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93022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3  配置派单策略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2" y="4553712"/>
            <a:ext cx="3200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距离 / 电量 / 仓容的场景化权重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30368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5230368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" y="5376672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成本模型的纪律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05856"/>
            <a:ext cx="10607040" cy="542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单位闭环成本 =（设备折旧 + 能源 + 运维 + 人工协同 + 通信）÷ 已验收清理量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每一项成本标注来源类型（公开资料 / 询价 / 访谈 / 假设），可做敏感性分析。所有商业数字当前为测算值，不构成成交承诺。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演示案例：完整闭环与异常路径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模拟事件注入 → 时序验证与研判 → 智能体生成派单计划（含淘汰原因）→ 策略校验 / 审批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→ MQTT 下发 → 设备 ACK 与进度遥测 → 作业结果回传 → 证据归档 → 治理报表与单位成本输出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同时演示异常路径 —— 出问题时的表现，比顺利流程更能说明系统成熟度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无可用设备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19856"/>
            <a:ext cx="1810512" cy="738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不误报成功，记录 no_robot_available，进入待补派队列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16352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工具超时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419856"/>
            <a:ext cx="1810512" cy="738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有重试上限，能重规划或安全失败，不无限循环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65776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65776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策略拒绝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动作在工具执行前被阻断，产生结构化原因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审批拒绝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Run 终止，不发送任何设备指令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64624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64624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模型不可用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419856"/>
            <a:ext cx="1810512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自动回落规则模式，系统功能不降级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五种异常场景的共同点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212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系统从不假装成功。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没有设备时记录原因并等待补派，而不是伪造一个「已派单」；审批被拒时直接终止，不下发指令；模型不可用时回落规则模式，功能不下降。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另：后端不可用时前端必须显示真实错误与降级状态，禁止展示静态的「在线」「运行中」。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已知限制与下一步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诚实列出限制，比声称完备更有利于长期信任：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02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检测精度未评测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独立测试集未放行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4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无法给出真实精度指标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92024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066544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采集并放行标注数据，按日期点位隔离评测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78608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2578608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60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昇腾路径未实测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898648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设计完成，未上真机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724912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国产算力适配无硬件实证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724912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申请赛事算力平台，完成一次真实推理验证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36976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3236976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模型未接入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57016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适配器已接线但默认关闭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3383280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意图理解与异常解释受限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3236976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383280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接入国产大模型服务并做效果评测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95344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3895344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3977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无真实海域验证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15384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未开展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4041648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不能声称现场可用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895344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041648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在受控水域完成一次现场短时验证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53712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4553712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636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无商业验证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73752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无合同 / 订单 / 回款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4700016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商业模式为测算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4553712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5392" y="4700016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推进单点试点，取得可核验的成本数据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21208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6928" y="521208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52943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部分恢复指标偏低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532120"/>
            <a:ext cx="2011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恢复率 33.3%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5358384"/>
            <a:ext cx="3291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故障恢复能力待增强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521208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5358384"/>
            <a:ext cx="4937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7A4C"/>
                </a:solidFill>
                <a:latin typeface="Microsoft YaHei"/>
              </a:rPr>
              <a:t>已定位原因，列入下一迭代优化项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每一项限制都对应明确的下一步工作与所需条件，而非含糊的「有待完善」。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知识产权：已形成 5 项软件著作权登记材料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作品方案覆盖的五条子系统分别独立成篇，每项均含「文档鉴别材料（软件说明书）」与「程序鉴别材料（源程序）」两部分，篇间不重复。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海洋环境治理智能体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主平台：事件接入 · 智能体调度 · 治理闭环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80944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海漂垃圾边缘智能感知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感知链路：检测 · 时序验证 · 事件生成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海洋治理智能体决策与审批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决策内核：Planner · Policy · 审批 · 回放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60336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海域治理三维数字沙盘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态势呈现：三维沙盘 · 轨迹 · 点位联动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91472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74352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水面垃圾打捞机械臂控制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27248"/>
            <a:ext cx="1755648" cy="5167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执行末端：视觉伺服 · 抓取闭环 · 状态回传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这份材料的价值：产权边界清晰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3036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五条子系统各自成篇，说明书与源程序一一对应，评审可以按篇核对「哪段代码支撑哪个能力」，而不是面对一坨无法归属的代码。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 5 项均处于软件著作权登记申请流程中，登记材料（文档 + 源程序）已完成编制，可随时提供核验。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需求验证：来自县级主管部门的一线访谈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访谈对象：县级海洋与渔业局 相关业务部门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E4F0"/>
                </a:solidFill>
                <a:latin typeface="Microsoft YaHei"/>
              </a:rPr>
              <a:t>微信文字访谈 · 约 40 分钟 · 2026 年 10 月 · 全程截图存档（5 张） · 证据等级 E3 起点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C4D8"/>
                </a:solidFill>
                <a:latin typeface="Microsoft YaHei"/>
              </a:rPr>
              <a:t>访谈目的：核实海漂垃圾治理的实际流程、发现方式、成本与考核口径、采购付费模式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2670048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痛点证实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99232"/>
            <a:ext cx="2304288" cy="1199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现有模式为「人工巡查 + 视频监控」发现；海边受风向影响，垃圾多从其他县区飘入、大风时堆积；县级层面即无确切清运量与费用台账。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4992" y="2542032"/>
            <a:ext cx="2670048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需求验证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99232"/>
            <a:ext cx="2304288" cy="1199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对「海上垃圾自动识别 + 清理」明确表态：乡镇「肯定非常的认可」；同时提示需区分海上垃圾与沙滩礁石垃圾两类场景。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2542032"/>
            <a:ext cx="2670048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63056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采购口径校准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999232"/>
            <a:ext cx="2304288" cy="9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现行采购为全县域 13 个乡镇「全年总包制」；我方按点位监测费 + 按吨清理费的测算价，可作为总包定价的分解参考。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2542032"/>
            <a:ext cx="2670048" cy="34747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下一步动作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99232"/>
            <a:ext cx="2304288" cy="9739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向专业清理企业 / 劳务方询价以校准成本口径；向生态环境部门核实上级考核材料口径，补齐成本证据链。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382512"/>
            <a:ext cx="1143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需求不是替用户想象的：立项三个痛点（发现滞后、成效难量化、付费口径不明）均由真实用户侧证实；文中引用统一标注为「县级海渔部门访谈（2026.10）」。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成本与供应链调研：13 家供应商 · 15 份询价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供应商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13 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询价记录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15 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核心部件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5 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盖章报价单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2 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6700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样机选型要点（暂定，供集成参考）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72384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2369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边缘计算盒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808" y="30723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323697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触想智能 CX3588-Z　¥1,700 / 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163824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6TOPS NPU · -20~70℃ 宽温 · 定制三防（防盐雾/潮/尘） · 已取得正式盖章报价单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67328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931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船体·推进器·电池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35808" y="3767328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0" y="39319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浙江蓝舶整船方案　¥1,550 + ¥960 + ¥1,780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858768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2.2m 折叠船 + 48 磅推进器 + 12V100A 磷酸电池，单一供应商打包，含盖章报价单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62272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62686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摄像头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5808" y="4462272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462686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明远 400 万 IPC 模组　¥135 / 个（含税）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553712"/>
            <a:ext cx="4389120" cy="490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固定点位可用；船载耐盐雾相机需求已提交，待书面报价后补入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57216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53218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备选电池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35808" y="5157216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亿森能 51.2V　¥3,530 / ¥4,200 / ¥6,340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5248656"/>
            <a:ext cx="4389120" cy="2841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48 / 60 / 96Ah 三档，用于大容量续航方案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925312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6928" y="5925312"/>
            <a:ext cx="54864" cy="47548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6007608"/>
            <a:ext cx="106070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口径声明：报价均为供应商询价结果，非成交价、非最终采购价；含税口径与交期以供应商报价为准；15 份原始记录（截图 / PDF）可溯源、可复核。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231136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让每一次发现，</a:t>
            </a:r>
          </a:p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都能被证明已经闭环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8678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核心价值不在于某一个漂亮的算法，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而在于一条从感知到核算、每个环节都可被追问和核验的治理链路。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583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9CA8"/>
                </a:solidFill>
                <a:latin typeface="Microsoft YaHei"/>
              </a:rPr>
              <a:t>谢谢各位评委  ·  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2154</Words>
  <Application>Microsoft Office PowerPoint</Application>
  <PresentationFormat>宽屏</PresentationFormat>
  <Paragraphs>562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涌翔 李</cp:lastModifiedBy>
  <cp:revision>2</cp:revision>
  <dcterms:created xsi:type="dcterms:W3CDTF">2013-01-27T09:14:16Z</dcterms:created>
  <dcterms:modified xsi:type="dcterms:W3CDTF">2026-10-20T15:15:40Z</dcterms:modified>
  <cp:category/>
</cp:coreProperties>
</file>