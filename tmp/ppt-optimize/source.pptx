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38160" y="4114800"/>
            <a:ext cx="4206240" cy="384048"/>
          </a:xfrm>
          <a:prstGeom prst="rect">
            <a:avLst/>
          </a:prstGeom>
          <a:solidFill>
            <a:srgbClr val="16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69680" y="4617720"/>
            <a:ext cx="3108960" cy="384048"/>
          </a:xfrm>
          <a:prstGeom prst="rect">
            <a:avLst/>
          </a:prstGeom>
          <a:solidFill>
            <a:srgbClr val="1B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0" y="5120640"/>
            <a:ext cx="2011680" cy="384048"/>
          </a:xfrm>
          <a:prstGeom prst="rect">
            <a:avLst/>
          </a:prstGeom>
          <a:solidFill>
            <a:srgbClr val="16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9CA8"/>
                </a:solidFill>
                <a:latin typeface="Microsoft YaHei"/>
              </a:rPr>
              <a:t>2026 年海峡大学生人工智能创意大赛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>
                <a:solidFill>
                  <a:srgbClr val="FFFFFF"/>
                </a:solidFill>
                <a:latin typeface="Microsoft YaHei"/>
              </a:rPr>
              <a:t>探海灵眸 Oceanus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52928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>
                <a:solidFill>
                  <a:srgbClr val="C9E4F0"/>
                </a:solidFill>
                <a:latin typeface="Microsoft YaHei"/>
              </a:rPr>
              <a:t>AI 驱动的县域海漂垃圾</a:t>
            </a:r>
          </a:p>
          <a:p>
            <a:pPr algn="l">
              <a:lnSpc>
                <a:spcPct val="135000"/>
              </a:lnSpc>
            </a:pPr>
            <a:r>
              <a:rPr sz="2500" b="0">
                <a:solidFill>
                  <a:srgbClr val="C9E4F0"/>
                </a:solidFill>
                <a:latin typeface="Microsoft YaHei"/>
              </a:rPr>
              <a:t>智能监测与调度系统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4041648"/>
            <a:ext cx="1371600" cy="32004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315968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>
                <a:solidFill>
                  <a:srgbClr val="9FC4D8"/>
                </a:solidFill>
                <a:latin typeface="Microsoft YaHei"/>
              </a:rPr>
              <a:t>感知 — 决策 — 执行 — 核算  完整闭环</a:t>
            </a:r>
          </a:p>
          <a:p>
            <a:pPr algn="l">
              <a:lnSpc>
                <a:spcPct val="140000"/>
              </a:lnSpc>
            </a:pPr>
            <a:r>
              <a:rPr sz="1450" b="0">
                <a:solidFill>
                  <a:srgbClr val="9FC4D8"/>
                </a:solidFill>
                <a:latin typeface="Microsoft YaHei"/>
              </a:rPr>
              <a:t>确定性治理智能体内核 · 可审计决策证据链 · 可插拔执行端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汇报提纲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02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81328"/>
            <a:ext cx="10607040" cy="8412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481328"/>
            <a:ext cx="914400" cy="84124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82496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1618488"/>
            <a:ext cx="9052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>
                <a:solidFill>
                  <a:srgbClr val="0F2E4C"/>
                </a:solidFill>
                <a:latin typeface="Microsoft YaHei"/>
              </a:rPr>
              <a:t>问题提出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1956816"/>
            <a:ext cx="9052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B7A"/>
                </a:solidFill>
                <a:latin typeface="Microsoft YaHei"/>
              </a:rPr>
              <a:t>为什么海面「看见垃圾」不等于「问题被解决」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432304"/>
            <a:ext cx="10607040" cy="8412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432304"/>
            <a:ext cx="914400" cy="84124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633472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2569464"/>
            <a:ext cx="9052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>
                <a:solidFill>
                  <a:srgbClr val="0F2E4C"/>
                </a:solidFill>
                <a:latin typeface="Microsoft YaHei"/>
              </a:rPr>
              <a:t>解决方案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9052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B7A"/>
                </a:solidFill>
                <a:latin typeface="Microsoft YaHei"/>
              </a:rPr>
              <a:t>感知—决策—执行—核算的四层架构与三个核心创新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83280"/>
            <a:ext cx="10607040" cy="8412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383280"/>
            <a:ext cx="914400" cy="84124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5844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520440"/>
            <a:ext cx="9052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>
                <a:solidFill>
                  <a:srgbClr val="0F2E4C"/>
                </a:solidFill>
                <a:latin typeface="Microsoft YaHei"/>
              </a:rPr>
              <a:t>技术验证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3858768"/>
            <a:ext cx="9052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B7A"/>
                </a:solidFill>
                <a:latin typeface="Microsoft YaHei"/>
              </a:rPr>
              <a:t>自动化测试、智能体评测与软件集成验收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334256"/>
            <a:ext cx="10607040" cy="8412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4334256"/>
            <a:ext cx="914400" cy="84124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535424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4471416"/>
            <a:ext cx="9052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>
                <a:solidFill>
                  <a:srgbClr val="0F2E4C"/>
                </a:solidFill>
                <a:latin typeface="Microsoft YaHei"/>
              </a:rPr>
              <a:t>应用价值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809744"/>
            <a:ext cx="9052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B7A"/>
                </a:solidFill>
                <a:latin typeface="Microsoft YaHei"/>
              </a:rPr>
              <a:t>对治理主体的价值、可推广性与能力边界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285232"/>
            <a:ext cx="10607040" cy="8412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5285232"/>
            <a:ext cx="914400" cy="84124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48640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5422392"/>
            <a:ext cx="9052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>
                <a:solidFill>
                  <a:srgbClr val="0F2E4C"/>
                </a:solidFill>
                <a:latin typeface="Microsoft YaHei"/>
              </a:rPr>
              <a:t>加分项举证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65960" y="5760720"/>
            <a:ext cx="9052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B7A"/>
                </a:solidFill>
                <a:latin typeface="Microsoft YaHei"/>
              </a:rPr>
              <a:t>知识产权 · 用户需求验证 · 成本与供应链调研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01问题提出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真正的断点不在「看见」，而在「流转」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03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10642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B2A38"/>
                </a:solidFill>
                <a:latin typeface="Microsoft YaHei"/>
              </a:rPr>
              <a:t>海漂垃圾治理包含五个环节，每个环节都有独立的失效方式：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011680"/>
            <a:ext cx="2121408" cy="1874519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011680"/>
            <a:ext cx="2121408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2121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发现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17922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摄像头巡查 / 无人机飞检 / 群众上报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1792224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覆盖时段有限；单帧误报多，人工复核成本高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98064" y="2011680"/>
            <a:ext cx="2121408" cy="1874519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98064" y="2011680"/>
            <a:ext cx="2121408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98064" y="2084831"/>
            <a:ext cx="2121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确认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2487168"/>
            <a:ext cx="17922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值班人员肉眼判断是否真实存在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62656" y="3017520"/>
            <a:ext cx="1792224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判断标准因人而异；无复核记录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2011680"/>
            <a:ext cx="2121408" cy="1874519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0" y="2011680"/>
            <a:ext cx="2121408" cy="384048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2084831"/>
            <a:ext cx="2121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派单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3792" y="2487168"/>
            <a:ext cx="17922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电话通知作业队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3792" y="3017520"/>
            <a:ext cx="1792224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依赖个人经验；无优先级依据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0336" y="2011680"/>
            <a:ext cx="2121408" cy="1874519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60336" y="2011680"/>
            <a:ext cx="2121408" cy="384048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0336" y="2084831"/>
            <a:ext cx="2121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执行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2487168"/>
            <a:ext cx="17922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作业船按经验航行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4928" y="3017520"/>
            <a:ext cx="1792224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空驶多；近处设备被远派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91472" y="2011680"/>
            <a:ext cx="2121408" cy="1874519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91472" y="2011680"/>
            <a:ext cx="2121408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91472" y="2084831"/>
            <a:ext cx="2121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核算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56064" y="2487168"/>
            <a:ext cx="17922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人工汇总台账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56064" y="3017520"/>
            <a:ext cx="1792224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数据滞后、口径不一；难以证明闭环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4133087"/>
            <a:ext cx="11064240" cy="1737360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4133087"/>
            <a:ext cx="54864" cy="1737360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43159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F2E4C"/>
                </a:solidFill>
                <a:latin typeface="Microsoft YaHei"/>
              </a:rPr>
              <a:t>关键洞察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47548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50" b="1">
                <a:solidFill>
                  <a:srgbClr val="F28A3C"/>
                </a:solidFill>
                <a:latin typeface="Microsoft YaHei"/>
              </a:rPr>
              <a:t>▪ </a:t>
            </a:r>
            <a:r>
              <a:rPr sz="1350" b="1">
                <a:solidFill>
                  <a:srgbClr val="1B2A38"/>
                </a:solidFill>
                <a:latin typeface="Microsoft YaHei"/>
              </a:rPr>
              <a:t>真正稀缺的不是「发现能力」，而是 </a:t>
            </a:r>
            <a:r>
              <a:rPr sz="1350">
                <a:solidFill>
                  <a:srgbClr val="5B6B7A"/>
                </a:solidFill>
                <a:latin typeface="Microsoft YaHei"/>
              </a:rPr>
              <a:t>从发现到核算的可信流转。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50" b="1">
                <a:solidFill>
                  <a:srgbClr val="F28A3C"/>
                </a:solidFill>
                <a:latin typeface="Microsoft YaHei"/>
              </a:rPr>
              <a:t>▪ </a:t>
            </a:r>
            <a:r>
              <a:rPr sz="1350" b="1">
                <a:solidFill>
                  <a:srgbClr val="1B2A38"/>
                </a:solidFill>
                <a:latin typeface="Microsoft YaHei"/>
              </a:rPr>
              <a:t>即使检测出 100 个漂浮物，</a:t>
            </a:r>
            <a:r>
              <a:rPr sz="1350">
                <a:solidFill>
                  <a:srgbClr val="5B6B7A"/>
                </a:solidFill>
                <a:latin typeface="Microsoft YaHei"/>
              </a:rPr>
              <a:t>若无法证明「哪一条被处理了、效果如何、是否值得继续投入」，系统对治理的价值仍接近于零。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01 问题提出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目标用户的核心任务与四问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04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6304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27632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FFFFFF"/>
                </a:solidFill>
                <a:latin typeface="Microsoft YaHei"/>
              </a:rPr>
              <a:t>当辖区海面出现影响航道、养殖、岸线或旅游环境的漂浮垃圾时，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FFFFFF"/>
                </a:solidFill>
                <a:latin typeface="Microsoft YaHei"/>
              </a:rPr>
              <a:t>我要在有限人力和预算下，快速确认问题、派出合适设备、跟踪执行过程，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FFFFFF"/>
                </a:solidFill>
                <a:latin typeface="Microsoft YaHei"/>
              </a:rPr>
              <a:t>并向上级证明问题已经闭环 —— 而不是只看到一堆视频和告警。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43200"/>
            <a:ext cx="2670048" cy="1234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87121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9CA8"/>
                </a:solidFill>
                <a:latin typeface="Microsoft YaHei"/>
              </a:rPr>
              <a:t>Q1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273552"/>
            <a:ext cx="22677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问题是否真实存在？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657600"/>
            <a:ext cx="2267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证据是什么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4992" y="2743200"/>
            <a:ext cx="2670048" cy="1234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287121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9CA8"/>
                </a:solidFill>
                <a:latin typeface="Microsoft YaHei"/>
              </a:rPr>
              <a:t>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273552"/>
            <a:ext cx="22677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应该派谁、何时去？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657600"/>
            <a:ext cx="2267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代价是多少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2743200"/>
            <a:ext cx="2670048" cy="1234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4" y="287121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9CA8"/>
                </a:solidFill>
                <a:latin typeface="Microsoft YaHei"/>
              </a:rPr>
              <a:t>Q3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3273552"/>
            <a:ext cx="22677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执行是否顺利完成？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3657600"/>
            <a:ext cx="2267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失败后如何处理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2743200"/>
            <a:ext cx="2670048" cy="1234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62288" y="287121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9CA8"/>
                </a:solidFill>
                <a:latin typeface="Microsoft YaHei"/>
              </a:rPr>
              <a:t>Q4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2288" y="3273552"/>
            <a:ext cx="22677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最终清理了什么？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2288" y="3657600"/>
            <a:ext cx="2267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是否值得继续采购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22452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E4C"/>
                </a:solidFill>
                <a:latin typeface="Microsoft YaHei"/>
              </a:rPr>
              <a:t>需求优先级：按「对闭环可信性的影响」排序，而非实现难度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63440"/>
            <a:ext cx="658368" cy="310896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4709160"/>
            <a:ext cx="65836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69087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E4C"/>
                </a:solidFill>
                <a:latin typeface="Microsoft YaHei"/>
              </a:rPr>
              <a:t>单帧误报抑制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700016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值班人员被大量假目标消耗，最终关闭告警，系统整体失效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029200"/>
            <a:ext cx="658368" cy="310896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5074920"/>
            <a:ext cx="65836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05663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E4C"/>
                </a:solidFill>
                <a:latin typeface="Microsoft YaHei"/>
              </a:rPr>
              <a:t>决策过程可回溯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5065776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无法向上级证明结论，汇报只能靠人工台账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5394960"/>
            <a:ext cx="658368" cy="310896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5440680"/>
            <a:ext cx="65836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42239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E4C"/>
                </a:solidFill>
                <a:latin typeface="Microsoft YaHei"/>
              </a:rPr>
              <a:t>失败可恢复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5431536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设备离线即任务悬挂，作业队不知为何停工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5760720"/>
            <a:ext cx="658368" cy="310896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5806440"/>
            <a:ext cx="65836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578815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E4C"/>
                </a:solidFill>
                <a:latin typeface="Microsoft YaHei"/>
              </a:rPr>
              <a:t>派单依据量化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5797296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空驶成本高，运营费用不可持续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6126480"/>
            <a:ext cx="658368" cy="310896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" y="6172200"/>
            <a:ext cx="65836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615391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E4C"/>
                </a:solidFill>
                <a:latin typeface="Microsoft YaHei"/>
              </a:rPr>
              <a:t>高风险动作审批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6163056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自动执行一旦出错，无人能拦截，责任不可追溯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" y="6382512"/>
            <a:ext cx="11430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设计决策：把「可信流转」放在「识别精度」之前 —— 精度不足只会漏报，流转不可信会让整个系统被使用者抛弃。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系统总体架构：四层闭环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05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36192"/>
            <a:ext cx="1828800" cy="74980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5564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感知层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87168" y="1536192"/>
            <a:ext cx="914400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1773936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岸基摄像头 / 无人机 / 人工上报  →  独立 HTTP 推理服务（OpenCV 检测 · ONNX 多 provider）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325880" y="2286000"/>
            <a:ext cx="274320" cy="100584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2395728"/>
            <a:ext cx="1828800" cy="749808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615184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事件层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87168" y="2395728"/>
            <a:ext cx="914400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24912" y="2633472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Schema 校验 → 双重幂等去重 → 时序验证（跟踪 · 连续命中 · 冷却）→ 可信事件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325880" y="3145536"/>
            <a:ext cx="274320" cy="100584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6928" y="3255264"/>
            <a:ext cx="1828800" cy="74980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4747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决策层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87168" y="3255264"/>
            <a:ext cx="914400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24912" y="3493008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治理智能体内核：Run → Planner → Policy Guard → Approval → Tool Executor → Observer → Verifier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325880" y="4005072"/>
            <a:ext cx="274320" cy="100584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66928" y="4114800"/>
            <a:ext cx="1828800" cy="74980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334256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执行层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87168" y="4114800"/>
            <a:ext cx="914400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24912" y="4352544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任务状态机 → MQTT 下发 → ACK → 进度遥测 → 异常换车重派  |  执行末端可插拔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25880" y="4864608"/>
            <a:ext cx="274320" cy="100584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66928" y="4974336"/>
            <a:ext cx="1828800" cy="749808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5193792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核算层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87168" y="4974336"/>
            <a:ext cx="914400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24912" y="5212080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证据归档 → 日报月报聚合 → 治理热力图 → 单位成本核算 → 审计日志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5870448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依赖单向：下层不反向依赖上层；执行端设备不直接写数据库；感知层不直接触发派单（必须经过时序验证）。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技术栈与选型理由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06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27632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9222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后端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83664" y="1627632"/>
            <a:ext cx="320040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48256" y="180136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Python + 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1719072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异步 IO 适合同时处理设备上报与指令下发；Pydantic 提供 Schema 强校验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304288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468880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数据库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83664" y="2304288"/>
            <a:ext cx="320040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48256" y="2478024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PostgreSQL 16 + PostGIS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2395728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事件与点位是天然空间数据；PostGIS 支持就近派单的空间查询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980944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145536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消息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83664" y="2980944"/>
            <a:ext cx="320040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48256" y="315468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EMQX (MQTT) + Redis Streams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3072384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设备下行用 MQTT（弱网适配好）；内部事件流支持消费组、PEL 与重投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657600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822192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存储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83664" y="3657600"/>
            <a:ext cx="320040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48256" y="3831336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MinIO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68" y="374904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证据帧与影像对象存储，兼容 S3 语义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334256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4498848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前端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83664" y="4334256"/>
            <a:ext cx="320040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48256" y="450799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Vue 3 + 地图可视化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30368" y="4425696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业务控制台与大屏统一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010912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517550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推理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83664" y="5010912"/>
            <a:ext cx="320040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48256" y="518464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ONNX Runtime（多 provider）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30368" y="5102352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不把加速卡写死：按 TensorRT → CUDA → CPU 顺序探测可用 provider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687568"/>
            <a:ext cx="11064240" cy="713232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" y="5687568"/>
            <a:ext cx="54864" cy="713232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" y="5815584"/>
            <a:ext cx="106070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B2A38"/>
                </a:solidFill>
                <a:latin typeface="Microsoft YaHei"/>
              </a:rPr>
              <a:t>关于智能层的设计选择：治理规则实现为确定性内核，而非交给大模型决策。派单涉及设备与公共资源，行为必须可预测、可解释、可追责，且断网时仍须工作。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创新一：时序先验的误报抑制链路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07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6766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B2A38"/>
                </a:solidFill>
                <a:latin typeface="Microsoft YaHei"/>
              </a:rPr>
              <a:t>海面检测最大工程难题是误报：浪花、镜面反光、飞鸟、水草都会触发检测，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B2A38"/>
                </a:solidFill>
                <a:latin typeface="Microsoft YaHei"/>
              </a:rPr>
              <a:t>而其中绝大多数在下一帧就消失。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377440"/>
            <a:ext cx="676656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50292" cy="749808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96312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E4C"/>
                </a:solidFill>
                <a:latin typeface="Microsoft YaHei"/>
              </a:rPr>
              <a:t>抽帧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779776"/>
            <a:ext cx="6309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按固定间隔取帧，降低无效计算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6976"/>
            <a:ext cx="676656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3236976"/>
            <a:ext cx="50292" cy="749808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355848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E4C"/>
                </a:solidFill>
                <a:latin typeface="Microsoft YaHei"/>
              </a:rPr>
              <a:t>目标跟踪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639312"/>
            <a:ext cx="6309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基于位置与尺寸的历史窗口做关联，避免同一目标被当作多次独立检出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96512"/>
            <a:ext cx="676656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096512"/>
            <a:ext cx="50292" cy="749808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215384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E4C"/>
                </a:solidFill>
                <a:latin typeface="Microsoft YaHei"/>
              </a:rPr>
              <a:t>连续命中计数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498848"/>
            <a:ext cx="6309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目标需连续在 N 帧中被检出才计数为有效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956048"/>
            <a:ext cx="676656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956048"/>
            <a:ext cx="50292" cy="749808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507492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E4C"/>
                </a:solidFill>
                <a:latin typeface="Microsoft YaHei"/>
              </a:rPr>
              <a:t>冷却窗口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5358384"/>
            <a:ext cx="6309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同一目标在冷却期内不重复生成事件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1481328"/>
            <a:ext cx="4041648" cy="32004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1700784"/>
            <a:ext cx="3566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9CA8"/>
                </a:solidFill>
                <a:latin typeface="Microsoft YaHei"/>
              </a:rPr>
              <a:t>合成海面测试结果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084831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Microsoft YaHei"/>
              </a:rPr>
              <a:t>≈ 76%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962656"/>
            <a:ext cx="3566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时序链路误报抑制率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3364992"/>
            <a:ext cx="3566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8C8DC"/>
                </a:solidFill>
                <a:latin typeface="Microsoft YaHei"/>
              </a:rPr>
              <a:t>口径：被时序环节过滤的检测数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A8C8DC"/>
                </a:solidFill>
                <a:latin typeface="Microsoft YaHei"/>
              </a:rPr>
              <a:t>÷ 输入检测总数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864608"/>
            <a:ext cx="11064240" cy="1536192"/>
          </a:xfrm>
          <a:prstGeom prst="roundRect">
            <a:avLst>
              <a:gd name="adj" fmla="val 6000"/>
            </a:avLst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4864608"/>
            <a:ext cx="54864" cy="15361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5029200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0392B"/>
                </a:solidFill>
                <a:latin typeface="Microsoft YaHei"/>
              </a:rPr>
              <a:t>必须明确的边界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539496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B2A38"/>
                </a:solidFill>
                <a:latin typeface="Microsoft YaHei"/>
              </a:rPr>
              <a:t>76% 不是识别精度、不是召回率、不是准确率。分母是输入检测数，它衡量的是时序链路的过滤能力。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1B2A38"/>
                </a:solidFill>
                <a:latin typeface="Microsoft YaHei"/>
              </a:rPr>
              <a:t>系统真实检测精度受限于独立测试集尚未放行，当前评测结论为「未评测」，本文不做任何精度宣称。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1B2A38"/>
                </a:solidFill>
                <a:latin typeface="Microsoft YaHei"/>
              </a:rPr>
              <a:t>一个能说清数字含义与分母的指标，比一个含糊的「准确率 92%」更值得信任。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创新二：确定性治理智能体内核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08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44752"/>
            <a:ext cx="11064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B2A38"/>
                </a:solidFill>
                <a:latin typeface="Microsoft YaHei"/>
              </a:rPr>
              <a:t>识别、调度、报表都是能力模块，不是独立智能体。够格的治理智能体必须具备七类原语：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0195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90195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94767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267712"/>
            <a:ext cx="23042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一次完整治理过程的容器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560320"/>
            <a:ext cx="23042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必须有触发源、最大步数、超时与终止原因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5848" y="190195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55848" y="190195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55848" y="194767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2267712"/>
            <a:ext cx="23042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一次决策或工具调用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2560320"/>
            <a:ext cx="23042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重规划产生新 step，历史步骤永不被覆盖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190195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90195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44768" y="194767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Tool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2267712"/>
            <a:ext cx="23042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受控的能力调用单元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2560320"/>
            <a:ext cx="23042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含版本、Schema、权限、超时、幂等键、错误码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33688" y="190195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33688" y="190195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33688" y="194767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Policy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8" y="2267712"/>
            <a:ext cx="23042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动作前的策略守卫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8" y="2560320"/>
            <a:ext cx="23042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违规动作必须在工具执行前被阻断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309067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309067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313639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Approval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3456432"/>
            <a:ext cx="23042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高风险动作的人工闸门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3749040"/>
            <a:ext cx="23042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留审批人、理由、时间，不可绕过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55848" y="309067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55848" y="309067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55848" y="313639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Replay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38728" y="3456432"/>
            <a:ext cx="23042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运行轨迹完整回放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38728" y="3749040"/>
            <a:ext cx="23042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可从任意 step 重放，用于排障与审计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44768" y="309067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44768" y="309067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44768" y="313639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Eval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27648" y="3456432"/>
            <a:ext cx="23042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固定场景回归评测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7648" y="3749040"/>
            <a:ext cx="23042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每次变更可一键对比，防止改好一处坏另一处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4443984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E4C"/>
                </a:solidFill>
                <a:latin typeface="Microsoft YaHei"/>
              </a:rPr>
              <a:t>运行状态机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4882896"/>
            <a:ext cx="1243584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created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1824228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011680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11680" y="4882896"/>
            <a:ext cx="1243584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planning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3268980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456432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56432" y="4882896"/>
            <a:ext cx="1243584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waiting_policy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4713732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901184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901184" y="4882896"/>
            <a:ext cx="1243584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waiting_approval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6158484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345936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45936" y="4882896"/>
            <a:ext cx="1243584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executing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7603236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790688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90688" y="4882896"/>
            <a:ext cx="1243584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observing</a:t>
            </a:r>
          </a:p>
        </p:txBody>
      </p:sp>
      <p:sp>
        <p:nvSpPr>
          <p:cNvPr id="62" name="Right Arrow 61"/>
          <p:cNvSpPr/>
          <p:nvPr/>
        </p:nvSpPr>
        <p:spPr>
          <a:xfrm>
            <a:off x="9047988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235440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235440" y="4882896"/>
            <a:ext cx="1243584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verifying</a:t>
            </a:r>
          </a:p>
        </p:txBody>
      </p:sp>
      <p:sp>
        <p:nvSpPr>
          <p:cNvPr id="65" name="Right Arrow 64"/>
          <p:cNvSpPr/>
          <p:nvPr/>
        </p:nvSpPr>
        <p:spPr>
          <a:xfrm>
            <a:off x="10492740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10680192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680192" y="4882896"/>
            <a:ext cx="1243584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succeeded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66928" y="5358384"/>
            <a:ext cx="11064240" cy="384048"/>
          </a:xfrm>
          <a:prstGeom prst="roundRect">
            <a:avLst>
              <a:gd name="adj" fmla="val 6000"/>
            </a:avLst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77240" y="5413248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0392B"/>
                </a:solidFill>
                <a:latin typeface="Microsoft YaHei"/>
              </a:rPr>
              <a:t>失败路径：failed / cancelled / expired  →  进入 Replanner 产生新 Step  |  达到最大步数则安全终止  |  失败原因结构化保存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4048" y="6382512"/>
            <a:ext cx="11430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结构化失败原因：no_robot_available / tool_timeout / policy_denied / approval_rejected / task_conflict / max_steps_exceeded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大模型的位置：增强项，不是依赖项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09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1064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B2A38"/>
                </a:solidFill>
                <a:latin typeface="Microsoft YaHei"/>
              </a:rPr>
              <a:t>治理场景涉及设备与公共资源，行为必须可预测、可解释、可追责，且断网时仍须工作。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6596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228600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093976"/>
            <a:ext cx="5029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2E4C"/>
                </a:solidFill>
                <a:latin typeface="Microsoft YaHei"/>
              </a:rPr>
              <a:t>确定性内核承担（代码）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441448"/>
            <a:ext cx="5010912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状态管理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规则判断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工具调用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超时与重试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终止条件判定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96596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8" y="1965960"/>
            <a:ext cx="50292" cy="2286000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2093976"/>
            <a:ext cx="5029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2E4C"/>
                </a:solidFill>
                <a:latin typeface="Microsoft YaHei"/>
              </a:rPr>
              <a:t>可选大模型承担（增强）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441448"/>
            <a:ext cx="5010912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意图理解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异常解释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计划候选生成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自然语言总结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34840"/>
            <a:ext cx="11064240" cy="713232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4553712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大模型输出必须经三重过滤：  JSON Schema 校验  →  策略守卫  →  工具白名单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285232"/>
            <a:ext cx="11064240" cy="1097280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5285232"/>
            <a:ext cx="54864" cy="1097280"/>
          </a:xfrm>
          <a:prstGeom prst="rect">
            <a:avLst/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440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B2A38"/>
                </a:solidFill>
                <a:latin typeface="Microsoft YaHei"/>
              </a:rPr>
              <a:t>模型不可用时自动回落到规则模式，系统核心治理闭环不中断。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1B2A38"/>
                </a:solidFill>
                <a:latin typeface="Microsoft YaHei"/>
              </a:rPr>
              <a:t>这是本作品与「套壳大模型」的根本区别 —— 把大模型放在它真正擅长、且失败不致命的位置。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工具契约：每个动作都可被审计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10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44752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B6B7A"/>
                </a:solidFill>
                <a:latin typeface="Microsoft YaHei"/>
              </a:rPr>
              <a:t>所有工具必须声明：名称 / 版本 / 输入输出 Schema / 权限 / 风险级别 / 超时 / 幂等键 / 审计事件 / 错误码 —— 缺一不得注册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83664"/>
            <a:ext cx="2606040" cy="36576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47672"/>
            <a:ext cx="2423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工具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1883664"/>
            <a:ext cx="3246120" cy="36576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5848" y="1947672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用途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01968" y="1883664"/>
            <a:ext cx="749808" cy="36576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3408" y="1947672"/>
            <a:ext cx="5669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权限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43216" y="1883664"/>
            <a:ext cx="822960" cy="36576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34656" y="1947672"/>
            <a:ext cx="640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风险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57616" y="1883664"/>
            <a:ext cx="1371600" cy="36576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49056" y="1947672"/>
            <a:ext cx="1188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幂等键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20656" y="1883664"/>
            <a:ext cx="1810512" cy="36576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12096" y="1947672"/>
            <a:ext cx="1627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关键错误码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286000"/>
            <a:ext cx="110642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386584"/>
            <a:ext cx="244144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2E4C"/>
                </a:solidFill>
                <a:latin typeface="Microsoft YaHei"/>
              </a:rPr>
              <a:t>event.get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5848" y="2386584"/>
            <a:ext cx="308152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读取事件与证据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408" y="2386584"/>
            <a:ext cx="585216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只读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34656" y="2386584"/>
            <a:ext cx="65836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49056" y="2386584"/>
            <a:ext cx="120700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12096" y="2386584"/>
            <a:ext cx="164592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event_not_found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2706624"/>
            <a:ext cx="11064240" cy="402336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2807208"/>
            <a:ext cx="244144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2E4C"/>
                </a:solidFill>
                <a:latin typeface="Microsoft YaHei"/>
              </a:rPr>
              <a:t>device.query_available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55848" y="2807208"/>
            <a:ext cx="308152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查询可用设备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3408" y="2807208"/>
            <a:ext cx="585216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只读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34656" y="2807208"/>
            <a:ext cx="65836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49056" y="2807208"/>
            <a:ext cx="120700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12096" y="2807208"/>
            <a:ext cx="164592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device_unreachable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3127248"/>
            <a:ext cx="110642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3227832"/>
            <a:ext cx="244144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2E4C"/>
                </a:solidFill>
                <a:latin typeface="Microsoft YaHei"/>
              </a:rPr>
              <a:t>dispatch.plan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5848" y="3227832"/>
            <a:ext cx="308152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生成候选派单（含淘汰原因）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93408" y="3227832"/>
            <a:ext cx="585216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只读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34656" y="3227832"/>
            <a:ext cx="65836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49056" y="3227832"/>
            <a:ext cx="120700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12096" y="3227832"/>
            <a:ext cx="164592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no_candidate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3547872"/>
            <a:ext cx="11064240" cy="402336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3648456"/>
            <a:ext cx="244144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2E4C"/>
                </a:solidFill>
                <a:latin typeface="Microsoft YaHei"/>
              </a:rPr>
              <a:t>task.create_or_merge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55848" y="3648456"/>
            <a:ext cx="308152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建单或合并任务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93408" y="3648456"/>
            <a:ext cx="585216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写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34656" y="3648456"/>
            <a:ext cx="65836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medium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49056" y="3648456"/>
            <a:ext cx="120700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event+window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12096" y="3648456"/>
            <a:ext cx="164592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task_conflict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3968496"/>
            <a:ext cx="110642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" y="4069080"/>
            <a:ext cx="244144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2E4C"/>
                </a:solidFill>
                <a:latin typeface="Microsoft YaHei"/>
              </a:rPr>
              <a:t>task.transition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55848" y="4069080"/>
            <a:ext cx="308152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状态迁移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93408" y="4069080"/>
            <a:ext cx="585216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34656" y="4069080"/>
            <a:ext cx="65836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medium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49056" y="4069080"/>
            <a:ext cx="120700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task+status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12096" y="4069080"/>
            <a:ext cx="164592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illegal_transition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" y="4389120"/>
            <a:ext cx="11064240" cy="402336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8368" y="4489704"/>
            <a:ext cx="244144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2E4C"/>
                </a:solidFill>
                <a:latin typeface="Microsoft YaHei"/>
              </a:rPr>
              <a:t>mqtt.send_task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55848" y="4489704"/>
            <a:ext cx="308152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下发设备指令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93408" y="4489704"/>
            <a:ext cx="585216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写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34656" y="4489704"/>
            <a:ext cx="65836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C0392B"/>
                </a:solidFill>
                <a:latin typeface="Microsoft YaHei"/>
              </a:rPr>
              <a:t>high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49056" y="4489704"/>
            <a:ext cx="120700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task+attempt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12096" y="4489704"/>
            <a:ext cx="164592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ack_timeout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6928" y="4809744"/>
            <a:ext cx="110642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8368" y="4910328"/>
            <a:ext cx="244144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2E4C"/>
                </a:solidFill>
                <a:latin typeface="Microsoft YaHei"/>
              </a:rPr>
              <a:t>human.request_approval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55848" y="4910328"/>
            <a:ext cx="308152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请求人工审批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93408" y="4910328"/>
            <a:ext cx="585216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写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34656" y="4910328"/>
            <a:ext cx="65836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medium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49056" y="4910328"/>
            <a:ext cx="120700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run+action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912096" y="4910328"/>
            <a:ext cx="164592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approval_rejected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66928" y="5230368"/>
            <a:ext cx="11064240" cy="402336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58368" y="5330952"/>
            <a:ext cx="244144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2E4C"/>
                </a:solidFill>
                <a:latin typeface="Microsoft YaHei"/>
              </a:rPr>
              <a:t>report.generate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55848" y="5330952"/>
            <a:ext cx="308152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生成治理日报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93408" y="5330952"/>
            <a:ext cx="585216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写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534656" y="5330952"/>
            <a:ext cx="65836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low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49056" y="5330952"/>
            <a:ext cx="120700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window+type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912096" y="5330952"/>
            <a:ext cx="164592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data_incomplete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66928" y="5760720"/>
            <a:ext cx="11064240" cy="658368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66928" y="5760720"/>
            <a:ext cx="54864" cy="658368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41248" y="587044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B2A38"/>
                </a:solidFill>
                <a:latin typeface="Microsoft YaHei"/>
              </a:rPr>
              <a:t>注意 dispatch.plan 必须输出淘汰原因 —— 不仅说明选了谁，也说明为什么没选另一个。这让调度决策可被复核，而非黑箱。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创新三：可审计的证据链与数据完整性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11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44752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B2A38"/>
                </a:solidFill>
                <a:latin typeface="Microsoft YaHei"/>
              </a:rPr>
              <a:t>治理系统要能被追问，就必须为每个结论保留证据。对「数据不可信」做显式工程防御：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20240"/>
            <a:ext cx="2103120" cy="4572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02082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幂等去重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61488" y="1920240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202996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设备重复上报、网络重传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76288" y="192024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202996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(device_id, seq) 与 event_id 双重判重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468880"/>
            <a:ext cx="2103120" cy="4572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56946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状态机守卫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61488" y="2468880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257860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非法状态跳转（未派单直接完成）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76288" y="246888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257860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显式允许的迁移表，非法迁移被拒绝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017520"/>
            <a:ext cx="2103120" cy="4572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311810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ACK 超时恢复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61488" y="3017520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0" y="312724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设备收到指令未确认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76288" y="301752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312724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超时回退任务并换车，不重复建单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566160"/>
            <a:ext cx="2103120" cy="4572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366674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PEL 回收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61488" y="3566160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80" y="367588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消费者崩溃导致消息滞留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76288" y="356616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0" y="367588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Redis Streams 消费组 + Pending 回收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114800"/>
            <a:ext cx="2103120" cy="4572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421538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字段可空性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61488" y="4114800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26080" y="422452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无数据源时输出 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76288" y="411480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0" y="422452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coverage_area 改为 nullable，无来源返回空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4663440"/>
            <a:ext cx="2103120" cy="4572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476402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操作留痕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61488" y="4663440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26080" y="477316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谁在何时改了阈值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76288" y="466344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40880" y="477316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审计日志覆盖所有写操作与审批决定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" y="5413248"/>
            <a:ext cx="11064240" cy="987552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6928" y="5413248"/>
            <a:ext cx="54864" cy="987552"/>
          </a:xfrm>
          <a:prstGeom prst="rect">
            <a:avLst/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8" y="55412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7A4C"/>
                </a:solidFill>
                <a:latin typeface="Microsoft YaHei"/>
              </a:rPr>
              <a:t>一条容易被忽视但极重要的原则：宁可留空，不可编造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" y="587044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在治理报表里，一个凭空的 0 会被读成「该区域无覆盖」或「该月无清理」，直接污染决策。所以 coverage_area 无来源时返回空，不写 0。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软硬结合：可插拔执行端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12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17904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883664"/>
            <a:ext cx="1481328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039112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岸基检测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359152" y="2084831"/>
            <a:ext cx="201168" cy="164592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60320" y="1883664"/>
            <a:ext cx="1481328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2039112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平台研判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78224" y="2084831"/>
            <a:ext cx="201168" cy="164592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79392" y="1883664"/>
            <a:ext cx="1481328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9392" y="2039112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自动派单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797296" y="2084831"/>
            <a:ext cx="201168" cy="164592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98464" y="1883664"/>
            <a:ext cx="1481328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98464" y="2039112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MQTT 下发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516368" y="2084831"/>
            <a:ext cx="201168" cy="164592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17536" y="1883664"/>
            <a:ext cx="1481328" cy="56692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17536" y="2039112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执行端拾取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235440" y="2084831"/>
            <a:ext cx="201168" cy="164592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36608" y="1883664"/>
            <a:ext cx="1481328" cy="56692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36608" y="2039112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结果回传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3127248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2E4C"/>
                </a:solidFill>
                <a:latin typeface="Microsoft YaHei"/>
              </a:rPr>
              <a:t>为什么把执行末端设计成可插拔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3511296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50" b="1">
                <a:solidFill>
                  <a:srgbClr val="1D6A9C"/>
                </a:solidFill>
                <a:latin typeface="Microsoft YaHei"/>
              </a:rPr>
              <a:t>▪ </a:t>
            </a:r>
            <a:r>
              <a:rPr sz="1350" b="1">
                <a:solidFill>
                  <a:srgbClr val="1B2A38"/>
                </a:solidFill>
                <a:latin typeface="Microsoft YaHei"/>
              </a:rPr>
              <a:t>真实海域的约束来自执行器的物理特性：</a:t>
            </a:r>
            <a:r>
              <a:rPr sz="1350">
                <a:solidFill>
                  <a:srgbClr val="5B6B7A"/>
                </a:solidFill>
                <a:latin typeface="Microsoft YaHei"/>
              </a:rPr>
              <a:t>无人机受风力、续航、禁飞区限制；水面机器人受浅滩与渔网缠绕限制。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50" b="1">
                <a:solidFill>
                  <a:srgbClr val="1D6A9C"/>
                </a:solidFill>
                <a:latin typeface="Microsoft YaHei"/>
              </a:rPr>
              <a:t>▪ </a:t>
            </a:r>
            <a:r>
              <a:rPr sz="1350" b="1">
                <a:solidFill>
                  <a:srgbClr val="1B2A38"/>
                </a:solidFill>
                <a:latin typeface="Microsoft YaHei"/>
              </a:rPr>
              <a:t>受限的是某一种执行器，不是系统架构。</a:t>
            </a:r>
            <a:r>
              <a:rPr sz="1350">
                <a:solidFill>
                  <a:srgbClr val="5B6B7A"/>
                </a:solidFill>
                <a:latin typeface="Microsoft YaHei"/>
              </a:rPr>
              <a:t>任务与通信契约标准化后，换个执行器契约不用改。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50" b="1">
                <a:solidFill>
                  <a:srgbClr val="1D6A9C"/>
                </a:solidFill>
                <a:latin typeface="Microsoft YaHei"/>
              </a:rPr>
              <a:t>▪ </a:t>
            </a:r>
            <a:r>
              <a:rPr sz="1350" b="1">
                <a:solidFill>
                  <a:srgbClr val="1B2A38"/>
                </a:solidFill>
                <a:latin typeface="Microsoft YaHei"/>
              </a:rPr>
              <a:t>平台负责目标点、状态与证据回传，</a:t>
            </a:r>
            <a:r>
              <a:rPr sz="1350">
                <a:solidFill>
                  <a:srgbClr val="5B6B7A"/>
                </a:solidFill>
                <a:latin typeface="Microsoft YaHei"/>
              </a:rPr>
              <a:t>不冒充已具备自主导航与避障能力。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02920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5029200"/>
            <a:ext cx="54864" cy="1371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517550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0392B"/>
                </a:solidFill>
                <a:latin typeface="Microsoft YaHei"/>
              </a:rPr>
              <a:t>证据等级说明（必须如实标注）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5522976"/>
            <a:ext cx="10607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当前执行端为模拟设备 / 受控实验环境，尚未开展真实海域验证。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可表述：已完成 MQTT 派单链路与执行端动作的受控仿真或实验室联调（E1/E2）。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不可表述：已在真实海面完成验证 —— 除非取得现场记录（E3）。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国产算力与工具链：已实测 / 方案级严格区分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13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17904"/>
            <a:ext cx="5486400" cy="42245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17904"/>
            <a:ext cx="5486400" cy="420624"/>
          </a:xfrm>
          <a:prstGeom prst="rect">
            <a:avLst/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60934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已完成实测（E2 级 · 软件集成）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084831"/>
            <a:ext cx="4983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1E7A4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ONNX 模型导出链路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：固定 batch=1、opset 17、图简化，参数与昇腾 ATC 工具链的静态形状要求对齐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1E7A4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推理服务化与多 provider 探测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：独立 HTTP 服务，按 TensorRT → CUDA → CPU 顺序装配，实际 provider 通过健康检查暴露；加载失败降级 stub 并继续启动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1E7A4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智能体编排与知识检索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：在华为云 ModelArts / AgentArts 平台完成部署与多轮工具调用验收，无运行错误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1E7A4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知识图谱增强决策问答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：多跳检索与引用固化，每条结论可回溯到具体资产与版本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517904"/>
            <a:ext cx="5376672" cy="4224528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4496" y="1517904"/>
            <a:ext cx="5376672" cy="420624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496" y="1609344"/>
            <a:ext cx="53766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方案级设计（尚未在目标硬件实测）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084831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F28A3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昇腾 Atlas + CANN 路径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：ONNX → om 转换（ATC 工具链）→ CANNExecutionProvider 推理 → OM 版本管理与热加载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F28A3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代码改造点明确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：替换 provider 即可，不需改检测算法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F28A3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大模型服务接入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：OpenAI 兼容协议（base_url + Bearer 鉴权 + 超时与错误分类 + 回落），已接线并通过行为测试，默认关闭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8816" y="507492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未在昇腾硬件上实测，因此按「方案级」表述，不作为已验证结论。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888736"/>
            <a:ext cx="11064240" cy="512064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980176"/>
            <a:ext cx="11064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把「已跑通」和「设计好」分开陈述 —— 这是评审信任的基础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03 技术验证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验证体系：每一项结论都可复现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14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2670048" cy="12070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72768"/>
            <a:ext cx="2670048" cy="45720"/>
          </a:xfrm>
          <a:prstGeom prst="rect">
            <a:avLst/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700784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自动化测试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956816"/>
            <a:ext cx="2377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6A9C"/>
                </a:solidFill>
                <a:latin typeface="Microsoft YaHei"/>
              </a:rPr>
              <a:t>全绿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377440"/>
            <a:ext cx="23957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pytest · 业务/状态机/幂等/契约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2" y="1572768"/>
            <a:ext cx="2670048" cy="12070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64992" y="1572768"/>
            <a:ext cx="2670048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47872" y="1700784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固定场景评测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1956816"/>
            <a:ext cx="2377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9CA8"/>
                </a:solidFill>
                <a:latin typeface="Microsoft YaHei"/>
              </a:rPr>
              <a:t>27 / 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2377440"/>
            <a:ext cx="23957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无网络 · 无真实模型 · 无真实设备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1572768"/>
            <a:ext cx="2670048" cy="12070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63056" y="1572768"/>
            <a:ext cx="2670048" cy="45720"/>
          </a:xfrm>
          <a:prstGeom prst="rect">
            <a:avLst/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1700784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集成验收检查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1956816"/>
            <a:ext cx="2377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A4C"/>
                </a:solidFill>
                <a:latin typeface="Microsoft YaHei"/>
              </a:rPr>
              <a:t>129 / 129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2377440"/>
            <a:ext cx="23957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真实 HTTP · 鉴权 · PG · 审批 · 幂等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1572768"/>
            <a:ext cx="2670048" cy="12070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61120" y="1572768"/>
            <a:ext cx="2670048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1700784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感知评测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956816"/>
            <a:ext cx="2377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C0392B"/>
                </a:solidFill>
                <a:latin typeface="Microsoft YaHei"/>
              </a:rPr>
              <a:t>未评测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3957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独立测试集未放行 · 主动留空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017520"/>
            <a:ext cx="2468880" cy="438912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310896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契约漂移检查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27248" y="3017520"/>
            <a:ext cx="5486400" cy="43891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1840" y="3118104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接口 Schema 与文档一致性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05088" y="3017520"/>
            <a:ext cx="2926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0" y="3118104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9CA8"/>
                </a:solidFill>
                <a:latin typeface="Microsoft YaHei"/>
              </a:rPr>
              <a:t>通过 26 / 警告 0 / 失败 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3529584"/>
            <a:ext cx="2468880" cy="438912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3621024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故障演练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27248" y="3529584"/>
            <a:ext cx="5486400" cy="43891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3630168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健康降级 · ACK 恢复 · 孪生闭环 · 持久化幂等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05088" y="3529584"/>
            <a:ext cx="2926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69680" y="3630168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9CA8"/>
                </a:solidFill>
                <a:latin typeface="Microsoft YaHei"/>
              </a:rPr>
              <a:t>4 组 / 127 用例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4041648"/>
            <a:ext cx="2468880" cy="438912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413308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前端浏览器回归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127248" y="4041648"/>
            <a:ext cx="5486400" cy="43891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91840" y="4142232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登录 · 权限 · 取消确认 · 关闭与刷新恢复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05088" y="4041648"/>
            <a:ext cx="2926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69680" y="4142232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9CA8"/>
                </a:solidFill>
                <a:latin typeface="Microsoft YaHei"/>
              </a:rPr>
              <a:t>交互场景全部通过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4553712"/>
            <a:ext cx="2468880" cy="438912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8" y="4645152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智能体评测环境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127248" y="4553712"/>
            <a:ext cx="5486400" cy="43891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91840" y="4654296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network_access=false · model_access=false · device_access=false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705088" y="4553712"/>
            <a:ext cx="2926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869680" y="4654296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9CA8"/>
                </a:solidFill>
                <a:latin typeface="Microsoft YaHei"/>
              </a:rPr>
              <a:t>隔离运行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6928" y="5285232"/>
            <a:ext cx="11064240" cy="1133856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66928" y="5285232"/>
            <a:ext cx="54864" cy="1133856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1248" y="5413248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8A3C"/>
                </a:solidFill>
                <a:latin typeface="Microsoft YaHei"/>
              </a:rPr>
              <a:t>主动披露弱项：评测中的两项未达设计目标的指标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" y="5742432"/>
            <a:ext cx="106070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B2A38"/>
                </a:solidFill>
                <a:latin typeface="Microsoft YaHei"/>
              </a:rPr>
              <a:t>recovery_success_rate 33.3%、invalid_loop_rate 7.4%。原因：评测集包含预期失败的负向场景，该指标反映「注入故障能否被完整恢复」，不等于正常流程成功率。已完成定位并列为下一迭代优化项。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1B2A38"/>
                </a:solidFill>
                <a:latin typeface="Microsoft YaHei"/>
              </a:rPr>
              <a:t>会主动披露自己弱项并给出定位的团队，它已披露的强项才更值得相信。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03 技术验证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能力边界：E0–E4 证据分级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15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17904"/>
            <a:ext cx="2148840" cy="786384"/>
          </a:xfrm>
          <a:prstGeom prst="roundRect">
            <a:avLst>
              <a:gd name="adj" fmla="val 6000"/>
            </a:avLst>
          </a:prstGeom>
          <a:solidFill>
            <a:srgbClr val="5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591056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E0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938528"/>
            <a:ext cx="2148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规划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37744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0">
                <a:solidFill>
                  <a:srgbClr val="5B6B7A"/>
                </a:solidFill>
                <a:latin typeface="Microsoft YaHei"/>
              </a:rPr>
              <a:t>想法 / 文档 / 接口草案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7208" y="1517904"/>
            <a:ext cx="2148840" cy="786384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07208" y="1591056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E1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7208" y="1938528"/>
            <a:ext cx="2148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软件测试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8" y="237744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0">
                <a:solidFill>
                  <a:srgbClr val="5B6B7A"/>
                </a:solidFill>
                <a:latin typeface="Microsoft YaHei"/>
              </a:rPr>
              <a:t>代码 · 单元测试 · 确定性仿真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47488" y="1517904"/>
            <a:ext cx="2148840" cy="786384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7488" y="1591056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E2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7488" y="1938528"/>
            <a:ext cx="2148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合成集成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7488" y="237744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0">
                <a:solidFill>
                  <a:srgbClr val="5B6B7A"/>
                </a:solidFill>
                <a:latin typeface="Microsoft YaHei"/>
              </a:rPr>
              <a:t>多模块联调 · 合成数据 / 模拟设备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87768" y="1517904"/>
            <a:ext cx="2148840" cy="786384"/>
          </a:xfrm>
          <a:prstGeom prst="roundRect">
            <a:avLst>
              <a:gd name="adj" fmla="val 6000"/>
            </a:avLst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87768" y="1591056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E3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87768" y="1938528"/>
            <a:ext cx="2148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现场验证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87768" y="237744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0">
                <a:solidFill>
                  <a:srgbClr val="5B6B7A"/>
                </a:solidFill>
                <a:latin typeface="Microsoft YaHei"/>
              </a:rPr>
              <a:t>真实设备 / 真实海域 / 真实用户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28048" y="1517904"/>
            <a:ext cx="2148840" cy="786384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28048" y="1591056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E4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8048" y="1938528"/>
            <a:ext cx="2148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商业验证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8048" y="237744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0">
                <a:solidFill>
                  <a:srgbClr val="5B6B7A"/>
                </a:solidFill>
                <a:latin typeface="Microsoft YaHei"/>
              </a:rPr>
              <a:t>合同 · 订单 · 回款 · 验收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2980944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E4C"/>
                </a:solidFill>
                <a:latin typeface="Microsoft YaHei"/>
              </a:rPr>
              <a:t>本作品当前状态（不做越级宣称）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346704"/>
            <a:ext cx="60350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3392424"/>
            <a:ext cx="5852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A38"/>
                </a:solidFill>
                <a:latin typeface="Microsoft YaHei"/>
              </a:rPr>
              <a:t>软件整体架构与治理闭环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3408" y="3392424"/>
            <a:ext cx="374903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已实现并通过自动化测试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61320" y="3364992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61320" y="3401568"/>
            <a:ext cx="1051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E1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3694176"/>
            <a:ext cx="6035040" cy="32004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3739896"/>
            <a:ext cx="5852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A38"/>
                </a:solidFill>
                <a:latin typeface="Microsoft YaHei"/>
              </a:rPr>
              <a:t>智能体内核固定场景评测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93408" y="3739896"/>
            <a:ext cx="374903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27 场景全通过（无网络/无模型/无设备）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561320" y="3712464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61320" y="3749040"/>
            <a:ext cx="1051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E1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4041648"/>
            <a:ext cx="60350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" y="4087368"/>
            <a:ext cx="5852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A38"/>
                </a:solidFill>
                <a:latin typeface="Microsoft YaHei"/>
              </a:rPr>
              <a:t>真实 HTTP + 鉴权 + 数据库 + 审批 + 幂等 + 重启回放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93408" y="4087368"/>
            <a:ext cx="374903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129 项检查全部通过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561320" y="4059936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61320" y="4096512"/>
            <a:ext cx="1051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E2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4389120"/>
            <a:ext cx="6035040" cy="32004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4434840"/>
            <a:ext cx="5852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A38"/>
                </a:solidFill>
                <a:latin typeface="Microsoft YaHei"/>
              </a:rPr>
              <a:t>模型导出、推理服务化、多 provider 探测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3408" y="4434840"/>
            <a:ext cx="374903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已实现并自检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561320" y="4407408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61320" y="4443984"/>
            <a:ext cx="1051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E1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4736592"/>
            <a:ext cx="60350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4782312"/>
            <a:ext cx="5852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A38"/>
                </a:solidFill>
                <a:latin typeface="Microsoft YaHei"/>
              </a:rPr>
              <a:t>云平台智能体部署与多轮工具调用验收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93408" y="4782312"/>
            <a:ext cx="374903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工具调用无运行错误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61320" y="4754880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61320" y="4791456"/>
            <a:ext cx="1051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E2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5084064"/>
            <a:ext cx="6035040" cy="32004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3232" y="5129784"/>
            <a:ext cx="5852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A38"/>
                </a:solidFill>
                <a:latin typeface="Microsoft YaHei"/>
              </a:rPr>
              <a:t>检测精度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93408" y="5129784"/>
            <a:ext cx="374903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独立测试集未放行，评测输出 not_evaluated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561320" y="5102352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61320" y="5138928"/>
            <a:ext cx="1051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未评测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6928" y="5431536"/>
            <a:ext cx="60350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3232" y="5477256"/>
            <a:ext cx="5852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A38"/>
                </a:solidFill>
                <a:latin typeface="Microsoft YaHei"/>
              </a:rPr>
              <a:t>昇腾硬件推理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93408" y="5477256"/>
            <a:ext cx="374903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路径设计完成，未在目标硬件实测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561320" y="5449824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561320" y="5486400"/>
            <a:ext cx="1051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方案级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" y="5779008"/>
            <a:ext cx="6035040" cy="32004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13232" y="5824728"/>
            <a:ext cx="5852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A38"/>
                </a:solidFill>
                <a:latin typeface="Microsoft YaHei"/>
              </a:rPr>
              <a:t>真实海域验证 / 商业合同订单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93408" y="5824728"/>
            <a:ext cx="374903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未开展 / 未取得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561320" y="5797296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561320" y="5833872"/>
            <a:ext cx="1051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未取得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84048" y="6382512"/>
            <a:ext cx="11430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本作品真正的价值不在于某个漂亮的演示，而在于建立了一条从感知到核算、每个环节都可被追问和核验的治理链路。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03 技术验证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感知评测方法论：数据不足时，宁可不报数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16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63040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B6B7A"/>
                </a:solidFill>
                <a:latin typeface="Microsoft YaHei"/>
              </a:rPr>
              <a:t>当前检测路线为传统视觉（背景建模 + 颜色/形状规则 + ROI）：零数据依赖、可解释、可纯 CPU 运行，但不等同于已训练模型。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011680"/>
            <a:ext cx="2697480" cy="12984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011680"/>
            <a:ext cx="2697480" cy="347472"/>
          </a:xfrm>
          <a:prstGeom prst="rect">
            <a:avLst/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75688"/>
            <a:ext cx="2697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训练集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模型拟合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743200"/>
            <a:ext cx="23957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不得混入验证或测试样本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74136" y="2011680"/>
            <a:ext cx="2697480" cy="12984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74136" y="2011680"/>
            <a:ext cx="2697480" cy="347472"/>
          </a:xfrm>
          <a:prstGeom prst="rect">
            <a:avLst/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4136" y="2075688"/>
            <a:ext cx="2697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验证集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7016" y="245059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调参与阈值选择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7016" y="2743200"/>
            <a:ext cx="23957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不得混入测试样本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2011680"/>
            <a:ext cx="2697480" cy="12984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1344" y="2011680"/>
            <a:ext cx="2697480" cy="347472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1344" y="2075688"/>
            <a:ext cx="2697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独立测试集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245059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最终评测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2743200"/>
            <a:ext cx="23957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按日期与点位隔离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88552" y="2011680"/>
            <a:ext cx="2697480" cy="12984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8552" y="2011680"/>
            <a:ext cx="2697480" cy="347472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2075688"/>
            <a:ext cx="2697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现场盲测集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1432" y="245059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交付前封存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1432" y="2743200"/>
            <a:ext cx="23957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演示前不得解封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3529584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3529584"/>
            <a:ext cx="54864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3657600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0392B"/>
                </a:solidFill>
                <a:latin typeface="Microsoft YaHei"/>
              </a:rPr>
              <a:t>评测脚本的设计原则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3986784"/>
            <a:ext cx="106070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B2A38"/>
                </a:solidFill>
                <a:latin typeface="Microsoft YaHei"/>
              </a:rPr>
              <a:t>清单未就绪时输出 not_evaluated 并附具体原因 —— 禁止空集下输出任何数字。这一设计避免了在数据不足时用不可信指标误导决策。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4718304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E4C"/>
                </a:solidFill>
                <a:latin typeface="Microsoft YaHei"/>
              </a:rPr>
              <a:t>目标指标体系（研发目标，非当前成绩）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084064"/>
            <a:ext cx="2788920" cy="402336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5157216"/>
            <a:ext cx="25694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2E4C"/>
                </a:solidFill>
                <a:latin typeface="Microsoft YaHei"/>
              </a:rPr>
              <a:t>各类别分别报告 Precision / Recall / F1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56432" y="5084064"/>
            <a:ext cx="2788920" cy="402336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66160" y="5157216"/>
            <a:ext cx="25694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2E4C"/>
                </a:solidFill>
                <a:latin typeface="Microsoft YaHei"/>
              </a:rPr>
              <a:t>AP50 / AP50-95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45936" y="5084064"/>
            <a:ext cx="1572768" cy="402336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55664" y="5157216"/>
            <a:ext cx="13533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2E4C"/>
                </a:solidFill>
                <a:latin typeface="Microsoft YaHei"/>
              </a:rPr>
              <a:t>每千帧误报数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19288" y="5084064"/>
            <a:ext cx="1572768" cy="402336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29016" y="5157216"/>
            <a:ext cx="13533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2E4C"/>
                </a:solidFill>
                <a:latin typeface="Microsoft YaHei"/>
              </a:rPr>
              <a:t>事件级发现率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92640" y="5084064"/>
            <a:ext cx="2788920" cy="402336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02368" y="5157216"/>
            <a:ext cx="25694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2E4C"/>
                </a:solidFill>
                <a:latin typeface="Microsoft YaHei"/>
              </a:rPr>
              <a:t>目标出现→事件确认时延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2582144" y="5084064"/>
            <a:ext cx="2788920" cy="402336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691872" y="5157216"/>
            <a:ext cx="25694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2E4C"/>
                </a:solidFill>
                <a:latin typeface="Microsoft YaHei"/>
              </a:rPr>
              <a:t>按天气与光照分层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5471648" y="5084064"/>
            <a:ext cx="2788920" cy="402336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581376" y="5157216"/>
            <a:ext cx="25694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2E4C"/>
                </a:solidFill>
                <a:latin typeface="Microsoft YaHei"/>
              </a:rPr>
              <a:t>样本量与置信区间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4048" y="6382512"/>
            <a:ext cx="11430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禁止只报告单一「准确率」；禁止用训练集结果对外；每个指标必须能追溯到原始事件和任务。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04 应用价值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对治理主体的价值与可核验指标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17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1051560" cy="56692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09928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效率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09928" y="1554480"/>
            <a:ext cx="553212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19" y="1719072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空驶减少：就近派单替代经验派单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33488" y="1554480"/>
            <a:ext cx="42976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1655064"/>
            <a:ext cx="40690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空驶距离占比 / 总航行距离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212848"/>
            <a:ext cx="1051560" cy="56692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368296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响应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09928" y="2212848"/>
            <a:ext cx="553212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74519" y="237744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事件确认到任务下发自动触发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33488" y="2212848"/>
            <a:ext cx="42976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79" y="2313432"/>
            <a:ext cx="40690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治理响应时延（发现→任务开始）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871216"/>
            <a:ext cx="1051560" cy="566928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3026664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风险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709928" y="2871216"/>
            <a:ext cx="553212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74519" y="3035808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高危动作纳入审批与策略守卫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33488" y="2871216"/>
            <a:ext cx="42976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79" y="2971800"/>
            <a:ext cx="40690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高风险动作审批覆盖率（目标 100%）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529584"/>
            <a:ext cx="1051560" cy="566928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3685032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可信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709928" y="3529584"/>
            <a:ext cx="553212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74519" y="3694176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每个结论可回溯到原始证据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33488" y="3529584"/>
            <a:ext cx="42976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79" y="3630168"/>
            <a:ext cx="40690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有证据支撑的结论占比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187952"/>
            <a:ext cx="1051560" cy="566928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4343400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成本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709928" y="4187952"/>
            <a:ext cx="553212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74519" y="4352544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单位闭环成本可计算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33488" y="4187952"/>
            <a:ext cx="42976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79" y="4288536"/>
            <a:ext cx="40690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每吨综合清理成本 / 每闭环任务成本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4956048"/>
            <a:ext cx="11064240" cy="1444752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112" y="5102352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9CA8"/>
                </a:solidFill>
                <a:latin typeface="Microsoft YaHei"/>
              </a:rPr>
              <a:t>建议的北极星指标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" y="541324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单位有效成本下完成闭环并经过证据确认的垃圾清理量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" y="59436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A8C8DC"/>
                </a:solidFill>
                <a:latin typeface="Microsoft YaHei"/>
              </a:rPr>
              <a:t>只有这个指标同时约束了成本与质量 —— 避免「多花钱多检测但没闭环」与「少花钱但数据造假」两种失真路径。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04 应用价值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社会价值与可推广性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18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72768"/>
            <a:ext cx="2697480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755648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降低临水作业风险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359152"/>
            <a:ext cx="2304288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把部分高风险水域的清理动作从「必须人到现场」转为「远程派单 + 可控执行」。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4136" y="1572768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74136" y="1572768"/>
            <a:ext cx="2697480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3592" y="1755648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提升治理资源效率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2359152"/>
            <a:ext cx="2304288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让有限的作业队与设备优先处理高价值目标，减少无效消耗。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572768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1572768"/>
            <a:ext cx="2697480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755648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支撑绿色海洋治理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59152"/>
            <a:ext cx="2304288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海漂垃圾治理是近岸生态治理的长期议题，本系统提供可量化的过程与效果数据。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88552" y="1572768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88552" y="1572768"/>
            <a:ext cx="2697480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08008" y="1755648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数字化能力沉淀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8008" y="2359152"/>
            <a:ext cx="2304288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为沿海县区提供可复制的「感知—决策—执行—核算」信息基础设施。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712463"/>
            <a:ext cx="11064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2E4C"/>
                </a:solidFill>
                <a:latin typeface="Microsoft YaHei"/>
              </a:rPr>
              <a:t>可推广性：核心逻辑与具体水域无关，迁移只需三步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133087"/>
            <a:ext cx="35661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4133087"/>
            <a:ext cx="50292" cy="914400"/>
          </a:xfrm>
          <a:prstGeom prst="rect">
            <a:avLst/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4242816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STEP 1  接入检测源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4553712"/>
            <a:ext cx="3200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摄像头 / 无人机 / 上报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9391" y="4133087"/>
            <a:ext cx="35661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79391" y="4133087"/>
            <a:ext cx="50292" cy="914400"/>
          </a:xfrm>
          <a:prstGeom prst="rect">
            <a:avLst/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59" y="4242816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STEP 2  标定感知参数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59" y="4553712"/>
            <a:ext cx="3200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ROI · 类别规则 · 时序窗口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91854" y="4133087"/>
            <a:ext cx="35661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91854" y="4133087"/>
            <a:ext cx="50292" cy="914400"/>
          </a:xfrm>
          <a:prstGeom prst="rect">
            <a:avLst/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93022" y="4242816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STEP 3  配置派单策略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3022" y="4553712"/>
            <a:ext cx="3200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距离 / 电量 / 仓容的场景化权重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5230368"/>
            <a:ext cx="11064240" cy="1133856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5230368"/>
            <a:ext cx="54864" cy="1133856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" y="5376672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8A3C"/>
                </a:solidFill>
                <a:latin typeface="Microsoft YaHei"/>
              </a:rPr>
              <a:t>成本模型的纪律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" y="5705856"/>
            <a:ext cx="106070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1B2A38"/>
                </a:solidFill>
                <a:latin typeface="Microsoft YaHei"/>
              </a:rPr>
              <a:t>单位闭环成本 =（设备折旧 + 能源 + 运维 + 人工协同 + 通信）÷ 已验收清理量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B2A38"/>
                </a:solidFill>
                <a:latin typeface="Microsoft YaHei"/>
              </a:rPr>
              <a:t>每一项成本标注来源类型（公开资料 / 询价 / 访谈 / 假设），可做敏感性分析。所有商业数字当前为测算值，不构成成交承诺。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04 应用价值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演示案例：完整闭环与异常路径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19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17904"/>
            <a:ext cx="11064240" cy="786384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</a:rPr>
              <a:t>模拟事件注入 → 时序验证与研判 → 智能体生成派单计划（含淘汰原因）→ 策略校验 / 审批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</a:rPr>
              <a:t>→ MQTT 下发 → 设备 ACK 与进度遥测 → 作业结果回传 → 证据归档 → 治理报表与单位成本输出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505456"/>
            <a:ext cx="11064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E4C"/>
                </a:solidFill>
                <a:latin typeface="Microsoft YaHei"/>
              </a:rPr>
              <a:t>同时演示异常路径 —— 出问题时的表现，比顺利流程更能说明系统成熟度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26080"/>
            <a:ext cx="2148840" cy="15179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926080"/>
            <a:ext cx="214884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999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无可用设备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419856"/>
            <a:ext cx="181051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不误报成功，记录 no_robot_available，进入待补派队列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16352" y="2926080"/>
            <a:ext cx="2148840" cy="15179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16352" y="2926080"/>
            <a:ext cx="214884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16352" y="2999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工具超时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9232" y="3419856"/>
            <a:ext cx="181051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有重试上限，能重规划或安全失败，不无限循环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65776" y="2926080"/>
            <a:ext cx="2148840" cy="15179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65776" y="2926080"/>
            <a:ext cx="214884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65776" y="2999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策略拒绝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8656" y="3419856"/>
            <a:ext cx="181051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动作在工具执行前被阻断，产生结构化原因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2926080"/>
            <a:ext cx="2148840" cy="15179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0" y="2926080"/>
            <a:ext cx="214884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2999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审批拒绝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3419856"/>
            <a:ext cx="181051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Run 终止，不发送任何设备指令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64624" y="2926080"/>
            <a:ext cx="2148840" cy="15179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64624" y="2926080"/>
            <a:ext cx="214884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64624" y="2999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模型不可用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47504" y="3419856"/>
            <a:ext cx="181051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自动回落规则模式，系统功能不降级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700016"/>
            <a:ext cx="11064240" cy="1700784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4700016"/>
            <a:ext cx="54864" cy="1700784"/>
          </a:xfrm>
          <a:prstGeom prst="rect">
            <a:avLst/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4864608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7A4C"/>
                </a:solidFill>
                <a:latin typeface="Microsoft YaHei"/>
              </a:rPr>
              <a:t>五种异常场景的共同点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521208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F2E4C"/>
                </a:solidFill>
                <a:latin typeface="Microsoft YaHei"/>
              </a:rPr>
              <a:t>系统从不假装成功。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5705856"/>
            <a:ext cx="10607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没有设备时记录原因并等待补派，而不是伪造一个「已派单」；审批被拒时直接终止，不下发指令；模型不可用时回落规则模式，功能不下降。</a:t>
            </a:r>
          </a:p>
          <a:p>
            <a:pPr algn="l">
              <a:lnSpc>
                <a:spcPct val="128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另：后端不可用时前端必须显示真实错误与降级状态，禁止展示静态的「在线」「运行中」。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04 应用价值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已知限制与下一步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20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B2A38"/>
                </a:solidFill>
                <a:latin typeface="Microsoft YaHei"/>
              </a:rPr>
              <a:t>诚实列出限制，比声称完备更有利于长期信任：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20240"/>
            <a:ext cx="224028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920240"/>
            <a:ext cx="4572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002536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2E4C"/>
                </a:solidFill>
                <a:latin typeface="Microsoft YaHei"/>
              </a:rPr>
              <a:t>检测精度未评测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240280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独立测试集未放行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656" y="2066544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无法给出真实精度指标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82512" y="1920240"/>
            <a:ext cx="5248656" cy="5669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2066544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7A4C"/>
                </a:solidFill>
                <a:latin typeface="Microsoft YaHei"/>
              </a:rPr>
              <a:t>采集并放行标注数据，按日期点位隔离评测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578608"/>
            <a:ext cx="224028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2578608"/>
            <a:ext cx="4572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660904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2E4C"/>
                </a:solidFill>
                <a:latin typeface="Microsoft YaHei"/>
              </a:rPr>
              <a:t>昇腾路径未实测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898648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设计完成，未上真机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2656" y="2724912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国产算力适配无硬件实证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82512" y="2578608"/>
            <a:ext cx="5248656" cy="5669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2724912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7A4C"/>
                </a:solidFill>
                <a:latin typeface="Microsoft YaHei"/>
              </a:rPr>
              <a:t>申请赛事算力平台，完成一次真实推理验证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236976"/>
            <a:ext cx="224028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3236976"/>
            <a:ext cx="4572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31927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2E4C"/>
                </a:solidFill>
                <a:latin typeface="Microsoft YaHei"/>
              </a:rPr>
              <a:t>模型未接入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3557016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适配器已接线但默认关闭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62656" y="338328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意图理解与异常解释受限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82512" y="3236976"/>
            <a:ext cx="5248656" cy="5669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5392" y="338328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7A4C"/>
                </a:solidFill>
                <a:latin typeface="Microsoft YaHei"/>
              </a:rPr>
              <a:t>接入国产大模型服务并做效果评测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3895344"/>
            <a:ext cx="224028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3895344"/>
            <a:ext cx="4572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39776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2E4C"/>
                </a:solidFill>
                <a:latin typeface="Microsoft YaHei"/>
              </a:rPr>
              <a:t>无真实海域验证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4215384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未开展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62656" y="404164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不能声称现场可用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82512" y="3895344"/>
            <a:ext cx="5248656" cy="5669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65392" y="4041648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7A4C"/>
                </a:solidFill>
                <a:latin typeface="Microsoft YaHei"/>
              </a:rPr>
              <a:t>在受控水域完成一次现场短时验证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553712"/>
            <a:ext cx="224028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4553712"/>
            <a:ext cx="4572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463600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2E4C"/>
                </a:solidFill>
                <a:latin typeface="Microsoft YaHei"/>
              </a:rPr>
              <a:t>无商业验证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873752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无合同 / 订单 / 回款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62656" y="4700016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商业模式为测算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82512" y="4553712"/>
            <a:ext cx="5248656" cy="5669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65392" y="4700016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7A4C"/>
                </a:solidFill>
                <a:latin typeface="Microsoft YaHei"/>
              </a:rPr>
              <a:t>推进单点试点，取得可核验的成本数据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5212080"/>
            <a:ext cx="224028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6928" y="5212080"/>
            <a:ext cx="4572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9808" y="5294376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2E4C"/>
                </a:solidFill>
                <a:latin typeface="Microsoft YaHei"/>
              </a:rPr>
              <a:t>部分恢复指标偏低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8" y="5532120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恢复率 33.3%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62656" y="5358384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故障恢复能力待增强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82512" y="5212080"/>
            <a:ext cx="5248656" cy="5669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65392" y="5358384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7A4C"/>
                </a:solidFill>
                <a:latin typeface="Microsoft YaHei"/>
              </a:rPr>
              <a:t>已定位原因，列入下一迭代优化项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048" y="6382512"/>
            <a:ext cx="11430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每一项限制都对应明确的下一步工作与所需条件，而非含糊的「有待完善」。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05 加分项举证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知识产权：已形成 5 项软件著作权登记材料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21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63040"/>
            <a:ext cx="11064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B6B7A"/>
                </a:solidFill>
                <a:latin typeface="Microsoft YaHei"/>
              </a:rPr>
              <a:t>作品方案覆盖的五条子系统分别独立成篇，每项均含「文档鉴别材料（软件说明书）」与「程序鉴别材料（源程序）」两部分，篇间不重复。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38528"/>
            <a:ext cx="2121408" cy="2377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938528"/>
            <a:ext cx="2121408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139696"/>
            <a:ext cx="175564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海洋环境治理智能体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27248"/>
            <a:ext cx="175564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主平台：事件接入 · 智能体调度 · 治理闭环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8064" y="1938528"/>
            <a:ext cx="2121408" cy="2377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8064" y="1938528"/>
            <a:ext cx="2121408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80944" y="2139696"/>
            <a:ext cx="175564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海漂垃圾边缘智能感知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0944" y="3127248"/>
            <a:ext cx="175564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感知链路：检测 · 时序验证 · 事件生成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938528"/>
            <a:ext cx="2121408" cy="2377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1938528"/>
            <a:ext cx="2121408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2139696"/>
            <a:ext cx="175564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海洋治理智能体决策与审批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127248"/>
            <a:ext cx="175564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决策内核：Planner · Policy · 审批 · 回放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0336" y="1938528"/>
            <a:ext cx="2121408" cy="2377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60336" y="1938528"/>
            <a:ext cx="2121408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6" y="2139696"/>
            <a:ext cx="175564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海域治理三维数字沙盘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3216" y="3127248"/>
            <a:ext cx="175564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态势呈现：三维沙盘 · 轨迹 · 点位联动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91472" y="1938528"/>
            <a:ext cx="2121408" cy="2377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491472" y="1938528"/>
            <a:ext cx="2121408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74352" y="2139696"/>
            <a:ext cx="175564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水面垃圾打捞机械臂控制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4352" y="3127248"/>
            <a:ext cx="175564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执行末端：视觉伺服 · 抓取闭环 · 状态回传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700016"/>
            <a:ext cx="11064240" cy="1700784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4700016"/>
            <a:ext cx="54864" cy="1700784"/>
          </a:xfrm>
          <a:prstGeom prst="rect">
            <a:avLst/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4864608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7A4C"/>
                </a:solidFill>
                <a:latin typeface="Microsoft YaHei"/>
              </a:rPr>
              <a:t>这份材料的价值：产权边界清晰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5230368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五条子系统各自成篇，说明书与源程序一一对应，评审可以按篇核对「哪段代码支撑哪个能力」，而不是面对一坨无法归属的代码。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当前 5 项均处于软件著作权登记申请流程中，登记材料（文档 + 源程序）已完成编制，可随时提供核验。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05 加分项举证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需求验证：来自县级主管部门的一线访谈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22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81328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91056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访谈对象：县级海洋与渔业局 相关业务部门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10424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E4F0"/>
                </a:solidFill>
                <a:latin typeface="Microsoft YaHei"/>
              </a:rPr>
              <a:t>微信文字访谈 · 约 40 分钟 · 2026 年 10 月 · 全程截图存档（5 张） · 证据等级 E3 起点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FC4D8"/>
                </a:solidFill>
                <a:latin typeface="Microsoft YaHei"/>
              </a:rPr>
              <a:t>访谈目的：核实海漂垃圾治理的实际流程、发现方式、成本与考核口径、采购付费模式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542032"/>
            <a:ext cx="2670048" cy="3200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542032"/>
            <a:ext cx="2670048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606040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痛点证实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999232"/>
            <a:ext cx="2304288" cy="2615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现有模式为「人工巡查 + 视频监控」发现；海边受风向影响，垃圾多从其他县区飘入、大风时堆积；县级层面即无确切清运量与费用台账。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4992" y="2542032"/>
            <a:ext cx="2670048" cy="3200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2" y="2542032"/>
            <a:ext cx="2670048" cy="347472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64992" y="2606040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需求验证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2999232"/>
            <a:ext cx="2304288" cy="2615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对「海上垃圾自动识别 + 清理」明确表态：乡镇「肯定非常的认可」；同时提示需区分海上垃圾与沙滩礁石垃圾两类场景。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6" y="2542032"/>
            <a:ext cx="2670048" cy="3200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3056" y="2542032"/>
            <a:ext cx="2670048" cy="347472"/>
          </a:xfrm>
          <a:prstGeom prst="rect">
            <a:avLst/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63056" y="2606040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采购口径校准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999232"/>
            <a:ext cx="2304288" cy="2615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现行采购为全县域 13 个乡镇「全年总包制」；我方按点位监测费 + 按吨清理费的测算价，可作为总包定价的分解参考。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2542032"/>
            <a:ext cx="2670048" cy="3200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61120" y="2542032"/>
            <a:ext cx="2670048" cy="347472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0" y="2606040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下一步动作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999232"/>
            <a:ext cx="2304288" cy="2615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向专业清理企业 / 劳务方询价以校准成本口径；向生态环境部门核实上级考核材料口径，补齐成本证据链。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6382512"/>
            <a:ext cx="11430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需求不是替用户想象的：立项三个痛点（发现滞后、成效难量化、付费口径不明）均由真实用户侧证实；文中引用统一标注为「县级海渔部门访谈（2026.10）」。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05 加分项举证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成本与供应链调研：13 家供应商 · 15 份询价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23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36192"/>
            <a:ext cx="2670048" cy="914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627632"/>
            <a:ext cx="2670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供应商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865376"/>
            <a:ext cx="2670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D6A9C"/>
                </a:solidFill>
                <a:latin typeface="Microsoft YaHei"/>
              </a:rPr>
              <a:t>13 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1536192"/>
            <a:ext cx="2670048" cy="914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4992" y="1627632"/>
            <a:ext cx="2670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询价记录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1865376"/>
            <a:ext cx="2670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D6A9C"/>
                </a:solidFill>
                <a:latin typeface="Microsoft YaHei"/>
              </a:rPr>
              <a:t>15 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536192"/>
            <a:ext cx="2670048" cy="914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3056" y="1627632"/>
            <a:ext cx="2670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核心部件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3056" y="1865376"/>
            <a:ext cx="2670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D6A9C"/>
                </a:solidFill>
                <a:latin typeface="Microsoft YaHei"/>
              </a:rPr>
              <a:t>5 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536192"/>
            <a:ext cx="2670048" cy="914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1627632"/>
            <a:ext cx="2670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盖章报价单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1865376"/>
            <a:ext cx="2670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D6A9C"/>
                </a:solidFill>
                <a:latin typeface="Microsoft YaHei"/>
              </a:rPr>
              <a:t>2 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670048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E4C"/>
                </a:solidFill>
                <a:latin typeface="Microsoft YaHei"/>
              </a:rPr>
              <a:t>样机选型要点（暂定，供集成参考）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072384"/>
            <a:ext cx="2377440" cy="603504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3236976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边缘计算盒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35808" y="3072384"/>
            <a:ext cx="4114800" cy="6035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0" y="3236976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触想智能 CX3588-Z　¥1,700 / 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42048" y="3163824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6TOPS NPU · -20~70℃ 宽温 · 定制三防（防盐雾/潮/尘） · 已取得正式盖章报价单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767328"/>
            <a:ext cx="2377440" cy="603504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39319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船体·推进器·电池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35808" y="3767328"/>
            <a:ext cx="4114800" cy="6035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0" y="393192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浙江蓝舶整船方案　¥1,550 + ¥960 + ¥1,780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42048" y="3858768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2.2m 折叠船 + 48 磅推进器 + 12V100A 磷酸电池，单一供应商打包，含盖章报价单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462272"/>
            <a:ext cx="2377440" cy="603504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4626864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摄像头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35808" y="4462272"/>
            <a:ext cx="4114800" cy="6035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0" y="4626864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明远 400 万 IPC 模组　¥135 / 个（含税）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42048" y="4553712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固定点位可用；船载耐盐雾相机需求已提交，待书面报价后补入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157216"/>
            <a:ext cx="2377440" cy="603504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532180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备选电池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035808" y="5157216"/>
            <a:ext cx="4114800" cy="6035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0" y="5321808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亿森能 51.2V　¥3,530 / ¥4,200 / ¥6,340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42048" y="5248656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48 / 60 / 96Ah 三档，用于大容量续航方案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5925312"/>
            <a:ext cx="11064240" cy="475488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66928" y="5925312"/>
            <a:ext cx="54864" cy="475488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" y="6007608"/>
            <a:ext cx="10607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A38"/>
                </a:solidFill>
                <a:latin typeface="Microsoft YaHei"/>
              </a:rPr>
              <a:t>口径声明：报价均为供应商询价结果，非成交价、非最终采购价；含税口径与交期以供应商报价为准；15 份原始记录（截图 / PDF）可溯源、可复核。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7276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Microsoft YaHei"/>
              </a:rPr>
              <a:t>探海灵眸 Oceanus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2231136"/>
            <a:ext cx="1371600" cy="32004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542032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0">
                <a:solidFill>
                  <a:srgbClr val="C9E4F0"/>
                </a:solidFill>
                <a:latin typeface="Microsoft YaHei"/>
              </a:rPr>
              <a:t>让每一次发现，</a:t>
            </a:r>
          </a:p>
          <a:p>
            <a:pPr algn="l">
              <a:lnSpc>
                <a:spcPct val="135000"/>
              </a:lnSpc>
            </a:pPr>
            <a:r>
              <a:rPr sz="3000" b="0">
                <a:solidFill>
                  <a:srgbClr val="C9E4F0"/>
                </a:solidFill>
                <a:latin typeface="Microsoft YaHei"/>
              </a:rPr>
              <a:t>都能被证明已经闭环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86784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9FC4D8"/>
                </a:solidFill>
                <a:latin typeface="Microsoft YaHei"/>
              </a:rPr>
              <a:t>核心价值不在于某一个漂亮的算法，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9FC4D8"/>
                </a:solidFill>
                <a:latin typeface="Microsoft YaHei"/>
              </a:rPr>
              <a:t>而在于一条从感知到核算、每个环节都可被追问和核验的治理链路。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35838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09CA8"/>
                </a:solidFill>
                <a:latin typeface="Microsoft YaHei"/>
              </a:rPr>
              <a:t>谢谢各位评委  ·  恳请批评指正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