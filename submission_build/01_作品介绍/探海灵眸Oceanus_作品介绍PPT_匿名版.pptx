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C8198-002F-0D11-5999-A88E53DE9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6B743B-8AB3-D786-BBFC-B17DFA418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D54CB4-31D0-F6A8-1EE5-D537C840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29A009-BFC7-4E35-3AED-291692B56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5D8B75-5E34-7F13-7224-D39AFB14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68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E1079-1C97-8A3A-D603-6BBA70E7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BE7C57-0E03-34B2-FBE1-AD909714B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A7154A-0DF5-C58C-1967-99531231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DAA010-AC94-4C75-F68C-FA6AE1FE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E4F6F-869E-BB76-4D43-DA2F82FF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07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EA539-901A-400C-8E25-E955F9A2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86C166-6C11-760C-BE88-50EC2BD79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D3864C-CC91-29A9-EA40-2D476D2F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CD2AB4-C087-8E74-46AE-DEDD8A67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31C0CD-2BD5-D1C2-A584-653344FF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62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B22A9-1A68-EFCD-EA17-7901FA3D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37BF2C-6829-2FAE-E618-5DE904665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D5DC51-502B-57D2-7BCC-6D8290EF1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CB5AB-6EFD-B66C-252A-8E6D53C6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CE5580-1A53-096A-66A8-44592B3E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D7CABF-B2D2-EC63-7448-CAB11403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26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E1ECA-499F-B325-FE04-5BB4A69B1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2A213C-04DD-1AA8-0216-0AADAB88F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563D96-D054-4111-617C-A7ED5431A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60C119-BBDB-2414-966F-FD9C49536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9604E4-F32A-656B-3967-DCF416FDC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A9CD07-CB25-ED31-8612-E06E912A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1E16DD-FA31-EDEA-7A89-54ED2288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584167-E9DD-31F3-7F7F-9700E44B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87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39848-DAFE-1B70-DFAE-98D4226D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34CEC6-D0AA-1265-060C-11724D4B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A573F3-F38D-3F92-063E-157081EF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44534F-0287-BFDF-3EFE-E4A90972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85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83963E-3D4E-1EFC-A825-973CEAA2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E48A43-4D41-9E48-1EA6-A02AEB4A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513C4E-FD8B-CEEF-D6DE-0AE5F007E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160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50F8B-8ECA-D670-FD81-A36CFBA6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784B65-2B43-94E8-FA82-22142B538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4F1B24-1333-39EC-8BFC-857A6B341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3DAA83-8B67-2FF8-C554-EAC9981D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08AEA2-E719-6633-5B32-1B5202483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FCB708-D0B5-B6B4-97C7-F2958D19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57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65DBF-8C6E-7AC2-94B1-DD66A5C4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0FF053-4382-F4E6-094D-7EB14E8A3AE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AD52A6-45BA-16CA-C908-B6039D6FF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23127A-ADCC-714F-B2E3-A9901B4F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BED6D-107E-5812-70A3-DC6CE8E3D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D2A18D-9F79-95CD-EF3E-FF13452C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91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D7A35-6C7C-6935-A3F3-5DE533F2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E3E0AA-639C-84D9-9751-903423860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19255-03E1-BECD-AE63-C9F7667D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AE5F3-3944-60B4-FFC8-46CE3CAC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4328AA-0EFE-E4C0-E1D2-0C385683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1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B668DF-AF57-5264-4D1E-4A40F4E8E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FB8BA9-8F12-F507-5D09-6E21F7EAC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F5D94-7703-EAAB-477F-27082957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A29CEF-E4C2-23B3-BA21-8B9D640E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A2CA4E-A61B-9237-9C2B-E9071EF5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002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EFA7C4-CF2E-8A1F-61CD-F9A4FC5B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8BA5BE-EC41-E335-FEF9-96EC1DBE6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1B75D-F8E4-7541-A6D0-74007298C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F85AC-D518-488F-8805-63101ED2960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DD47DC-0794-770B-98D9-9313B25C1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4AAD9-DEB5-4668-CB36-299E941AD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76196-9656-4C72-A9BD-605C49424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75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anvas background">
            <a:extLst>
              <a:ext uri="{FF2B5EF4-FFF2-40B4-BE49-F238E27FC236}">
                <a16:creationId xmlns:a16="http://schemas.microsoft.com/office/drawing/2014/main" id="{37406530-3F06-A5B3-41EA-1033BE9314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A459216C-6D2B-9966-E58B-649A48D25918}"/>
              </a:ext>
            </a:extLst>
          </p:cNvPr>
          <p:cNvCxnSpPr/>
          <p:nvPr/>
        </p:nvCxnSpPr>
        <p:spPr>
          <a:xfrm>
            <a:off x="558800" y="533400"/>
            <a:ext cx="7315200" cy="0"/>
          </a:xfrm>
          <a:prstGeom prst="line">
            <a:avLst/>
          </a:prstGeom>
          <a:ln w="15240">
            <a:solidFill>
              <a:srgbClr val="DAAB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CCAFB9-651F-9232-16EB-840CAFE7697C}"/>
              </a:ext>
            </a:extLst>
          </p:cNvPr>
          <p:cNvSpPr txBox="1"/>
          <p:nvPr/>
        </p:nvSpPr>
        <p:spPr>
          <a:xfrm>
            <a:off x="558800" y="6985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2026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海峡大学生人工智能创意大赛 </a:t>
            </a:r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海洋科创赛道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D40162-5496-7D6A-0358-D8FF0812AB49}"/>
              </a:ext>
            </a:extLst>
          </p:cNvPr>
          <p:cNvSpPr txBox="1"/>
          <p:nvPr/>
        </p:nvSpPr>
        <p:spPr>
          <a:xfrm>
            <a:off x="558800" y="15367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84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484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484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56F0EF-A623-B7D6-F072-F6753D9A5087}"/>
              </a:ext>
            </a:extLst>
          </p:cNvPr>
          <p:cNvSpPr txBox="1"/>
          <p:nvPr/>
        </p:nvSpPr>
        <p:spPr>
          <a:xfrm>
            <a:off x="558800" y="24384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海陆空协同海洋环境治理智能体平台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EEE22B-99CE-E34D-EA08-97E182B5DF60}"/>
              </a:ext>
            </a:extLst>
          </p:cNvPr>
          <p:cNvSpPr txBox="1"/>
          <p:nvPr/>
        </p:nvSpPr>
        <p:spPr>
          <a:xfrm>
            <a:off x="558800" y="3124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8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从发现到核算，把海漂垃圾治理做成可信、
可回放、可复盘的闭环。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47C382-73A0-F554-B8B1-BBEF3AA37F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987586"/>
            <a:ext cx="6540500" cy="4908229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E5C543-D49B-25AA-D285-1FC9EB4791D2}"/>
              </a:ext>
            </a:extLst>
          </p:cNvPr>
          <p:cNvCxnSpPr/>
          <p:nvPr/>
        </p:nvCxnSpPr>
        <p:spPr>
          <a:xfrm>
            <a:off x="6832600" y="5473700"/>
            <a:ext cx="4800600" cy="0"/>
          </a:xfrm>
          <a:prstGeom prst="line">
            <a:avLst/>
          </a:prstGeom>
          <a:ln w="10160">
            <a:solidFill>
              <a:srgbClr val="DAAB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4A02CF3-BA33-3544-1595-EB678505A78D}"/>
              </a:ext>
            </a:extLst>
          </p:cNvPr>
          <p:cNvSpPr txBox="1"/>
          <p:nvPr/>
        </p:nvSpPr>
        <p:spPr>
          <a:xfrm>
            <a:off x="6832600" y="5613400"/>
            <a:ext cx="480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模块化无人船 </a:t>
            </a:r>
            <a:r>
              <a:rPr lang="en-US" altLang="zh-CN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边缘智能感知 </a:t>
            </a:r>
            <a:r>
              <a:rPr lang="en-US" altLang="zh-CN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机械臂拾取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CF0A7F-AC81-1BF3-330A-360236B3EF53}"/>
              </a:ext>
            </a:extLst>
          </p:cNvPr>
          <p:cNvSpPr txBox="1"/>
          <p:nvPr/>
        </p:nvSpPr>
        <p:spPr>
          <a:xfrm>
            <a:off x="558800" y="4419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作品形态：平台 </a:t>
            </a:r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无人船 </a:t>
            </a:r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无人机 </a:t>
            </a:r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871035-BC6D-1967-803B-F498C043063C}"/>
              </a:ext>
            </a:extLst>
          </p:cNvPr>
          <p:cNvSpPr txBox="1"/>
          <p:nvPr/>
        </p:nvSpPr>
        <p:spPr>
          <a:xfrm>
            <a:off x="558800" y="4749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应用场景：近岸海漂垃圾治理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A4ED78-6EAB-1583-CB67-932A6718275E}"/>
              </a:ext>
            </a:extLst>
          </p:cNvPr>
          <p:cNvSpPr txBox="1"/>
          <p:nvPr/>
        </p:nvSpPr>
        <p:spPr>
          <a:xfrm>
            <a:off x="558800" y="5080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2026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年 </a:t>
            </a:r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10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月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A7D7CF8-4A09-F315-2DB4-28A3B8316F3E}"/>
              </a:ext>
            </a:extLst>
          </p:cNvPr>
          <p:cNvCxnSpPr/>
          <p:nvPr/>
        </p:nvCxnSpPr>
        <p:spPr>
          <a:xfrm>
            <a:off x="558800" y="5816600"/>
            <a:ext cx="5791200" cy="0"/>
          </a:xfrm>
          <a:prstGeom prst="line">
            <a:avLst/>
          </a:prstGeom>
          <a:ln w="8890">
            <a:solidFill>
              <a:srgbClr val="37485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7EF7743-4237-3B17-5DD2-B5CD83CF3C68}"/>
              </a:ext>
            </a:extLst>
          </p:cNvPr>
          <p:cNvSpPr txBox="1"/>
          <p:nvPr/>
        </p:nvSpPr>
        <p:spPr>
          <a:xfrm>
            <a:off x="558800" y="59690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固定测评 </a:t>
            </a:r>
            <a:r>
              <a:rPr lang="en-US" altLang="zh-CN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27/27 · </a:t>
            </a:r>
            <a:r>
              <a:rPr lang="zh-CN" altLang="en-US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真实状态集成验收 </a:t>
            </a:r>
            <a:r>
              <a:rPr lang="en-US" altLang="zh-CN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129 </a:t>
            </a:r>
            <a:r>
              <a:rPr lang="zh-CN" altLang="en-US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项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A9E49C5-95FF-521D-8FA4-35246CA807E5}"/>
              </a:ext>
            </a:extLst>
          </p:cNvPr>
          <p:cNvCxnSpPr/>
          <p:nvPr/>
        </p:nvCxnSpPr>
        <p:spPr>
          <a:xfrm>
            <a:off x="304800" y="228600"/>
            <a:ext cx="533400" cy="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827FF3-F2CE-FCC0-D476-8906867D004D}"/>
              </a:ext>
            </a:extLst>
          </p:cNvPr>
          <p:cNvCxnSpPr/>
          <p:nvPr/>
        </p:nvCxnSpPr>
        <p:spPr>
          <a:xfrm>
            <a:off x="304800" y="228600"/>
            <a:ext cx="0" cy="53340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6409B01-9243-9332-D62A-1D7F96582888}"/>
              </a:ext>
            </a:extLst>
          </p:cNvPr>
          <p:cNvCxnSpPr/>
          <p:nvPr/>
        </p:nvCxnSpPr>
        <p:spPr>
          <a:xfrm>
            <a:off x="11353800" y="228600"/>
            <a:ext cx="533400" cy="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FF7F809-820B-177F-3659-63D9F9A22665}"/>
              </a:ext>
            </a:extLst>
          </p:cNvPr>
          <p:cNvCxnSpPr/>
          <p:nvPr/>
        </p:nvCxnSpPr>
        <p:spPr>
          <a:xfrm>
            <a:off x="11887200" y="228600"/>
            <a:ext cx="0" cy="53340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9214236-4A37-9E8E-4120-9BFC998754A6}"/>
              </a:ext>
            </a:extLst>
          </p:cNvPr>
          <p:cNvCxnSpPr/>
          <p:nvPr/>
        </p:nvCxnSpPr>
        <p:spPr>
          <a:xfrm>
            <a:off x="304800" y="6096000"/>
            <a:ext cx="0" cy="53340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B92C2B9-3704-2C84-1701-C0A76999DAF7}"/>
              </a:ext>
            </a:extLst>
          </p:cNvPr>
          <p:cNvCxnSpPr/>
          <p:nvPr/>
        </p:nvCxnSpPr>
        <p:spPr>
          <a:xfrm>
            <a:off x="304800" y="6629400"/>
            <a:ext cx="533400" cy="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11DECFA-46E0-E273-E861-FCFF6E8417D9}"/>
              </a:ext>
            </a:extLst>
          </p:cNvPr>
          <p:cNvCxnSpPr/>
          <p:nvPr/>
        </p:nvCxnSpPr>
        <p:spPr>
          <a:xfrm>
            <a:off x="11353800" y="6629400"/>
            <a:ext cx="533400" cy="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12A8854-177F-841C-7432-3558F0C331F4}"/>
              </a:ext>
            </a:extLst>
          </p:cNvPr>
          <p:cNvCxnSpPr/>
          <p:nvPr/>
        </p:nvCxnSpPr>
        <p:spPr>
          <a:xfrm>
            <a:off x="11887200" y="6096000"/>
            <a:ext cx="0" cy="53340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73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Canvas background">
            <a:extLst>
              <a:ext uri="{FF2B5EF4-FFF2-40B4-BE49-F238E27FC236}">
                <a16:creationId xmlns:a16="http://schemas.microsoft.com/office/drawing/2014/main" id="{7856BE87-509A-153C-EC0B-C69CA121B1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3" name="Template content panel">
            <a:extLst>
              <a:ext uri="{FF2B5EF4-FFF2-40B4-BE49-F238E27FC236}">
                <a16:creationId xmlns:a16="http://schemas.microsoft.com/office/drawing/2014/main" id="{CE2F2A12-D19A-30D9-F799-0D57DC8A96AB}"/>
              </a:ext>
            </a:extLst>
          </p:cNvPr>
          <p:cNvSpPr/>
          <p:nvPr/>
        </p:nvSpPr>
        <p:spPr>
          <a:xfrm>
            <a:off x="457200" y="5638800"/>
            <a:ext cx="11201400" cy="736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Template content panel">
            <a:extLst>
              <a:ext uri="{FF2B5EF4-FFF2-40B4-BE49-F238E27FC236}">
                <a16:creationId xmlns:a16="http://schemas.microsoft.com/office/drawing/2014/main" id="{90509378-397A-D141-3ACF-7AF0EB8998DA}"/>
              </a:ext>
            </a:extLst>
          </p:cNvPr>
          <p:cNvSpPr/>
          <p:nvPr/>
        </p:nvSpPr>
        <p:spPr>
          <a:xfrm>
            <a:off x="8077200" y="1676400"/>
            <a:ext cx="3632200" cy="38100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Template content panel">
            <a:extLst>
              <a:ext uri="{FF2B5EF4-FFF2-40B4-BE49-F238E27FC236}">
                <a16:creationId xmlns:a16="http://schemas.microsoft.com/office/drawing/2014/main" id="{508A9422-BD12-43D3-9722-FF91BD6A7D2E}"/>
              </a:ext>
            </a:extLst>
          </p:cNvPr>
          <p:cNvSpPr/>
          <p:nvPr/>
        </p:nvSpPr>
        <p:spPr>
          <a:xfrm>
            <a:off x="457200" y="3454400"/>
            <a:ext cx="6680200" cy="1676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mplate content panel">
            <a:extLst>
              <a:ext uri="{FF2B5EF4-FFF2-40B4-BE49-F238E27FC236}">
                <a16:creationId xmlns:a16="http://schemas.microsoft.com/office/drawing/2014/main" id="{4D1D6021-B972-2C3C-A68F-DF5C32CB04D3}"/>
              </a:ext>
            </a:extLst>
          </p:cNvPr>
          <p:cNvSpPr/>
          <p:nvPr/>
        </p:nvSpPr>
        <p:spPr>
          <a:xfrm>
            <a:off x="457200" y="1676400"/>
            <a:ext cx="6680200" cy="20320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F71836-6F97-A95E-444A-BEA12CE31B0C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7AF128-E155-F828-CC2D-B19BF8FE2ACD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ECE62D6-875B-38AE-0680-FCCF40935B55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9BFD36-FB1D-D79D-1833-D97B9E5752B2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00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路演总览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B1FB4D0-102F-9291-C4A6-E871C51A7AD2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1C25DB9-571D-2C36-B8D8-A509935D6AB6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9D7CB50-2D4B-93D6-87BF-2198187B9781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一页看懂：这项作品解决了什么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9C0F92-1E1D-E89C-9084-1C16CA8F1A32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把海漂垃圾从“被看见”推进到“被证明已经闭环”。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C6370A6-6054-F940-7EFA-1D55DD66B5C9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0D1730A-981A-7A70-0654-A5B5EEF77E11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4800AD-E57F-E5E0-BAFB-E5FA9C9D7F8C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AF4A7F8-AD0D-1995-BB64-A87B1247F1C1}"/>
              </a:ext>
            </a:extLst>
          </p:cNvPr>
          <p:cNvCxnSpPr/>
          <p:nvPr/>
        </p:nvCxnSpPr>
        <p:spPr>
          <a:xfrm>
            <a:off x="711200" y="2159000"/>
            <a:ext cx="5969000" cy="0"/>
          </a:xfrm>
          <a:prstGeom prst="line">
            <a:avLst/>
          </a:prstGeom>
          <a:ln w="190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14EA84FD-4D7F-434D-A7DC-4D7BE99512A2}"/>
              </a:ext>
            </a:extLst>
          </p:cNvPr>
          <p:cNvSpPr/>
          <p:nvPr/>
        </p:nvSpPr>
        <p:spPr>
          <a:xfrm>
            <a:off x="558800" y="1981200"/>
            <a:ext cx="355600" cy="3556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4ACF4F-AE24-1A36-DF5E-FE0A2B2E4079}"/>
              </a:ext>
            </a:extLst>
          </p:cNvPr>
          <p:cNvSpPr txBox="1"/>
          <p:nvPr/>
        </p:nvSpPr>
        <p:spPr>
          <a:xfrm>
            <a:off x="558800" y="1981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C1E083-4F41-66E7-E0BA-C8D42FD15B05}"/>
              </a:ext>
            </a:extLst>
          </p:cNvPr>
          <p:cNvSpPr txBox="1"/>
          <p:nvPr/>
        </p:nvSpPr>
        <p:spPr>
          <a:xfrm>
            <a:off x="558800" y="24257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发现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63B4AA-3F99-A1EC-A378-2135EC5F986E}"/>
              </a:ext>
            </a:extLst>
          </p:cNvPr>
          <p:cNvSpPr txBox="1"/>
          <p:nvPr/>
        </p:nvSpPr>
        <p:spPr>
          <a:xfrm>
            <a:off x="558800" y="2781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摄像头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无人机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人工上报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CBE95F7-B7EB-FC47-39AC-F62C211F812B}"/>
              </a:ext>
            </a:extLst>
          </p:cNvPr>
          <p:cNvSpPr/>
          <p:nvPr/>
        </p:nvSpPr>
        <p:spPr>
          <a:xfrm>
            <a:off x="1917700" y="1981200"/>
            <a:ext cx="355600" cy="3556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3838449-9728-6070-042D-1BA159D71F0B}"/>
              </a:ext>
            </a:extLst>
          </p:cNvPr>
          <p:cNvSpPr txBox="1"/>
          <p:nvPr/>
        </p:nvSpPr>
        <p:spPr>
          <a:xfrm>
            <a:off x="1917700" y="1981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0E3831-9944-5247-F6AC-DC473B01A9E6}"/>
              </a:ext>
            </a:extLst>
          </p:cNvPr>
          <p:cNvSpPr txBox="1"/>
          <p:nvPr/>
        </p:nvSpPr>
        <p:spPr>
          <a:xfrm>
            <a:off x="1917700" y="24257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确认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AA1C78-07CB-C432-B7BE-D250C02CB525}"/>
              </a:ext>
            </a:extLst>
          </p:cNvPr>
          <p:cNvSpPr txBox="1"/>
          <p:nvPr/>
        </p:nvSpPr>
        <p:spPr>
          <a:xfrm>
            <a:off x="1917700" y="2781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时序验证与人工复核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5CDE0D0-B396-5335-4C2A-E7E394D93781}"/>
              </a:ext>
            </a:extLst>
          </p:cNvPr>
          <p:cNvSpPr/>
          <p:nvPr/>
        </p:nvSpPr>
        <p:spPr>
          <a:xfrm>
            <a:off x="3276600" y="1981200"/>
            <a:ext cx="355600" cy="3556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5471CC-5769-99DC-FB1F-304623BE605E}"/>
              </a:ext>
            </a:extLst>
          </p:cNvPr>
          <p:cNvSpPr txBox="1"/>
          <p:nvPr/>
        </p:nvSpPr>
        <p:spPr>
          <a:xfrm>
            <a:off x="3276600" y="1981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EC86260-DFAD-3732-21DC-1558A043F981}"/>
              </a:ext>
            </a:extLst>
          </p:cNvPr>
          <p:cNvSpPr txBox="1"/>
          <p:nvPr/>
        </p:nvSpPr>
        <p:spPr>
          <a:xfrm>
            <a:off x="3276600" y="24257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派单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1D64763-180C-F69E-1267-4E75E771BB9A}"/>
              </a:ext>
            </a:extLst>
          </p:cNvPr>
          <p:cNvSpPr txBox="1"/>
          <p:nvPr/>
        </p:nvSpPr>
        <p:spPr>
          <a:xfrm>
            <a:off x="3276600" y="2781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空间就近与资源状态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D6A69F1-822F-2EC3-6272-27029D57BFB1}"/>
              </a:ext>
            </a:extLst>
          </p:cNvPr>
          <p:cNvSpPr/>
          <p:nvPr/>
        </p:nvSpPr>
        <p:spPr>
          <a:xfrm>
            <a:off x="4635500" y="1981200"/>
            <a:ext cx="355600" cy="3556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6191D5-73C8-8B51-81E2-E5AC90E9CE8A}"/>
              </a:ext>
            </a:extLst>
          </p:cNvPr>
          <p:cNvSpPr txBox="1"/>
          <p:nvPr/>
        </p:nvSpPr>
        <p:spPr>
          <a:xfrm>
            <a:off x="4635500" y="1981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14E951E-9D92-A4EA-A805-3FF64EF0C3BF}"/>
              </a:ext>
            </a:extLst>
          </p:cNvPr>
          <p:cNvSpPr txBox="1"/>
          <p:nvPr/>
        </p:nvSpPr>
        <p:spPr>
          <a:xfrm>
            <a:off x="4635500" y="24257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209444D-AE38-75A1-D6A4-33E6524BDF1A}"/>
              </a:ext>
            </a:extLst>
          </p:cNvPr>
          <p:cNvSpPr txBox="1"/>
          <p:nvPr/>
        </p:nvSpPr>
        <p:spPr>
          <a:xfrm>
            <a:off x="4635500" y="2781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MQTT + ACK 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遥测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CF51F8C-4166-2DA0-1937-9AC4E057DBBA}"/>
              </a:ext>
            </a:extLst>
          </p:cNvPr>
          <p:cNvSpPr/>
          <p:nvPr/>
        </p:nvSpPr>
        <p:spPr>
          <a:xfrm>
            <a:off x="5994400" y="1981200"/>
            <a:ext cx="355600" cy="3556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2A876CD-A897-D73F-98AF-B1A0D5EFC7BC}"/>
              </a:ext>
            </a:extLst>
          </p:cNvPr>
          <p:cNvSpPr txBox="1"/>
          <p:nvPr/>
        </p:nvSpPr>
        <p:spPr>
          <a:xfrm>
            <a:off x="5994400" y="1981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05</a:t>
            </a:r>
            <a:endParaRPr lang="zh-CN" altLang="en-US" sz="120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C9D36A3-0B69-8EA4-99FA-E80B8EA03D25}"/>
              </a:ext>
            </a:extLst>
          </p:cNvPr>
          <p:cNvSpPr txBox="1"/>
          <p:nvPr/>
        </p:nvSpPr>
        <p:spPr>
          <a:xfrm>
            <a:off x="5994400" y="2438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核算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706C408-016E-FEB0-283B-5915C7390FA3}"/>
              </a:ext>
            </a:extLst>
          </p:cNvPr>
          <p:cNvSpPr txBox="1"/>
          <p:nvPr/>
        </p:nvSpPr>
        <p:spPr>
          <a:xfrm>
            <a:off x="5994400" y="2781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证据归档与报表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CD77668-509B-C7B6-E185-4E86D1772C8E}"/>
              </a:ext>
            </a:extLst>
          </p:cNvPr>
          <p:cNvSpPr txBox="1"/>
          <p:nvPr/>
        </p:nvSpPr>
        <p:spPr>
          <a:xfrm>
            <a:off x="558800" y="35687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可信流转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6E67163-B62B-81CD-208D-FDD863722FC6}"/>
              </a:ext>
            </a:extLst>
          </p:cNvPr>
          <p:cNvSpPr txBox="1"/>
          <p:nvPr/>
        </p:nvSpPr>
        <p:spPr>
          <a:xfrm>
            <a:off x="558800" y="3886200"/>
            <a:ext cx="361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Run / Step / Tool / Policy / Approval / Replay / Eval</a:t>
            </a:r>
            <a:endParaRPr lang="zh-CN" altLang="en-US" sz="1200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0F2450E-E24D-6ED6-9D9F-57EE440CECC0}"/>
              </a:ext>
            </a:extLst>
          </p:cNvPr>
          <p:cNvSpPr txBox="1"/>
          <p:nvPr/>
        </p:nvSpPr>
        <p:spPr>
          <a:xfrm>
            <a:off x="4572000" y="35687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可插拔执行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8C52163-BEE7-F067-E221-42EC1E26D642}"/>
              </a:ext>
            </a:extLst>
          </p:cNvPr>
          <p:cNvSpPr txBox="1"/>
          <p:nvPr/>
        </p:nvSpPr>
        <p:spPr>
          <a:xfrm>
            <a:off x="4572000" y="38862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无人船、无人机、无人车共用任务与证据契约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4D7BA10-638D-2723-2AAF-F1BE70BAC0FC}"/>
              </a:ext>
            </a:extLst>
          </p:cNvPr>
          <p:cNvSpPr txBox="1"/>
          <p:nvPr/>
        </p:nvSpPr>
        <p:spPr>
          <a:xfrm>
            <a:off x="558800" y="45847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证据链内建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E7AB3E-5337-6912-402B-BFF53DF5B97E}"/>
              </a:ext>
            </a:extLst>
          </p:cNvPr>
          <p:cNvSpPr txBox="1"/>
          <p:nvPr/>
        </p:nvSpPr>
        <p:spPr>
          <a:xfrm>
            <a:off x="558800" y="4902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每个关键结论都保留来源、版本、审批与回放轨迹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4FD6033-232E-675C-A957-5E1D712A9C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1749709"/>
            <a:ext cx="2794000" cy="1859983"/>
          </a:xfrm>
          <a:prstGeom prst="rect">
            <a:avLst/>
          </a:prstGeom>
        </p:spPr>
      </p:pic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BE45305-FCEF-B0C9-0B0A-46DBA68D787D}"/>
              </a:ext>
            </a:extLst>
          </p:cNvPr>
          <p:cNvCxnSpPr/>
          <p:nvPr/>
        </p:nvCxnSpPr>
        <p:spPr>
          <a:xfrm>
            <a:off x="8255000" y="3924300"/>
            <a:ext cx="33782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6A8EC8F-69D8-D15B-3552-1AAA1DA10ADA}"/>
              </a:ext>
            </a:extLst>
          </p:cNvPr>
          <p:cNvSpPr txBox="1"/>
          <p:nvPr/>
        </p:nvSpPr>
        <p:spPr>
          <a:xfrm>
            <a:off x="8255000" y="4089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已有证据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831DEEE-5BEA-4EB7-6DD9-9A74A2E9716B}"/>
              </a:ext>
            </a:extLst>
          </p:cNvPr>
          <p:cNvSpPr txBox="1"/>
          <p:nvPr/>
        </p:nvSpPr>
        <p:spPr>
          <a:xfrm>
            <a:off x="8255000" y="4419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75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27/27</a:t>
            </a:r>
            <a:endParaRPr lang="zh-CN" altLang="en-US" sz="2750" b="1">
              <a:solidFill>
                <a:srgbClr val="26776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CB4BF38-BD2D-1F55-66C1-83076223B0B9}"/>
              </a:ext>
            </a:extLst>
          </p:cNvPr>
          <p:cNvSpPr txBox="1"/>
          <p:nvPr/>
        </p:nvSpPr>
        <p:spPr>
          <a:xfrm>
            <a:off x="8255000" y="48514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固定评测场景通过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8386C3B-DA02-CA94-A9E1-EF2177AC693B}"/>
              </a:ext>
            </a:extLst>
          </p:cNvPr>
          <p:cNvSpPr txBox="1"/>
          <p:nvPr/>
        </p:nvSpPr>
        <p:spPr>
          <a:xfrm>
            <a:off x="9906000" y="44196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75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129</a:t>
            </a:r>
            <a:endParaRPr lang="zh-CN" altLang="en-US" sz="275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870114-1420-8571-47D9-817A1DA39DE5}"/>
              </a:ext>
            </a:extLst>
          </p:cNvPr>
          <p:cNvSpPr txBox="1"/>
          <p:nvPr/>
        </p:nvSpPr>
        <p:spPr>
          <a:xfrm>
            <a:off x="9906000" y="48514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真实状态集成验收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B22C567-169B-5378-3A60-0D52EA6C10CF}"/>
              </a:ext>
            </a:extLst>
          </p:cNvPr>
          <p:cNvCxnSpPr/>
          <p:nvPr/>
        </p:nvCxnSpPr>
        <p:spPr>
          <a:xfrm>
            <a:off x="558800" y="55626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572A615-D9C0-360B-01E8-375C82F72F02}"/>
              </a:ext>
            </a:extLst>
          </p:cNvPr>
          <p:cNvSpPr txBox="1"/>
          <p:nvPr/>
        </p:nvSpPr>
        <p:spPr>
          <a:xfrm>
            <a:off x="558800" y="5664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7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5 </a:t>
            </a:r>
            <a:r>
              <a:rPr lang="zh-CN" altLang="en-US" sz="27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项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1594905-30B6-E909-B452-F05275E5FCE9}"/>
              </a:ext>
            </a:extLst>
          </p:cNvPr>
          <p:cNvSpPr txBox="1"/>
          <p:nvPr/>
        </p:nvSpPr>
        <p:spPr>
          <a:xfrm>
            <a:off x="558800" y="60960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软件著作权申请中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A4164F5-9B7E-7C59-350F-9EC226F43DD6}"/>
              </a:ext>
            </a:extLst>
          </p:cNvPr>
          <p:cNvSpPr txBox="1"/>
          <p:nvPr/>
        </p:nvSpPr>
        <p:spPr>
          <a:xfrm>
            <a:off x="3479800" y="5664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7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 </a:t>
            </a:r>
            <a:r>
              <a:rPr lang="zh-CN" altLang="en-US" sz="27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篇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D6EE7D2-058E-A140-D9AC-F27450186D94}"/>
              </a:ext>
            </a:extLst>
          </p:cNvPr>
          <p:cNvSpPr txBox="1"/>
          <p:nvPr/>
        </p:nvSpPr>
        <p:spPr>
          <a:xfrm>
            <a:off x="3479800" y="60960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ICASSP 2027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投稿在审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5B57D3F-0474-4F21-EBB4-D9FB30A2A497}"/>
              </a:ext>
            </a:extLst>
          </p:cNvPr>
          <p:cNvSpPr txBox="1"/>
          <p:nvPr/>
        </p:nvSpPr>
        <p:spPr>
          <a:xfrm>
            <a:off x="6400800" y="5664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7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3 </a:t>
            </a:r>
            <a:r>
              <a:rPr lang="zh-CN" altLang="en-US" sz="27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类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96ECD97-587B-C64E-BC0C-231BEDB9AB0D}"/>
              </a:ext>
            </a:extLst>
          </p:cNvPr>
          <p:cNvSpPr txBox="1"/>
          <p:nvPr/>
        </p:nvSpPr>
        <p:spPr>
          <a:xfrm>
            <a:off x="6400800" y="60960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移动载体结构方案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74750A2-0F56-57CA-6DEE-6104450EDFD3}"/>
              </a:ext>
            </a:extLst>
          </p:cNvPr>
          <p:cNvSpPr txBox="1"/>
          <p:nvPr/>
        </p:nvSpPr>
        <p:spPr>
          <a:xfrm>
            <a:off x="9321800" y="56642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75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E2</a:t>
            </a:r>
            <a:endParaRPr lang="zh-CN" altLang="en-US" sz="2750" b="1">
              <a:solidFill>
                <a:srgbClr val="26776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D4F1E92-023C-1C9B-BFF6-6DBC62E82FC1}"/>
              </a:ext>
            </a:extLst>
          </p:cNvPr>
          <p:cNvSpPr txBox="1"/>
          <p:nvPr/>
        </p:nvSpPr>
        <p:spPr>
          <a:xfrm>
            <a:off x="9321800" y="60960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当前能力阶段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E7625E8-A2C0-79B8-7D65-E9CA8406DEEA}"/>
              </a:ext>
            </a:extLst>
          </p:cNvPr>
          <p:cNvCxnSpPr/>
          <p:nvPr/>
        </p:nvCxnSpPr>
        <p:spPr>
          <a:xfrm>
            <a:off x="635000" y="16891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389471B-BF83-045B-946C-0D23E087FA79}"/>
              </a:ext>
            </a:extLst>
          </p:cNvPr>
          <p:cNvCxnSpPr/>
          <p:nvPr/>
        </p:nvCxnSpPr>
        <p:spPr>
          <a:xfrm>
            <a:off x="635000" y="34671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9D751376-051D-F43A-E3D2-9A4CB193C253}"/>
              </a:ext>
            </a:extLst>
          </p:cNvPr>
          <p:cNvCxnSpPr/>
          <p:nvPr/>
        </p:nvCxnSpPr>
        <p:spPr>
          <a:xfrm>
            <a:off x="8255000" y="1689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3873BF3-DA31-348A-4210-C042A0379E97}"/>
              </a:ext>
            </a:extLst>
          </p:cNvPr>
          <p:cNvCxnSpPr/>
          <p:nvPr/>
        </p:nvCxnSpPr>
        <p:spPr>
          <a:xfrm>
            <a:off x="635000" y="56515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64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anvas background">
            <a:extLst>
              <a:ext uri="{FF2B5EF4-FFF2-40B4-BE49-F238E27FC236}">
                <a16:creationId xmlns:a16="http://schemas.microsoft.com/office/drawing/2014/main" id="{1A452EAB-689C-F477-DABD-1CA14DE26D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Template content panel">
            <a:extLst>
              <a:ext uri="{FF2B5EF4-FFF2-40B4-BE49-F238E27FC236}">
                <a16:creationId xmlns:a16="http://schemas.microsoft.com/office/drawing/2014/main" id="{57525C56-9A24-C3A1-1317-971E41BF275B}"/>
              </a:ext>
            </a:extLst>
          </p:cNvPr>
          <p:cNvSpPr/>
          <p:nvPr/>
        </p:nvSpPr>
        <p:spPr>
          <a:xfrm>
            <a:off x="457200" y="4191000"/>
            <a:ext cx="11252200" cy="2057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mplate content panel">
            <a:extLst>
              <a:ext uri="{FF2B5EF4-FFF2-40B4-BE49-F238E27FC236}">
                <a16:creationId xmlns:a16="http://schemas.microsoft.com/office/drawing/2014/main" id="{A326AF18-348D-9556-9171-4BC8EE9FEB17}"/>
              </a:ext>
            </a:extLst>
          </p:cNvPr>
          <p:cNvSpPr/>
          <p:nvPr/>
        </p:nvSpPr>
        <p:spPr>
          <a:xfrm>
            <a:off x="457200" y="1803400"/>
            <a:ext cx="11252200" cy="22860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8AA75D-777C-860E-1B0A-ED81B65BE5C6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29998F-7031-EA6F-1C85-509592B5E682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585E071-1C50-ECD5-5683-D156D6765636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A792DE-4D11-2FDA-91CD-12DA2EBDEA90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问题与定位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AC70CA3-D8FE-5EA7-824D-11B324945B74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F1D7F2-F043-3C01-1192-D7938307E682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4D363DF-E428-0E98-3682-1A82F5DA58E9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真正的断点不在“看见”，而在“流转”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FBACD7-255E-6C91-BA73-09E4ADA5C234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县域海漂垃圾治理包含五个环节，每个环节都有独立的失效方式。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9FFBEC0-434C-0D5A-8725-2476A5DCF9ED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82ABFF9-FE50-7965-55C4-8D2C136897A6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742B18-96E2-BB3F-0105-772070B2BC99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49ACBDB-51DE-2636-6A87-AF2CA124E164}"/>
              </a:ext>
            </a:extLst>
          </p:cNvPr>
          <p:cNvCxnSpPr/>
          <p:nvPr/>
        </p:nvCxnSpPr>
        <p:spPr>
          <a:xfrm>
            <a:off x="736600" y="2209800"/>
            <a:ext cx="10693400" cy="0"/>
          </a:xfrm>
          <a:prstGeom prst="line">
            <a:avLst/>
          </a:prstGeom>
          <a:ln w="1524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1D43B3F2-EB5A-A001-51AE-C288AF24C344}"/>
              </a:ext>
            </a:extLst>
          </p:cNvPr>
          <p:cNvSpPr/>
          <p:nvPr/>
        </p:nvSpPr>
        <p:spPr>
          <a:xfrm>
            <a:off x="558800" y="2006600"/>
            <a:ext cx="406400" cy="4064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7F0913-67AD-80C3-5803-2D289F1BB8E2}"/>
              </a:ext>
            </a:extLst>
          </p:cNvPr>
          <p:cNvSpPr txBox="1"/>
          <p:nvPr/>
        </p:nvSpPr>
        <p:spPr>
          <a:xfrm>
            <a:off x="558800" y="2006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9E09A8-E227-1D78-56F8-25AED5609BB8}"/>
              </a:ext>
            </a:extLst>
          </p:cNvPr>
          <p:cNvSpPr txBox="1"/>
          <p:nvPr/>
        </p:nvSpPr>
        <p:spPr>
          <a:xfrm>
            <a:off x="558800" y="25908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发现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6FB78DE-0A1D-46A2-2B90-DB44A512E25E}"/>
              </a:ext>
            </a:extLst>
          </p:cNvPr>
          <p:cNvSpPr txBox="1"/>
          <p:nvPr/>
        </p:nvSpPr>
        <p:spPr>
          <a:xfrm>
            <a:off x="558800" y="3022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覆盖时段有限；单帧误报多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1AC4EEA-348B-6A05-FEC8-D7C4F69191C6}"/>
              </a:ext>
            </a:extLst>
          </p:cNvPr>
          <p:cNvSpPr/>
          <p:nvPr/>
        </p:nvSpPr>
        <p:spPr>
          <a:xfrm>
            <a:off x="2806700" y="2006600"/>
            <a:ext cx="406400" cy="4064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124B1A4-9B41-6C2D-5A67-B0AFAF66C628}"/>
              </a:ext>
            </a:extLst>
          </p:cNvPr>
          <p:cNvSpPr txBox="1"/>
          <p:nvPr/>
        </p:nvSpPr>
        <p:spPr>
          <a:xfrm>
            <a:off x="2806700" y="2006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93007D-75EE-6F89-13AF-A1EE21A32B7D}"/>
              </a:ext>
            </a:extLst>
          </p:cNvPr>
          <p:cNvSpPr txBox="1"/>
          <p:nvPr/>
        </p:nvSpPr>
        <p:spPr>
          <a:xfrm>
            <a:off x="2806700" y="25908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确认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E5D32C-E294-4238-3935-19FADA138E2F}"/>
              </a:ext>
            </a:extLst>
          </p:cNvPr>
          <p:cNvSpPr txBox="1"/>
          <p:nvPr/>
        </p:nvSpPr>
        <p:spPr>
          <a:xfrm>
            <a:off x="2806700" y="3022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人工判断标准不一；无复核记录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A04E39B-6282-D1C3-D49A-61BB91AAFE92}"/>
              </a:ext>
            </a:extLst>
          </p:cNvPr>
          <p:cNvSpPr/>
          <p:nvPr/>
        </p:nvSpPr>
        <p:spPr>
          <a:xfrm>
            <a:off x="5054600" y="2006600"/>
            <a:ext cx="406400" cy="4064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B52E8E-5517-68B0-C5E0-225AE362C834}"/>
              </a:ext>
            </a:extLst>
          </p:cNvPr>
          <p:cNvSpPr txBox="1"/>
          <p:nvPr/>
        </p:nvSpPr>
        <p:spPr>
          <a:xfrm>
            <a:off x="5054600" y="2006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0A995C0-F354-7EDC-293C-1F374A298FBE}"/>
              </a:ext>
            </a:extLst>
          </p:cNvPr>
          <p:cNvSpPr txBox="1"/>
          <p:nvPr/>
        </p:nvSpPr>
        <p:spPr>
          <a:xfrm>
            <a:off x="5054600" y="25908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派单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EBA45C3-F7FD-D145-1BB1-F4FC3CA39AB9}"/>
              </a:ext>
            </a:extLst>
          </p:cNvPr>
          <p:cNvSpPr txBox="1"/>
          <p:nvPr/>
        </p:nvSpPr>
        <p:spPr>
          <a:xfrm>
            <a:off x="5054600" y="3022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依赖个人经验；缺少优先级依据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E57093F-DBEC-2E7D-4E95-9D9424BBB18A}"/>
              </a:ext>
            </a:extLst>
          </p:cNvPr>
          <p:cNvSpPr/>
          <p:nvPr/>
        </p:nvSpPr>
        <p:spPr>
          <a:xfrm>
            <a:off x="7302500" y="2006600"/>
            <a:ext cx="406400" cy="4064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F28D8A-2050-FC5B-6502-201B2A498804}"/>
              </a:ext>
            </a:extLst>
          </p:cNvPr>
          <p:cNvSpPr txBox="1"/>
          <p:nvPr/>
        </p:nvSpPr>
        <p:spPr>
          <a:xfrm>
            <a:off x="7302500" y="2006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CFF93B9-6DE2-64A5-472E-78DB510B34FE}"/>
              </a:ext>
            </a:extLst>
          </p:cNvPr>
          <p:cNvSpPr txBox="1"/>
          <p:nvPr/>
        </p:nvSpPr>
        <p:spPr>
          <a:xfrm>
            <a:off x="7302500" y="25908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2B7A0C7-7FE6-AA89-26CA-A24A9C5D49CE}"/>
              </a:ext>
            </a:extLst>
          </p:cNvPr>
          <p:cNvSpPr txBox="1"/>
          <p:nvPr/>
        </p:nvSpPr>
        <p:spPr>
          <a:xfrm>
            <a:off x="7302500" y="3022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空驶多；近处设备被远派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64BECD1B-295A-51D4-CACD-1A91581D790F}"/>
              </a:ext>
            </a:extLst>
          </p:cNvPr>
          <p:cNvSpPr/>
          <p:nvPr/>
        </p:nvSpPr>
        <p:spPr>
          <a:xfrm>
            <a:off x="9550400" y="2006600"/>
            <a:ext cx="406400" cy="4064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90FB510-FA44-6E3C-1858-21421E10B65E}"/>
              </a:ext>
            </a:extLst>
          </p:cNvPr>
          <p:cNvSpPr txBox="1"/>
          <p:nvPr/>
        </p:nvSpPr>
        <p:spPr>
          <a:xfrm>
            <a:off x="9550400" y="2006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05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9355B23-1D36-0E3C-7C83-89B2A9D358EE}"/>
              </a:ext>
            </a:extLst>
          </p:cNvPr>
          <p:cNvSpPr txBox="1"/>
          <p:nvPr/>
        </p:nvSpPr>
        <p:spPr>
          <a:xfrm>
            <a:off x="9550400" y="25908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核算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D904B14-3311-5183-4BBD-A61ACE79246E}"/>
              </a:ext>
            </a:extLst>
          </p:cNvPr>
          <p:cNvSpPr txBox="1"/>
          <p:nvPr/>
        </p:nvSpPr>
        <p:spPr>
          <a:xfrm>
            <a:off x="9550400" y="3022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数据滞后；口径不一；难证闭环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AB2F6B-045E-F306-853E-3C9D7BB1132D}"/>
              </a:ext>
            </a:extLst>
          </p:cNvPr>
          <p:cNvCxnSpPr/>
          <p:nvPr/>
        </p:nvCxnSpPr>
        <p:spPr>
          <a:xfrm>
            <a:off x="558800" y="41402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069C35C-62A4-CDC4-2D81-B68A5749B9F2}"/>
              </a:ext>
            </a:extLst>
          </p:cNvPr>
          <p:cNvSpPr txBox="1"/>
          <p:nvPr/>
        </p:nvSpPr>
        <p:spPr>
          <a:xfrm>
            <a:off x="558800" y="43942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关键洞察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376C0D1-EF51-C2BD-1402-82863089620A}"/>
              </a:ext>
            </a:extLst>
          </p:cNvPr>
          <p:cNvSpPr txBox="1"/>
          <p:nvPr/>
        </p:nvSpPr>
        <p:spPr>
          <a:xfrm>
            <a:off x="558800" y="4737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8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即使把 </a:t>
            </a:r>
            <a:r>
              <a:rPr lang="en-US" altLang="zh-CN" sz="148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100 </a:t>
            </a:r>
            <a:r>
              <a:rPr lang="zh-CN" altLang="en-US" sz="148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个漂浮物全部检测出来，如果无法证明哪一条被处理、效果如何、代价多少，治理价值仍然接近于零。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AB52027-6483-A20E-C267-38B0B4728F83}"/>
              </a:ext>
            </a:extLst>
          </p:cNvPr>
          <p:cNvSpPr/>
          <p:nvPr/>
        </p:nvSpPr>
        <p:spPr>
          <a:xfrm>
            <a:off x="558800" y="5524500"/>
            <a:ext cx="11074400" cy="660400"/>
          </a:xfrm>
          <a:prstGeom prst="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BAAFBB-A20C-70D6-F1E8-EBF7CF198EB5}"/>
              </a:ext>
            </a:extLst>
          </p:cNvPr>
          <p:cNvSpPr txBox="1"/>
          <p:nvPr/>
        </p:nvSpPr>
        <p:spPr>
          <a:xfrm>
            <a:off x="812800" y="5676900"/>
            <a:ext cx="1056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设计重心：把“可信流转”放在“识别精度”之前。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75595B3-6677-D285-3D73-E1C50DB6F325}"/>
              </a:ext>
            </a:extLst>
          </p:cNvPr>
          <p:cNvCxnSpPr/>
          <p:nvPr/>
        </p:nvCxnSpPr>
        <p:spPr>
          <a:xfrm>
            <a:off x="635000" y="18161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A07BC24-92F4-5EAE-E914-1E5DE0450FF7}"/>
              </a:ext>
            </a:extLst>
          </p:cNvPr>
          <p:cNvCxnSpPr/>
          <p:nvPr/>
        </p:nvCxnSpPr>
        <p:spPr>
          <a:xfrm>
            <a:off x="635000" y="42037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725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anvas background">
            <a:extLst>
              <a:ext uri="{FF2B5EF4-FFF2-40B4-BE49-F238E27FC236}">
                <a16:creationId xmlns:a16="http://schemas.microsoft.com/office/drawing/2014/main" id="{007C38DB-EC4F-8878-D29F-6FF9AFE32E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Template content panel">
            <a:extLst>
              <a:ext uri="{FF2B5EF4-FFF2-40B4-BE49-F238E27FC236}">
                <a16:creationId xmlns:a16="http://schemas.microsoft.com/office/drawing/2014/main" id="{56BDB7DD-B781-A577-D33B-1536647A5FAE}"/>
              </a:ext>
            </a:extLst>
          </p:cNvPr>
          <p:cNvSpPr/>
          <p:nvPr/>
        </p:nvSpPr>
        <p:spPr>
          <a:xfrm>
            <a:off x="8051800" y="5232400"/>
            <a:ext cx="3606800" cy="9398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mplate content panel">
            <a:extLst>
              <a:ext uri="{FF2B5EF4-FFF2-40B4-BE49-F238E27FC236}">
                <a16:creationId xmlns:a16="http://schemas.microsoft.com/office/drawing/2014/main" id="{3C470BFC-8404-CD91-455C-0A3A6924E0D3}"/>
              </a:ext>
            </a:extLst>
          </p:cNvPr>
          <p:cNvSpPr/>
          <p:nvPr/>
        </p:nvSpPr>
        <p:spPr>
          <a:xfrm>
            <a:off x="4254500" y="5232400"/>
            <a:ext cx="3632200" cy="9398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mplate content panel">
            <a:extLst>
              <a:ext uri="{FF2B5EF4-FFF2-40B4-BE49-F238E27FC236}">
                <a16:creationId xmlns:a16="http://schemas.microsoft.com/office/drawing/2014/main" id="{DA8D8F0A-01B2-8592-4224-D1E5997AAA19}"/>
              </a:ext>
            </a:extLst>
          </p:cNvPr>
          <p:cNvSpPr/>
          <p:nvPr/>
        </p:nvSpPr>
        <p:spPr>
          <a:xfrm>
            <a:off x="457200" y="5232400"/>
            <a:ext cx="3632200" cy="9398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mplate content panel">
            <a:extLst>
              <a:ext uri="{FF2B5EF4-FFF2-40B4-BE49-F238E27FC236}">
                <a16:creationId xmlns:a16="http://schemas.microsoft.com/office/drawing/2014/main" id="{AF3F17F9-4D48-0CA2-1C4C-3F564E0BEB6F}"/>
              </a:ext>
            </a:extLst>
          </p:cNvPr>
          <p:cNvSpPr/>
          <p:nvPr/>
        </p:nvSpPr>
        <p:spPr>
          <a:xfrm>
            <a:off x="7620000" y="1600200"/>
            <a:ext cx="4038600" cy="33782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mplate content panel">
            <a:extLst>
              <a:ext uri="{FF2B5EF4-FFF2-40B4-BE49-F238E27FC236}">
                <a16:creationId xmlns:a16="http://schemas.microsoft.com/office/drawing/2014/main" id="{4A089702-0EA7-27E0-8382-510FB15FB0E5}"/>
              </a:ext>
            </a:extLst>
          </p:cNvPr>
          <p:cNvSpPr/>
          <p:nvPr/>
        </p:nvSpPr>
        <p:spPr>
          <a:xfrm>
            <a:off x="457200" y="1600200"/>
            <a:ext cx="5486400" cy="33782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797A22-E190-FE2C-1205-BEB09AE55125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CB90FB-DB67-9155-82C8-E46C9D0BBCFE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F65F25B-511D-E813-31C7-2B1213D0B13D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6F76C2-AFE9-B1BF-E02C-94BBC68FF1E4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问题与定位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5D33B5A-3F3C-AE8A-7A03-41565B27E2C3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DF98C6-9232-1D47-F575-AFFB1495CEBE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F103736-45EB-C8FB-FA5F-2A7315CED87B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使用者与付费方分离，产品必须围绕四个核心问题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A594C3-EEAC-85C6-8646-A0AF3EFAA034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购买方关注治理成效，操作员关注每天是否真的省事、可执行。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1622DE-3045-5AD1-0528-6D17DC15E0BB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D17AE88-A4A8-A9B3-2AC8-065965EFAA07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4AFF0F-48C1-B133-6875-53E11AAF43A9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C67364-700F-8E5B-E30F-7B1E2C4B41C9}"/>
              </a:ext>
            </a:extLst>
          </p:cNvPr>
          <p:cNvSpPr/>
          <p:nvPr/>
        </p:nvSpPr>
        <p:spPr>
          <a:xfrm>
            <a:off x="558800" y="1905000"/>
            <a:ext cx="50800" cy="31242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C6AECF-485C-E00C-B158-D8ABA54AB5F6}"/>
              </a:ext>
            </a:extLst>
          </p:cNvPr>
          <p:cNvSpPr txBox="1"/>
          <p:nvPr/>
        </p:nvSpPr>
        <p:spPr>
          <a:xfrm>
            <a:off x="812800" y="1905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核心任务（</a:t>
            </a:r>
            <a:r>
              <a:rPr lang="en-US" altLang="zh-CN" sz="125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JTBD</a:t>
            </a:r>
            <a:r>
              <a:rPr lang="zh-CN" altLang="en-US" sz="125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4738E7-00D4-5D63-E39F-CE89237D4B2C}"/>
              </a:ext>
            </a:extLst>
          </p:cNvPr>
          <p:cNvSpPr txBox="1"/>
          <p:nvPr/>
        </p:nvSpPr>
        <p:spPr>
          <a:xfrm>
            <a:off x="812800" y="2311400"/>
            <a:ext cx="436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当辖区海面出现影响航道、养殖、岸线或旅游环境的漂浮垃圾时，我要在有限人力和预算下，快速确认问题、派出合适设备、跟踪执行过程，并向上级证明问题已经闭环。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9213FF-26AE-A8B4-E3FD-AF8D454DB94D}"/>
              </a:ext>
            </a:extLst>
          </p:cNvPr>
          <p:cNvSpPr txBox="1"/>
          <p:nvPr/>
        </p:nvSpPr>
        <p:spPr>
          <a:xfrm>
            <a:off x="812800" y="48133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而不是只看到一堆视频和告警。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3DC391-8389-2BC6-3B59-9C336B006FFD}"/>
              </a:ext>
            </a:extLst>
          </p:cNvPr>
          <p:cNvSpPr txBox="1"/>
          <p:nvPr/>
        </p:nvSpPr>
        <p:spPr>
          <a:xfrm>
            <a:off x="5715000" y="19050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</a:t>
            </a:r>
            <a:endParaRPr lang="zh-CN" altLang="en-US" sz="137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A2D43E-5453-B366-F040-F992DFA9B714}"/>
              </a:ext>
            </a:extLst>
          </p:cNvPr>
          <p:cNvSpPr txBox="1"/>
          <p:nvPr/>
        </p:nvSpPr>
        <p:spPr>
          <a:xfrm>
            <a:off x="6426200" y="1905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2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问题是否真实存在？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A3C25B3-D781-12E5-D4F7-0D5456D3AA7A}"/>
              </a:ext>
            </a:extLst>
          </p:cNvPr>
          <p:cNvSpPr txBox="1"/>
          <p:nvPr/>
        </p:nvSpPr>
        <p:spPr>
          <a:xfrm>
            <a:off x="6426200" y="22225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证据帧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时序确认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人工复核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AD20FBB-5C1C-B8F9-4B5B-8C887ED726C1}"/>
              </a:ext>
            </a:extLst>
          </p:cNvPr>
          <p:cNvCxnSpPr/>
          <p:nvPr/>
        </p:nvCxnSpPr>
        <p:spPr>
          <a:xfrm>
            <a:off x="5715000" y="2578100"/>
            <a:ext cx="59182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DE91682-691E-379C-3793-16787D0E1A53}"/>
              </a:ext>
            </a:extLst>
          </p:cNvPr>
          <p:cNvSpPr txBox="1"/>
          <p:nvPr/>
        </p:nvSpPr>
        <p:spPr>
          <a:xfrm>
            <a:off x="5715000" y="269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</a:t>
            </a:r>
            <a:endParaRPr lang="zh-CN" altLang="en-US" sz="137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23AD94-5AFD-37DC-288E-0220B7F33DCE}"/>
              </a:ext>
            </a:extLst>
          </p:cNvPr>
          <p:cNvSpPr txBox="1"/>
          <p:nvPr/>
        </p:nvSpPr>
        <p:spPr>
          <a:xfrm>
            <a:off x="6426200" y="2692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2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应该派谁、何时去？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62E6EF-D66B-FE2D-55F4-5E19C9DCD96D}"/>
              </a:ext>
            </a:extLst>
          </p:cNvPr>
          <p:cNvSpPr txBox="1"/>
          <p:nvPr/>
        </p:nvSpPr>
        <p:spPr>
          <a:xfrm>
            <a:off x="6426200" y="3009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空间就近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电量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仓容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在线状态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A5086A3-5538-A6C9-DE99-757AC550C9E5}"/>
              </a:ext>
            </a:extLst>
          </p:cNvPr>
          <p:cNvCxnSpPr/>
          <p:nvPr/>
        </p:nvCxnSpPr>
        <p:spPr>
          <a:xfrm>
            <a:off x="5715000" y="3365500"/>
            <a:ext cx="59182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D2D7C08-B995-C8E5-B404-AFF8C4875A54}"/>
              </a:ext>
            </a:extLst>
          </p:cNvPr>
          <p:cNvSpPr txBox="1"/>
          <p:nvPr/>
        </p:nvSpPr>
        <p:spPr>
          <a:xfrm>
            <a:off x="5715000" y="34798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</a:t>
            </a:r>
            <a:endParaRPr lang="zh-CN" altLang="en-US" sz="137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0C4E6EE-09BD-E4C5-A31A-B46757451D47}"/>
              </a:ext>
            </a:extLst>
          </p:cNvPr>
          <p:cNvSpPr txBox="1"/>
          <p:nvPr/>
        </p:nvSpPr>
        <p:spPr>
          <a:xfrm>
            <a:off x="6426200" y="3479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2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执行是否顺利？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014C7A-1C32-E552-627F-DB309BB1B302}"/>
              </a:ext>
            </a:extLst>
          </p:cNvPr>
          <p:cNvSpPr txBox="1"/>
          <p:nvPr/>
        </p:nvSpPr>
        <p:spPr>
          <a:xfrm>
            <a:off x="6426200" y="3797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ACK 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进度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超时换车重派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591197E-7443-2E74-A7B0-9D9FADFF1578}"/>
              </a:ext>
            </a:extLst>
          </p:cNvPr>
          <p:cNvCxnSpPr/>
          <p:nvPr/>
        </p:nvCxnSpPr>
        <p:spPr>
          <a:xfrm>
            <a:off x="5715000" y="4152900"/>
            <a:ext cx="59182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7A4E8B9-844B-1F30-A18D-5627FD55BFC2}"/>
              </a:ext>
            </a:extLst>
          </p:cNvPr>
          <p:cNvSpPr txBox="1"/>
          <p:nvPr/>
        </p:nvSpPr>
        <p:spPr>
          <a:xfrm>
            <a:off x="5715000" y="42672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</a:t>
            </a:r>
            <a:endParaRPr lang="zh-CN" altLang="en-US" sz="137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8D0F51C-DC21-0BE2-2F38-38A6340B7E0E}"/>
              </a:ext>
            </a:extLst>
          </p:cNvPr>
          <p:cNvSpPr txBox="1"/>
          <p:nvPr/>
        </p:nvSpPr>
        <p:spPr>
          <a:xfrm>
            <a:off x="6426200" y="4267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2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最终清理了什么？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3CAD59-9E37-3D6D-9490-A550BCD34864}"/>
              </a:ext>
            </a:extLst>
          </p:cNvPr>
          <p:cNvSpPr txBox="1"/>
          <p:nvPr/>
        </p:nvSpPr>
        <p:spPr>
          <a:xfrm>
            <a:off x="6426200" y="45847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前后影像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重量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证据归档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报表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2ED59AE-C40A-0A0F-BE49-AEEE754FF302}"/>
              </a:ext>
            </a:extLst>
          </p:cNvPr>
          <p:cNvCxnSpPr/>
          <p:nvPr/>
        </p:nvCxnSpPr>
        <p:spPr>
          <a:xfrm>
            <a:off x="5715000" y="4940300"/>
            <a:ext cx="59182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38BE0E5F-60F5-FCE5-75BC-A4F91AFAD13B}"/>
              </a:ext>
            </a:extLst>
          </p:cNvPr>
          <p:cNvSpPr txBox="1"/>
          <p:nvPr/>
        </p:nvSpPr>
        <p:spPr>
          <a:xfrm>
            <a:off x="558800" y="54864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购买方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9E4C3FD-63D5-0D3D-CB0E-5D90365C4AE7}"/>
              </a:ext>
            </a:extLst>
          </p:cNvPr>
          <p:cNvSpPr txBox="1"/>
          <p:nvPr/>
        </p:nvSpPr>
        <p:spPr>
          <a:xfrm>
            <a:off x="558800" y="5740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县级主管部门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乡镇政府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6FD12F5-6FC0-584F-5049-29839EACF5F7}"/>
              </a:ext>
            </a:extLst>
          </p:cNvPr>
          <p:cNvSpPr txBox="1"/>
          <p:nvPr/>
        </p:nvSpPr>
        <p:spPr>
          <a:xfrm>
            <a:off x="4368800" y="54864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高频使用者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AC6E241-9C21-2DF2-27DF-FE74B6C8908E}"/>
              </a:ext>
            </a:extLst>
          </p:cNvPr>
          <p:cNvSpPr txBox="1"/>
          <p:nvPr/>
        </p:nvSpPr>
        <p:spPr>
          <a:xfrm>
            <a:off x="4368800" y="5740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乡镇操作员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海上环卫队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A87E99F-E051-8AE2-05E1-569CA1D5E118}"/>
              </a:ext>
            </a:extLst>
          </p:cNvPr>
          <p:cNvSpPr txBox="1"/>
          <p:nvPr/>
        </p:nvSpPr>
        <p:spPr>
          <a:xfrm>
            <a:off x="8166100" y="5486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协作方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DC9AE50-2945-565A-F698-03130157B2DE}"/>
              </a:ext>
            </a:extLst>
          </p:cNvPr>
          <p:cNvSpPr txBox="1"/>
          <p:nvPr/>
        </p:nvSpPr>
        <p:spPr>
          <a:xfrm>
            <a:off x="8166100" y="5740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养殖户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渔民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平台管理员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469F4C5-FC92-2F9F-E22D-DF8D2AB57FAB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05F7AAC-07B4-8F8E-392B-B90136E3E3FF}"/>
              </a:ext>
            </a:extLst>
          </p:cNvPr>
          <p:cNvCxnSpPr/>
          <p:nvPr/>
        </p:nvCxnSpPr>
        <p:spPr>
          <a:xfrm>
            <a:off x="77978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9C53AE3-5269-6C07-D681-A74686068CA6}"/>
              </a:ext>
            </a:extLst>
          </p:cNvPr>
          <p:cNvCxnSpPr/>
          <p:nvPr/>
        </p:nvCxnSpPr>
        <p:spPr>
          <a:xfrm>
            <a:off x="635000" y="52451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CB1B145-0029-FEA8-0B97-066A78007CF7}"/>
              </a:ext>
            </a:extLst>
          </p:cNvPr>
          <p:cNvCxnSpPr/>
          <p:nvPr/>
        </p:nvCxnSpPr>
        <p:spPr>
          <a:xfrm>
            <a:off x="4432300" y="52451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D4EDFA7-A954-A35D-3AC7-E906BBEBFBEC}"/>
              </a:ext>
            </a:extLst>
          </p:cNvPr>
          <p:cNvCxnSpPr/>
          <p:nvPr/>
        </p:nvCxnSpPr>
        <p:spPr>
          <a:xfrm>
            <a:off x="8229600" y="5245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07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Canvas background">
            <a:extLst>
              <a:ext uri="{FF2B5EF4-FFF2-40B4-BE49-F238E27FC236}">
                <a16:creationId xmlns:a16="http://schemas.microsoft.com/office/drawing/2014/main" id="{5ED68E8B-6A15-E142-7BEF-5220CE47E9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" name="Template content panel">
            <a:extLst>
              <a:ext uri="{FF2B5EF4-FFF2-40B4-BE49-F238E27FC236}">
                <a16:creationId xmlns:a16="http://schemas.microsoft.com/office/drawing/2014/main" id="{FD515280-9A89-1F00-B627-ED77843973FC}"/>
              </a:ext>
            </a:extLst>
          </p:cNvPr>
          <p:cNvSpPr/>
          <p:nvPr/>
        </p:nvSpPr>
        <p:spPr>
          <a:xfrm>
            <a:off x="4876800" y="1600200"/>
            <a:ext cx="6807200" cy="4038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mplate content panel">
            <a:extLst>
              <a:ext uri="{FF2B5EF4-FFF2-40B4-BE49-F238E27FC236}">
                <a16:creationId xmlns:a16="http://schemas.microsoft.com/office/drawing/2014/main" id="{654D7BB3-0959-728F-2BDB-34022EB9A31C}"/>
              </a:ext>
            </a:extLst>
          </p:cNvPr>
          <p:cNvSpPr/>
          <p:nvPr/>
        </p:nvSpPr>
        <p:spPr>
          <a:xfrm>
            <a:off x="457200" y="1600200"/>
            <a:ext cx="4191000" cy="42418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925F1C-78F0-99C3-D28A-5A43A3287E84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EE2B64-1E9D-A9EC-DF04-F089C226B834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EE6A193-D35B-D605-1378-4AF58E741664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84D06E-F5F6-E0BD-95F5-19A00550AB4D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产品与架构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720136A-5D8C-CA71-D277-FFF386B50A94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A628B00-8261-1C16-FE14-E3E3B0DBB2EA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6394D23-52D3-7C6D-264A-D7069429B2E5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海陆空共用一张任务与证据底图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112874-2817-B6B8-A35C-63E1EF83C604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设备按场景替换，平台统一目标、状态、审批与证据。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54F54AD-DD7A-7C8E-57B7-D440B51FE1FC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E5205AD-7497-B79B-A02F-A441AD41850A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AEF601-6522-496D-3536-00363E7DED1D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05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1083BC-4265-8B01-A1BF-3D6460C35A43}"/>
              </a:ext>
            </a:extLst>
          </p:cNvPr>
          <p:cNvSpPr/>
          <p:nvPr/>
        </p:nvSpPr>
        <p:spPr>
          <a:xfrm>
            <a:off x="558800" y="1828800"/>
            <a:ext cx="2286000" cy="3873500"/>
          </a:xfrm>
          <a:prstGeom prst="rect">
            <a:avLst/>
          </a:prstGeom>
          <a:solidFill>
            <a:srgbClr val="EBF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BD1A97D-7CC8-F490-032E-088D256EE02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2917984"/>
            <a:ext cx="2133600" cy="119983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6972F89-3E85-CB33-9046-10F5B1F1EA21}"/>
              </a:ext>
            </a:extLst>
          </p:cNvPr>
          <p:cNvSpPr txBox="1"/>
          <p:nvPr/>
        </p:nvSpPr>
        <p:spPr>
          <a:xfrm>
            <a:off x="711200" y="52070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平台界面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9252CD-A067-2E3E-33B1-14A0D73E3DFE}"/>
              </a:ext>
            </a:extLst>
          </p:cNvPr>
          <p:cNvSpPr txBox="1"/>
          <p:nvPr/>
        </p:nvSpPr>
        <p:spPr>
          <a:xfrm>
            <a:off x="711200" y="54737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任务、审批、工单与回放统一留痕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60B267-F8D7-B241-AA7C-D69919B0B013}"/>
              </a:ext>
            </a:extLst>
          </p:cNvPr>
          <p:cNvSpPr txBox="1"/>
          <p:nvPr/>
        </p:nvSpPr>
        <p:spPr>
          <a:xfrm>
            <a:off x="3149600" y="18415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载体 </a:t>
            </a:r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设备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AFAA98-1723-4110-94C0-87990C3D737A}"/>
              </a:ext>
            </a:extLst>
          </p:cNvPr>
          <p:cNvSpPr txBox="1"/>
          <p:nvPr/>
        </p:nvSpPr>
        <p:spPr>
          <a:xfrm>
            <a:off x="4648200" y="1841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适用场景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EDA1C1-612F-2FCA-0A80-4ED9FFB16222}"/>
              </a:ext>
            </a:extLst>
          </p:cNvPr>
          <p:cNvSpPr txBox="1"/>
          <p:nvPr/>
        </p:nvSpPr>
        <p:spPr>
          <a:xfrm>
            <a:off x="6400800" y="18415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作业形态与已验证方案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0C321E-FE04-033A-6CE9-7D117F290ECE}"/>
              </a:ext>
            </a:extLst>
          </p:cNvPr>
          <p:cNvSpPr txBox="1"/>
          <p:nvPr/>
        </p:nvSpPr>
        <p:spPr>
          <a:xfrm>
            <a:off x="9906000" y="18415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明确边界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ED54FB3-89D6-1FA1-A386-D418233FA8C1}"/>
              </a:ext>
            </a:extLst>
          </p:cNvPr>
          <p:cNvCxnSpPr/>
          <p:nvPr/>
        </p:nvCxnSpPr>
        <p:spPr>
          <a:xfrm>
            <a:off x="3149600" y="2159000"/>
            <a:ext cx="8483600" cy="0"/>
          </a:xfrm>
          <a:prstGeom prst="line">
            <a:avLst/>
          </a:prstGeom>
          <a:ln w="12700">
            <a:solidFill>
              <a:srgbClr val="091B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948EB4A-1E75-84E0-7597-267BE3C007EB}"/>
              </a:ext>
            </a:extLst>
          </p:cNvPr>
          <p:cNvSpPr/>
          <p:nvPr/>
        </p:nvSpPr>
        <p:spPr>
          <a:xfrm>
            <a:off x="3149600" y="2387600"/>
            <a:ext cx="63500" cy="5588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EA03C60-6A62-BBFE-AF17-21F20F5FAFA8}"/>
              </a:ext>
            </a:extLst>
          </p:cNvPr>
          <p:cNvSpPr txBox="1"/>
          <p:nvPr/>
        </p:nvSpPr>
        <p:spPr>
          <a:xfrm>
            <a:off x="3352800" y="2311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无人船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77008DF-7387-8BED-4E40-052FAE699ECD}"/>
              </a:ext>
            </a:extLst>
          </p:cNvPr>
          <p:cNvSpPr txBox="1"/>
          <p:nvPr/>
        </p:nvSpPr>
        <p:spPr>
          <a:xfrm>
            <a:off x="4648200" y="23241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水面与养殖区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BCA3EE0-742C-BE68-2D98-0F18B5F10DA8}"/>
              </a:ext>
            </a:extLst>
          </p:cNvPr>
          <p:cNvSpPr txBox="1"/>
          <p:nvPr/>
        </p:nvSpPr>
        <p:spPr>
          <a:xfrm>
            <a:off x="6400800" y="23241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机械臂夹取、料斗收纳、带载返航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0853D0-5729-B5B1-7D13-361A55519FA1}"/>
              </a:ext>
            </a:extLst>
          </p:cNvPr>
          <p:cNvSpPr txBox="1"/>
          <p:nvPr/>
        </p:nvSpPr>
        <p:spPr>
          <a:xfrm>
            <a:off x="9906000" y="23241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保持距离，避免螺旋桨缠绕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AC25F33-0E40-552F-9716-EA1D5719739A}"/>
              </a:ext>
            </a:extLst>
          </p:cNvPr>
          <p:cNvCxnSpPr/>
          <p:nvPr/>
        </p:nvCxnSpPr>
        <p:spPr>
          <a:xfrm>
            <a:off x="3149600" y="3048000"/>
            <a:ext cx="8483600" cy="0"/>
          </a:xfrm>
          <a:prstGeom prst="line">
            <a:avLst/>
          </a:prstGeom>
          <a:ln w="6985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1D16648E-A3C6-6D42-BEAD-5F7ED7DC8051}"/>
              </a:ext>
            </a:extLst>
          </p:cNvPr>
          <p:cNvSpPr/>
          <p:nvPr/>
        </p:nvSpPr>
        <p:spPr>
          <a:xfrm>
            <a:off x="3149600" y="3251200"/>
            <a:ext cx="63500" cy="5588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B146CC5-6C50-FD3F-C568-B488CC4438FB}"/>
              </a:ext>
            </a:extLst>
          </p:cNvPr>
          <p:cNvSpPr txBox="1"/>
          <p:nvPr/>
        </p:nvSpPr>
        <p:spPr>
          <a:xfrm>
            <a:off x="3352800" y="3175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六旋翼无人机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EE6E9B4-1D16-BAE5-2E82-4448F0A68D12}"/>
              </a:ext>
            </a:extLst>
          </p:cNvPr>
          <p:cNvSpPr txBox="1"/>
          <p:nvPr/>
        </p:nvSpPr>
        <p:spPr>
          <a:xfrm>
            <a:off x="4648200" y="31877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岸基盲区巡检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729BD0F-47B7-ABE9-E2BF-23164D31D5A9}"/>
              </a:ext>
            </a:extLst>
          </p:cNvPr>
          <p:cNvSpPr txBox="1"/>
          <p:nvPr/>
        </p:nvSpPr>
        <p:spPr>
          <a:xfrm>
            <a:off x="6400800" y="31877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广域巡查、目标定位、事件回传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B0C1C0A-FAA6-C9F7-47B4-4C9E028A084A}"/>
              </a:ext>
            </a:extLst>
          </p:cNvPr>
          <p:cNvSpPr txBox="1"/>
          <p:nvPr/>
        </p:nvSpPr>
        <p:spPr>
          <a:xfrm>
            <a:off x="9906000" y="31877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不宣称直接空中拾取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E92BBB2-A500-6F8C-887A-3E6EA6FD2958}"/>
              </a:ext>
            </a:extLst>
          </p:cNvPr>
          <p:cNvCxnSpPr/>
          <p:nvPr/>
        </p:nvCxnSpPr>
        <p:spPr>
          <a:xfrm>
            <a:off x="3149600" y="3911600"/>
            <a:ext cx="8483600" cy="0"/>
          </a:xfrm>
          <a:prstGeom prst="line">
            <a:avLst/>
          </a:prstGeom>
          <a:ln w="6985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4C592356-A5FD-7B3D-3C7B-272CEBAC4ECB}"/>
              </a:ext>
            </a:extLst>
          </p:cNvPr>
          <p:cNvSpPr/>
          <p:nvPr/>
        </p:nvSpPr>
        <p:spPr>
          <a:xfrm>
            <a:off x="3149600" y="4114800"/>
            <a:ext cx="63500" cy="5588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9AEA3C1-BEEE-6AE4-901F-B84CB381B2DE}"/>
              </a:ext>
            </a:extLst>
          </p:cNvPr>
          <p:cNvSpPr txBox="1"/>
          <p:nvPr/>
        </p:nvSpPr>
        <p:spPr>
          <a:xfrm>
            <a:off x="3352800" y="4038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沙滩无人车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C01531D-066D-13CB-AB1F-1C079BF60C53}"/>
              </a:ext>
            </a:extLst>
          </p:cNvPr>
          <p:cNvSpPr txBox="1"/>
          <p:nvPr/>
        </p:nvSpPr>
        <p:spPr>
          <a:xfrm>
            <a:off x="4648200" y="40513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可通行岸滩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E9816E5-32D9-EDC8-943A-E52B60B22729}"/>
              </a:ext>
            </a:extLst>
          </p:cNvPr>
          <p:cNvSpPr txBox="1"/>
          <p:nvPr/>
        </p:nvSpPr>
        <p:spPr>
          <a:xfrm>
            <a:off x="6400800" y="40513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履带底盘、前置机械臂、后置料斗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C6D27E-D4B8-82A5-36E5-BCC5A21A48D7}"/>
              </a:ext>
            </a:extLst>
          </p:cNvPr>
          <p:cNvSpPr txBox="1"/>
          <p:nvPr/>
        </p:nvSpPr>
        <p:spPr>
          <a:xfrm>
            <a:off x="9906000" y="40513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不进入陡坡和湿滑礁石区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6256CB7-18F3-963F-4CD2-9421CC131AE4}"/>
              </a:ext>
            </a:extLst>
          </p:cNvPr>
          <p:cNvCxnSpPr/>
          <p:nvPr/>
        </p:nvCxnSpPr>
        <p:spPr>
          <a:xfrm>
            <a:off x="3149600" y="4775200"/>
            <a:ext cx="8483600" cy="0"/>
          </a:xfrm>
          <a:prstGeom prst="line">
            <a:avLst/>
          </a:prstGeom>
          <a:ln w="6985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87B57053-18A5-044B-B781-EC5F3FB696E1}"/>
              </a:ext>
            </a:extLst>
          </p:cNvPr>
          <p:cNvSpPr/>
          <p:nvPr/>
        </p:nvSpPr>
        <p:spPr>
          <a:xfrm>
            <a:off x="3149600" y="4978400"/>
            <a:ext cx="63500" cy="558800"/>
          </a:xfrm>
          <a:prstGeom prst="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CA6A672-20D1-0725-97FD-A28BC46296B4}"/>
              </a:ext>
            </a:extLst>
          </p:cNvPr>
          <p:cNvSpPr txBox="1"/>
          <p:nvPr/>
        </p:nvSpPr>
        <p:spPr>
          <a:xfrm>
            <a:off x="3352800" y="49022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6AC4FBB-1A7D-A865-515C-D9EA45C3DAE1}"/>
              </a:ext>
            </a:extLst>
          </p:cNvPr>
          <p:cNvSpPr txBox="1"/>
          <p:nvPr/>
        </p:nvSpPr>
        <p:spPr>
          <a:xfrm>
            <a:off x="4648200" y="49149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跨载体调度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C8C911-BAEC-997C-6B52-FC9D54C0CCA6}"/>
              </a:ext>
            </a:extLst>
          </p:cNvPr>
          <p:cNvSpPr txBox="1"/>
          <p:nvPr/>
        </p:nvSpPr>
        <p:spPr>
          <a:xfrm>
            <a:off x="6400800" y="49149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事件、审批、工单、回放与报表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573BDAA-C8F3-98FF-4FE4-9704969A9CD4}"/>
              </a:ext>
            </a:extLst>
          </p:cNvPr>
          <p:cNvSpPr txBox="1"/>
          <p:nvPr/>
        </p:nvSpPr>
        <p:spPr>
          <a:xfrm>
            <a:off x="9906000" y="49149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按单场景渐进交付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0395765-2FD0-0094-DF2E-E49CA9269F28}"/>
              </a:ext>
            </a:extLst>
          </p:cNvPr>
          <p:cNvCxnSpPr/>
          <p:nvPr/>
        </p:nvCxnSpPr>
        <p:spPr>
          <a:xfrm>
            <a:off x="3149600" y="5638800"/>
            <a:ext cx="8483600" cy="0"/>
          </a:xfrm>
          <a:prstGeom prst="line">
            <a:avLst/>
          </a:prstGeom>
          <a:ln w="6985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243CF241-B097-85A8-6584-2DB14A838FEF}"/>
              </a:ext>
            </a:extLst>
          </p:cNvPr>
          <p:cNvSpPr/>
          <p:nvPr/>
        </p:nvSpPr>
        <p:spPr>
          <a:xfrm>
            <a:off x="558800" y="5892800"/>
            <a:ext cx="11074400" cy="431800"/>
          </a:xfrm>
          <a:prstGeom prst="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AB83258-9AD3-E89C-1175-1C7694CE5406}"/>
              </a:ext>
            </a:extLst>
          </p:cNvPr>
          <p:cNvSpPr txBox="1"/>
          <p:nvPr/>
        </p:nvSpPr>
        <p:spPr>
          <a:xfrm>
            <a:off x="762000" y="5930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部署原则：任一单场景可独立交付；二次接入复用同一套任务、审批与证据契约。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3A56548A-AF97-C128-FA03-BC32BE06CBD7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513F428-D7CA-A808-AC8D-C0D15BD0EFBD}"/>
              </a:ext>
            </a:extLst>
          </p:cNvPr>
          <p:cNvCxnSpPr/>
          <p:nvPr/>
        </p:nvCxnSpPr>
        <p:spPr>
          <a:xfrm>
            <a:off x="50546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89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Canvas background">
            <a:extLst>
              <a:ext uri="{FF2B5EF4-FFF2-40B4-BE49-F238E27FC236}">
                <a16:creationId xmlns:a16="http://schemas.microsoft.com/office/drawing/2014/main" id="{213B6525-37C6-8F91-27D2-40D5A044CE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Template content panel">
            <a:extLst>
              <a:ext uri="{FF2B5EF4-FFF2-40B4-BE49-F238E27FC236}">
                <a16:creationId xmlns:a16="http://schemas.microsoft.com/office/drawing/2014/main" id="{A03E1A65-709B-21AD-6266-04DDE77D6AAF}"/>
              </a:ext>
            </a:extLst>
          </p:cNvPr>
          <p:cNvSpPr/>
          <p:nvPr/>
        </p:nvSpPr>
        <p:spPr>
          <a:xfrm>
            <a:off x="457200" y="1600200"/>
            <a:ext cx="11252200" cy="48133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C2EACC-8F04-860A-84BB-3F12105DFF61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D42E3C-174A-919B-EE94-DEE5433B0DD6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95DAA03-A5B2-8D3C-F18D-C74230F60B50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F68D27-99DA-E72F-1E85-68EF3CECF179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产品与架构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E59EC57-0CE7-4036-F584-0D9E9FC12CC3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5942D5-CB5E-B119-3F5A-2E13EAA5999C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A1F19D0-77DE-1666-571D-25AB6367FBED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五层架构：每一层职责单一，失败姿态明确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EE6BD6-2498-4F5B-EDC5-C12828A7139B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数据向上流转，证据向下沉淀；任何降级状态都对外可见。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A99CC60-2123-2E98-ED67-BD84BC966A6E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E919BF9-8CB3-5A6F-B141-145C61EECE1F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68524F-AF00-F5D4-7EB8-0EDFEFFC3D7A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06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220A85-0587-730E-019C-545ED37B0F45}"/>
              </a:ext>
            </a:extLst>
          </p:cNvPr>
          <p:cNvSpPr/>
          <p:nvPr/>
        </p:nvSpPr>
        <p:spPr>
          <a:xfrm>
            <a:off x="558800" y="1841500"/>
            <a:ext cx="1168400" cy="6604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CDE0DF-5A31-7D77-1C20-94A421BFBDD4}"/>
              </a:ext>
            </a:extLst>
          </p:cNvPr>
          <p:cNvSpPr/>
          <p:nvPr/>
        </p:nvSpPr>
        <p:spPr>
          <a:xfrm>
            <a:off x="1727200" y="1841500"/>
            <a:ext cx="9474200" cy="660400"/>
          </a:xfrm>
          <a:prstGeom prst="rect">
            <a:avLst/>
          </a:prstGeom>
          <a:solidFill>
            <a:srgbClr val="F8F8F4"/>
          </a:solidFill>
          <a:ln w="7620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D85146-0B6D-A1E1-FD8F-B3E96872EE95}"/>
              </a:ext>
            </a:extLst>
          </p:cNvPr>
          <p:cNvSpPr txBox="1"/>
          <p:nvPr/>
        </p:nvSpPr>
        <p:spPr>
          <a:xfrm>
            <a:off x="685800" y="18415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感知层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F0FE0F-74C6-E819-43A9-81698E6B356E}"/>
              </a:ext>
            </a:extLst>
          </p:cNvPr>
          <p:cNvSpPr txBox="1"/>
          <p:nvPr/>
        </p:nvSpPr>
        <p:spPr>
          <a:xfrm>
            <a:off x="1981200" y="1841500"/>
            <a:ext cx="899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岸基摄像头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无人机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人工上报 → 独立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HTTP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推理服务（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OpenCV / ONNX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多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provider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22D773-4C9A-F4E9-642F-9021A79D25D3}"/>
              </a:ext>
            </a:extLst>
          </p:cNvPr>
          <p:cNvSpPr/>
          <p:nvPr/>
        </p:nvSpPr>
        <p:spPr>
          <a:xfrm>
            <a:off x="558800" y="2628900"/>
            <a:ext cx="1168400" cy="6604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6924D1-E326-F04F-0CD8-9EA72FB6C7A7}"/>
              </a:ext>
            </a:extLst>
          </p:cNvPr>
          <p:cNvSpPr/>
          <p:nvPr/>
        </p:nvSpPr>
        <p:spPr>
          <a:xfrm>
            <a:off x="1727200" y="2628900"/>
            <a:ext cx="9474200" cy="660400"/>
          </a:xfrm>
          <a:prstGeom prst="rect">
            <a:avLst/>
          </a:prstGeom>
          <a:solidFill>
            <a:srgbClr val="F8F8F4"/>
          </a:solidFill>
          <a:ln w="7620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522E80-268D-4E15-BCC4-18919A254996}"/>
              </a:ext>
            </a:extLst>
          </p:cNvPr>
          <p:cNvSpPr txBox="1"/>
          <p:nvPr/>
        </p:nvSpPr>
        <p:spPr>
          <a:xfrm>
            <a:off x="685800" y="26289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事件层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E4972F-C1B5-03C8-1A40-5021122C0EDF}"/>
              </a:ext>
            </a:extLst>
          </p:cNvPr>
          <p:cNvSpPr txBox="1"/>
          <p:nvPr/>
        </p:nvSpPr>
        <p:spPr>
          <a:xfrm>
            <a:off x="1981200" y="2628900"/>
            <a:ext cx="899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Schema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校验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双重幂等去重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时序验证（跟踪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连续命中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冷却窗口）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DF6798-C5E0-5CF7-9E60-CB84C28E388C}"/>
              </a:ext>
            </a:extLst>
          </p:cNvPr>
          <p:cNvSpPr/>
          <p:nvPr/>
        </p:nvSpPr>
        <p:spPr>
          <a:xfrm>
            <a:off x="558800" y="3416300"/>
            <a:ext cx="1168400" cy="6604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E6A54A-3034-882A-6AA5-961BFA70CA92}"/>
              </a:ext>
            </a:extLst>
          </p:cNvPr>
          <p:cNvSpPr/>
          <p:nvPr/>
        </p:nvSpPr>
        <p:spPr>
          <a:xfrm>
            <a:off x="1727200" y="3416300"/>
            <a:ext cx="9474200" cy="660400"/>
          </a:xfrm>
          <a:prstGeom prst="rect">
            <a:avLst/>
          </a:prstGeom>
          <a:solidFill>
            <a:srgbClr val="F8F8F4"/>
          </a:solidFill>
          <a:ln w="7620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BBEC6A-9F27-06CD-FDF1-4E1236DF10D1}"/>
              </a:ext>
            </a:extLst>
          </p:cNvPr>
          <p:cNvSpPr txBox="1"/>
          <p:nvPr/>
        </p:nvSpPr>
        <p:spPr>
          <a:xfrm>
            <a:off x="685800" y="34163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决策层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514939F-B42E-9A1E-B772-14BBD11701C1}"/>
              </a:ext>
            </a:extLst>
          </p:cNvPr>
          <p:cNvSpPr txBox="1"/>
          <p:nvPr/>
        </p:nvSpPr>
        <p:spPr>
          <a:xfrm>
            <a:off x="1981200" y="3416300"/>
            <a:ext cx="899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治理智能体内核：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Run → Planner → Policy → Approval → Tool → Observer → Verifier</a:t>
            </a:r>
            <a:endParaRPr lang="zh-CN" altLang="en-US" sz="1200">
              <a:solidFill>
                <a:srgbClr val="1B2730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C5FA869-75AE-99FA-F4B0-AA23D4629743}"/>
              </a:ext>
            </a:extLst>
          </p:cNvPr>
          <p:cNvSpPr/>
          <p:nvPr/>
        </p:nvSpPr>
        <p:spPr>
          <a:xfrm>
            <a:off x="558800" y="4203700"/>
            <a:ext cx="1168400" cy="6604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CEDF0FF-75DF-4601-50C2-90D0E7923B64}"/>
              </a:ext>
            </a:extLst>
          </p:cNvPr>
          <p:cNvSpPr/>
          <p:nvPr/>
        </p:nvSpPr>
        <p:spPr>
          <a:xfrm>
            <a:off x="1727200" y="4203700"/>
            <a:ext cx="9474200" cy="660400"/>
          </a:xfrm>
          <a:prstGeom prst="rect">
            <a:avLst/>
          </a:prstGeom>
          <a:solidFill>
            <a:srgbClr val="F8F8F4"/>
          </a:solidFill>
          <a:ln w="7620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89FA93-634D-9D97-12A4-CFAB3DB42CAB}"/>
              </a:ext>
            </a:extLst>
          </p:cNvPr>
          <p:cNvSpPr txBox="1"/>
          <p:nvPr/>
        </p:nvSpPr>
        <p:spPr>
          <a:xfrm>
            <a:off x="685800" y="42037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执行层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2C3896-E644-8A07-1F95-6DC0B0B782CC}"/>
              </a:ext>
            </a:extLst>
          </p:cNvPr>
          <p:cNvSpPr txBox="1"/>
          <p:nvPr/>
        </p:nvSpPr>
        <p:spPr>
          <a:xfrm>
            <a:off x="1981200" y="4203700"/>
            <a:ext cx="899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任务状态机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MQTT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下发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ACK 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进度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遥测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可插拔执行端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2686B86-8BD6-F80C-3EF1-0EB6329659A7}"/>
              </a:ext>
            </a:extLst>
          </p:cNvPr>
          <p:cNvSpPr/>
          <p:nvPr/>
        </p:nvSpPr>
        <p:spPr>
          <a:xfrm>
            <a:off x="558800" y="4991100"/>
            <a:ext cx="1168400" cy="6604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2BBE36C-D553-9CA2-6867-D84367129F51}"/>
              </a:ext>
            </a:extLst>
          </p:cNvPr>
          <p:cNvSpPr/>
          <p:nvPr/>
        </p:nvSpPr>
        <p:spPr>
          <a:xfrm>
            <a:off x="1727200" y="4991100"/>
            <a:ext cx="9474200" cy="660400"/>
          </a:xfrm>
          <a:prstGeom prst="rect">
            <a:avLst/>
          </a:prstGeom>
          <a:solidFill>
            <a:srgbClr val="F8F8F4"/>
          </a:solidFill>
          <a:ln w="7620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8A66C8F-D142-8868-7E1C-B1752F483671}"/>
              </a:ext>
            </a:extLst>
          </p:cNvPr>
          <p:cNvSpPr txBox="1"/>
          <p:nvPr/>
        </p:nvSpPr>
        <p:spPr>
          <a:xfrm>
            <a:off x="685800" y="49911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核算层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CC976D-A96E-E1C8-A05F-B7D8DD99D59B}"/>
              </a:ext>
            </a:extLst>
          </p:cNvPr>
          <p:cNvSpPr txBox="1"/>
          <p:nvPr/>
        </p:nvSpPr>
        <p:spPr>
          <a:xfrm>
            <a:off x="1981200" y="4991100"/>
            <a:ext cx="899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证据归档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日报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月报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治理热力图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单位成本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审计日志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6131F31-3A5B-8F29-DC6E-05F638BB8471}"/>
              </a:ext>
            </a:extLst>
          </p:cNvPr>
          <p:cNvSpPr/>
          <p:nvPr/>
        </p:nvSpPr>
        <p:spPr>
          <a:xfrm>
            <a:off x="11379200" y="1841500"/>
            <a:ext cx="254000" cy="3632200"/>
          </a:xfrm>
          <a:prstGeom prst="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69BEED-ED99-8994-31D9-741AFF0EFE7C}"/>
              </a:ext>
            </a:extLst>
          </p:cNvPr>
          <p:cNvSpPr txBox="1"/>
          <p:nvPr/>
        </p:nvSpPr>
        <p:spPr>
          <a:xfrm>
            <a:off x="11379200" y="23368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603D936-02A2-2B6B-F7B0-F111C668B086}"/>
              </a:ext>
            </a:extLst>
          </p:cNvPr>
          <p:cNvSpPr txBox="1"/>
          <p:nvPr/>
        </p:nvSpPr>
        <p:spPr>
          <a:xfrm>
            <a:off x="11379200" y="28702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据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48EDC0E-1585-9FF0-6F26-96F1F7ECF740}"/>
              </a:ext>
            </a:extLst>
          </p:cNvPr>
          <p:cNvSpPr txBox="1"/>
          <p:nvPr/>
        </p:nvSpPr>
        <p:spPr>
          <a:xfrm>
            <a:off x="11379200" y="34036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向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973B61A-7074-516F-CDAB-D8DA536851D5}"/>
              </a:ext>
            </a:extLst>
          </p:cNvPr>
          <p:cNvSpPr txBox="1"/>
          <p:nvPr/>
        </p:nvSpPr>
        <p:spPr>
          <a:xfrm>
            <a:off x="11379200" y="39370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上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550D3AE-2BB8-00FB-71AE-725D485FB4E5}"/>
              </a:ext>
            </a:extLst>
          </p:cNvPr>
          <p:cNvCxnSpPr/>
          <p:nvPr/>
        </p:nvCxnSpPr>
        <p:spPr>
          <a:xfrm>
            <a:off x="558800" y="58420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BEE501D7-627B-D36D-C9E2-07875BA29C39}"/>
              </a:ext>
            </a:extLst>
          </p:cNvPr>
          <p:cNvSpPr txBox="1"/>
          <p:nvPr/>
        </p:nvSpPr>
        <p:spPr>
          <a:xfrm>
            <a:off x="558800" y="60198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技术选型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248B6F0-08FB-4C98-0863-16F2CBBAC81C}"/>
              </a:ext>
            </a:extLst>
          </p:cNvPr>
          <p:cNvSpPr txBox="1"/>
          <p:nvPr/>
        </p:nvSpPr>
        <p:spPr>
          <a:xfrm>
            <a:off x="1574800" y="5994400"/>
            <a:ext cx="901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FastAPI · PostgreSQL + PostGIS · Redis Streams · EMQX MQTT · MinIO · ONNX Runtime · Vue 3</a:t>
            </a:r>
            <a:endParaRPr lang="zh-CN" altLang="en-US" sz="1200">
              <a:solidFill>
                <a:srgbClr val="1B2730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A27AB99-FE78-430F-483F-ED0E324E9C20}"/>
              </a:ext>
            </a:extLst>
          </p:cNvPr>
          <p:cNvSpPr txBox="1"/>
          <p:nvPr/>
        </p:nvSpPr>
        <p:spPr>
          <a:xfrm>
            <a:off x="1574800" y="6261100"/>
            <a:ext cx="901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不把加速卡、大模型或执行端写死。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0205373-1B96-A50C-6935-6395F962F8EA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05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Canvas background">
            <a:extLst>
              <a:ext uri="{FF2B5EF4-FFF2-40B4-BE49-F238E27FC236}">
                <a16:creationId xmlns:a16="http://schemas.microsoft.com/office/drawing/2014/main" id="{D6EAEBDF-C5F2-FCC6-BA10-8131BB1F2A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mplate content panel">
            <a:extLst>
              <a:ext uri="{FF2B5EF4-FFF2-40B4-BE49-F238E27FC236}">
                <a16:creationId xmlns:a16="http://schemas.microsoft.com/office/drawing/2014/main" id="{019D56A6-0E38-F02C-C658-A0EB1BC0AB8B}"/>
              </a:ext>
            </a:extLst>
          </p:cNvPr>
          <p:cNvSpPr/>
          <p:nvPr/>
        </p:nvSpPr>
        <p:spPr>
          <a:xfrm>
            <a:off x="457200" y="6032500"/>
            <a:ext cx="11252200" cy="3683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mplate content panel">
            <a:extLst>
              <a:ext uri="{FF2B5EF4-FFF2-40B4-BE49-F238E27FC236}">
                <a16:creationId xmlns:a16="http://schemas.microsoft.com/office/drawing/2014/main" id="{47D68F4B-70A5-7FC0-F215-3C156D48A453}"/>
              </a:ext>
            </a:extLst>
          </p:cNvPr>
          <p:cNvSpPr/>
          <p:nvPr/>
        </p:nvSpPr>
        <p:spPr>
          <a:xfrm>
            <a:off x="7315200" y="1600200"/>
            <a:ext cx="4368800" cy="46101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mplate content panel">
            <a:extLst>
              <a:ext uri="{FF2B5EF4-FFF2-40B4-BE49-F238E27FC236}">
                <a16:creationId xmlns:a16="http://schemas.microsoft.com/office/drawing/2014/main" id="{BC078B04-61CE-7EF3-A288-A9538B9E804F}"/>
              </a:ext>
            </a:extLst>
          </p:cNvPr>
          <p:cNvSpPr/>
          <p:nvPr/>
        </p:nvSpPr>
        <p:spPr>
          <a:xfrm>
            <a:off x="457200" y="1600200"/>
            <a:ext cx="6629400" cy="46101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E4C2F8-03F4-0900-2DDE-8E8555714666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557129-3FC6-AE50-33CC-8531113ED1AB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B4F0449-9708-F447-92A7-CA0531EB74F7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CBE532-84F0-8C91-DC8E-1A28F60F1C57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产品与架构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F1F07FB-061E-76CE-C689-F2C974F50077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7405C53-15BB-2CAC-C4FD-05496E0BC6CA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FDB6EDE-2ACC-405C-02F1-EBB14642EE91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无人船：把拾取动作做成可维护的模块化系统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5AAFB6-DA4D-08F6-B8FE-01DD0E9B1F01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双浮筒、中央甲板、六轴机械臂与双侧料斗围绕近岸漂浮垃圾拾取设计。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9B47555-5A17-D5F7-7CFE-56FA6DC336F1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61948D1-0741-7DF6-E561-CF6734A088A6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DF4D0D-D0B3-63AA-395F-AA133B6996CE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07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10FAED-027C-8483-C3C9-749B1B56122B}"/>
              </a:ext>
            </a:extLst>
          </p:cNvPr>
          <p:cNvSpPr/>
          <p:nvPr/>
        </p:nvSpPr>
        <p:spPr>
          <a:xfrm>
            <a:off x="558800" y="1841500"/>
            <a:ext cx="6350000" cy="3987800"/>
          </a:xfrm>
          <a:prstGeom prst="rect">
            <a:avLst/>
          </a:prstGeom>
          <a:solidFill>
            <a:srgbClr val="F8F8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AC5494C-6940-EB2A-781D-8F442D8C820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32" y="1955800"/>
            <a:ext cx="5646937" cy="37592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9E91E3A-E8D9-EBA3-ED78-8F097C9F167B}"/>
              </a:ext>
            </a:extLst>
          </p:cNvPr>
          <p:cNvSpPr txBox="1"/>
          <p:nvPr/>
        </p:nvSpPr>
        <p:spPr>
          <a:xfrm>
            <a:off x="7340600" y="1905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A1CE739-1253-2B6F-28E7-3BA8D8B180BD}"/>
              </a:ext>
            </a:extLst>
          </p:cNvPr>
          <p:cNvSpPr txBox="1"/>
          <p:nvPr/>
        </p:nvSpPr>
        <p:spPr>
          <a:xfrm>
            <a:off x="7874000" y="19050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双浮筒稳定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66C175F-9C32-A0C4-8903-C963124ECF5B}"/>
              </a:ext>
            </a:extLst>
          </p:cNvPr>
          <p:cNvSpPr txBox="1"/>
          <p:nvPr/>
        </p:nvSpPr>
        <p:spPr>
          <a:xfrm>
            <a:off x="7874000" y="2209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左右浮筒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配重仓，抑制船体晃动对夹取的干扰。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D52E62A-D0A6-AC98-A31C-BFB69CCA6F09}"/>
              </a:ext>
            </a:extLst>
          </p:cNvPr>
          <p:cNvCxnSpPr/>
          <p:nvPr/>
        </p:nvCxnSpPr>
        <p:spPr>
          <a:xfrm>
            <a:off x="7340600" y="2565400"/>
            <a:ext cx="42926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F69F55C-D50D-66AE-6048-5D3ACB9EBAEA}"/>
              </a:ext>
            </a:extLst>
          </p:cNvPr>
          <p:cNvSpPr txBox="1"/>
          <p:nvPr/>
        </p:nvSpPr>
        <p:spPr>
          <a:xfrm>
            <a:off x="7340600" y="2667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F08097-BA63-38B1-7D2A-F9EFD3472BA9}"/>
              </a:ext>
            </a:extLst>
          </p:cNvPr>
          <p:cNvSpPr txBox="1"/>
          <p:nvPr/>
        </p:nvSpPr>
        <p:spPr>
          <a:xfrm>
            <a:off x="7874000" y="26670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机械臂拾取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A9CD15-868D-318D-97D1-B661E7A3B481}"/>
              </a:ext>
            </a:extLst>
          </p:cNvPr>
          <p:cNvSpPr txBox="1"/>
          <p:nvPr/>
        </p:nvSpPr>
        <p:spPr>
          <a:xfrm>
            <a:off x="7874000" y="297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六轴机械臂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夹爪完成接近、夹取、抬升与入斗。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B6E825C-B3B8-1F33-0FEC-E6E048E4C89F}"/>
              </a:ext>
            </a:extLst>
          </p:cNvPr>
          <p:cNvCxnSpPr/>
          <p:nvPr/>
        </p:nvCxnSpPr>
        <p:spPr>
          <a:xfrm>
            <a:off x="7340600" y="3327400"/>
            <a:ext cx="42926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4DC270D-3552-C069-2EF6-8E954B8CA194}"/>
              </a:ext>
            </a:extLst>
          </p:cNvPr>
          <p:cNvSpPr txBox="1"/>
          <p:nvPr/>
        </p:nvSpPr>
        <p:spPr>
          <a:xfrm>
            <a:off x="7340600" y="3429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D3805DD-9901-5A29-463A-D1B99C59781D}"/>
              </a:ext>
            </a:extLst>
          </p:cNvPr>
          <p:cNvSpPr txBox="1"/>
          <p:nvPr/>
        </p:nvSpPr>
        <p:spPr>
          <a:xfrm>
            <a:off x="7874000" y="34290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双侧料斗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ACC5723-8100-26DA-41D2-B33C71A95857}"/>
              </a:ext>
            </a:extLst>
          </p:cNvPr>
          <p:cNvSpPr txBox="1"/>
          <p:nvPr/>
        </p:nvSpPr>
        <p:spPr>
          <a:xfrm>
            <a:off x="7874000" y="3733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左右对称料斗收纳多件垃圾，便于回岸卸料。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EB65535-F259-F75C-2BE7-E90024D34507}"/>
              </a:ext>
            </a:extLst>
          </p:cNvPr>
          <p:cNvCxnSpPr/>
          <p:nvPr/>
        </p:nvCxnSpPr>
        <p:spPr>
          <a:xfrm>
            <a:off x="7340600" y="4089400"/>
            <a:ext cx="42926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BD1A630-D544-2E71-6AC9-83958D74B66B}"/>
              </a:ext>
            </a:extLst>
          </p:cNvPr>
          <p:cNvSpPr txBox="1"/>
          <p:nvPr/>
        </p:nvSpPr>
        <p:spPr>
          <a:xfrm>
            <a:off x="7340600" y="4191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C62C81-A96D-1306-3BAF-C23C51215AFA}"/>
              </a:ext>
            </a:extLst>
          </p:cNvPr>
          <p:cNvSpPr txBox="1"/>
          <p:nvPr/>
        </p:nvSpPr>
        <p:spPr>
          <a:xfrm>
            <a:off x="7874000" y="41910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模块化维护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0B93A4B-E335-2AA4-25DF-F06811B08264}"/>
              </a:ext>
            </a:extLst>
          </p:cNvPr>
          <p:cNvSpPr txBox="1"/>
          <p:nvPr/>
        </p:nvSpPr>
        <p:spPr>
          <a:xfrm>
            <a:off x="7874000" y="4495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电池箱、配电箱与旋转底座分区布置。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7058701-5C43-6492-E8EA-DB44E0B419D8}"/>
              </a:ext>
            </a:extLst>
          </p:cNvPr>
          <p:cNvCxnSpPr/>
          <p:nvPr/>
        </p:nvCxnSpPr>
        <p:spPr>
          <a:xfrm>
            <a:off x="7340600" y="4851400"/>
            <a:ext cx="42926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BA7785C-EA01-D4E9-E75D-24C973070DE2}"/>
              </a:ext>
            </a:extLst>
          </p:cNvPr>
          <p:cNvSpPr txBox="1"/>
          <p:nvPr/>
        </p:nvSpPr>
        <p:spPr>
          <a:xfrm>
            <a:off x="7340600" y="4953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05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29C9663-9466-79B7-9056-66189572F030}"/>
              </a:ext>
            </a:extLst>
          </p:cNvPr>
          <p:cNvSpPr txBox="1"/>
          <p:nvPr/>
        </p:nvSpPr>
        <p:spPr>
          <a:xfrm>
            <a:off x="7874000" y="49530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带载返航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45ABD12-4225-8D56-9307-2D87B5C1BB02}"/>
              </a:ext>
            </a:extLst>
          </p:cNvPr>
          <p:cNvSpPr txBox="1"/>
          <p:nvPr/>
        </p:nvSpPr>
        <p:spPr>
          <a:xfrm>
            <a:off x="7874000" y="5257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电量或装载达到阈值后返回，人工卸料检查。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5AB2449-532E-B486-A570-D03BAEB846CD}"/>
              </a:ext>
            </a:extLst>
          </p:cNvPr>
          <p:cNvSpPr/>
          <p:nvPr/>
        </p:nvSpPr>
        <p:spPr>
          <a:xfrm>
            <a:off x="558800" y="5994400"/>
            <a:ext cx="11074400" cy="355600"/>
          </a:xfrm>
          <a:prstGeom prst="rect">
            <a:avLst/>
          </a:prstGeom>
          <a:solidFill>
            <a:srgbClr val="F7F2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D93DF30-32ED-AECD-0131-D617AF00BC09}"/>
              </a:ext>
            </a:extLst>
          </p:cNvPr>
          <p:cNvSpPr txBox="1"/>
          <p:nvPr/>
        </p:nvSpPr>
        <p:spPr>
          <a:xfrm>
            <a:off x="711200" y="6019800"/>
            <a:ext cx="1076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当前证据：结构与部件方案已形成，桌面机械臂完成识别、抓取入盒与归位实验；海上整机与感知精度待现场验证。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C6B6C9F-3790-86F9-6E26-752A2B1262E3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16C81E8-5DA0-80AD-21F1-E0C7A4F39A11}"/>
              </a:ext>
            </a:extLst>
          </p:cNvPr>
          <p:cNvCxnSpPr/>
          <p:nvPr/>
        </p:nvCxnSpPr>
        <p:spPr>
          <a:xfrm>
            <a:off x="74930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C606EB1-7726-A78A-3A11-A81172519422}"/>
              </a:ext>
            </a:extLst>
          </p:cNvPr>
          <p:cNvCxnSpPr/>
          <p:nvPr/>
        </p:nvCxnSpPr>
        <p:spPr>
          <a:xfrm>
            <a:off x="635000" y="60706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88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Canvas background">
            <a:extLst>
              <a:ext uri="{FF2B5EF4-FFF2-40B4-BE49-F238E27FC236}">
                <a16:creationId xmlns:a16="http://schemas.microsoft.com/office/drawing/2014/main" id="{632933A1-7DC4-9601-EEE8-3C220E3841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Template content panel">
            <a:extLst>
              <a:ext uri="{FF2B5EF4-FFF2-40B4-BE49-F238E27FC236}">
                <a16:creationId xmlns:a16="http://schemas.microsoft.com/office/drawing/2014/main" id="{6B506E1E-9332-AE63-EEE5-AB521FA0C0C1}"/>
              </a:ext>
            </a:extLst>
          </p:cNvPr>
          <p:cNvSpPr/>
          <p:nvPr/>
        </p:nvSpPr>
        <p:spPr>
          <a:xfrm>
            <a:off x="457200" y="4953000"/>
            <a:ext cx="11201400" cy="1117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Template content panel">
            <a:extLst>
              <a:ext uri="{FF2B5EF4-FFF2-40B4-BE49-F238E27FC236}">
                <a16:creationId xmlns:a16="http://schemas.microsoft.com/office/drawing/2014/main" id="{44AEFB47-3203-6646-809A-BACCA9413E8E}"/>
              </a:ext>
            </a:extLst>
          </p:cNvPr>
          <p:cNvSpPr/>
          <p:nvPr/>
        </p:nvSpPr>
        <p:spPr>
          <a:xfrm>
            <a:off x="6019800" y="1600200"/>
            <a:ext cx="5588000" cy="28448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mplate content panel">
            <a:extLst>
              <a:ext uri="{FF2B5EF4-FFF2-40B4-BE49-F238E27FC236}">
                <a16:creationId xmlns:a16="http://schemas.microsoft.com/office/drawing/2014/main" id="{377D2ABC-0627-B533-ED02-B69FC7E25AC1}"/>
              </a:ext>
            </a:extLst>
          </p:cNvPr>
          <p:cNvSpPr/>
          <p:nvPr/>
        </p:nvSpPr>
        <p:spPr>
          <a:xfrm>
            <a:off x="457200" y="1600200"/>
            <a:ext cx="5499100" cy="28448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8DDF00-B1E7-F7E0-8525-CF497C4AF019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A0248F-16DC-3A2C-DEC4-527D68D0DD85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3F91AAF-CAB0-124C-EB74-F6105719BBBD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DCBDDA-E344-9DF0-5E96-7A427E0F6371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产品与架构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DCDDF5E-77AA-100F-AD69-31F440173308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87520D7-B96A-7E0E-B7F3-07CAF1CB89FB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0E32153-11D1-D264-2F7C-2AA22D3602D2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无人机与沙滩无人车补足盲区，但不夸大作业边界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B5A9CC-6099-76D9-58AE-4145B2EBFFAA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无人机负责发现与定位，无人车承担可通行沙滩的清理；直接空中拾取仍属后续研究。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F8C21F7-8594-73F0-1F7C-D45F3D5B4D5A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2ED3C58-73C4-61F7-7F94-E787D583AD89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09509F-D534-394B-894F-3298A74D35AB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08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3AE62B-72B9-F51B-00EE-096A30AC6656}"/>
              </a:ext>
            </a:extLst>
          </p:cNvPr>
          <p:cNvSpPr/>
          <p:nvPr/>
        </p:nvSpPr>
        <p:spPr>
          <a:xfrm>
            <a:off x="558800" y="1828800"/>
            <a:ext cx="4826000" cy="2463800"/>
          </a:xfrm>
          <a:prstGeom prst="rect">
            <a:avLst/>
          </a:prstGeom>
          <a:solidFill>
            <a:srgbClr val="E9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C4C8C7F-C792-FCDC-84EA-58D95179FFC8}"/>
              </a:ext>
            </a:extLst>
          </p:cNvPr>
          <p:cNvCxnSpPr/>
          <p:nvPr/>
        </p:nvCxnSpPr>
        <p:spPr>
          <a:xfrm>
            <a:off x="2971800" y="2794000"/>
            <a:ext cx="960628" cy="0"/>
          </a:xfrm>
          <a:prstGeom prst="line">
            <a:avLst/>
          </a:prstGeom>
          <a:ln w="26340">
            <a:solidFill>
              <a:srgbClr val="37485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B78F9455-8A5D-09BC-180E-9F9F358DB711}"/>
              </a:ext>
            </a:extLst>
          </p:cNvPr>
          <p:cNvSpPr/>
          <p:nvPr/>
        </p:nvSpPr>
        <p:spPr>
          <a:xfrm>
            <a:off x="3761994" y="2623566"/>
            <a:ext cx="340868" cy="340868"/>
          </a:xfrm>
          <a:prstGeom prst="ellipse">
            <a:avLst/>
          </a:prstGeom>
          <a:solidFill>
            <a:srgbClr val="FFFFFF"/>
          </a:solidFill>
          <a:ln w="17043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1BBF500-C984-A2CB-1E7F-C642243AE294}"/>
              </a:ext>
            </a:extLst>
          </p:cNvPr>
          <p:cNvSpPr/>
          <p:nvPr/>
        </p:nvSpPr>
        <p:spPr>
          <a:xfrm>
            <a:off x="3854958" y="2716530"/>
            <a:ext cx="154940" cy="15494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A5A28E2-D3A9-EB3C-A147-FCE133411F5F}"/>
              </a:ext>
            </a:extLst>
          </p:cNvPr>
          <p:cNvCxnSpPr/>
          <p:nvPr/>
        </p:nvCxnSpPr>
        <p:spPr>
          <a:xfrm flipV="1">
            <a:off x="2971800" y="2257288"/>
            <a:ext cx="480314" cy="536712"/>
          </a:xfrm>
          <a:prstGeom prst="line">
            <a:avLst/>
          </a:prstGeom>
          <a:ln w="26340">
            <a:solidFill>
              <a:srgbClr val="37485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D9CA0F01-43C7-2824-B3E9-C73B91BEA053}"/>
              </a:ext>
            </a:extLst>
          </p:cNvPr>
          <p:cNvSpPr/>
          <p:nvPr/>
        </p:nvSpPr>
        <p:spPr>
          <a:xfrm>
            <a:off x="3281680" y="2086854"/>
            <a:ext cx="340868" cy="340868"/>
          </a:xfrm>
          <a:prstGeom prst="ellipse">
            <a:avLst/>
          </a:prstGeom>
          <a:solidFill>
            <a:srgbClr val="FFFFFF"/>
          </a:solidFill>
          <a:ln w="17043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C525569-8B12-3112-5C91-3F8738D56800}"/>
              </a:ext>
            </a:extLst>
          </p:cNvPr>
          <p:cNvSpPr/>
          <p:nvPr/>
        </p:nvSpPr>
        <p:spPr>
          <a:xfrm>
            <a:off x="3374644" y="2179818"/>
            <a:ext cx="154940" cy="15494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E18D79D-CA04-05B2-B294-AA1F1EB3890E}"/>
              </a:ext>
            </a:extLst>
          </p:cNvPr>
          <p:cNvCxnSpPr/>
          <p:nvPr/>
        </p:nvCxnSpPr>
        <p:spPr>
          <a:xfrm flipH="1" flipV="1">
            <a:off x="2491486" y="2257288"/>
            <a:ext cx="480314" cy="536712"/>
          </a:xfrm>
          <a:prstGeom prst="line">
            <a:avLst/>
          </a:prstGeom>
          <a:ln w="26340">
            <a:solidFill>
              <a:srgbClr val="37485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C2BAF653-4FDE-1815-5840-6241ADE37F1A}"/>
              </a:ext>
            </a:extLst>
          </p:cNvPr>
          <p:cNvSpPr/>
          <p:nvPr/>
        </p:nvSpPr>
        <p:spPr>
          <a:xfrm>
            <a:off x="2321052" y="2086854"/>
            <a:ext cx="340868" cy="340868"/>
          </a:xfrm>
          <a:prstGeom prst="ellipse">
            <a:avLst/>
          </a:prstGeom>
          <a:solidFill>
            <a:srgbClr val="FFFFFF"/>
          </a:solidFill>
          <a:ln w="17043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770C5A2-51A3-3175-8E60-2B22683E2337}"/>
              </a:ext>
            </a:extLst>
          </p:cNvPr>
          <p:cNvSpPr/>
          <p:nvPr/>
        </p:nvSpPr>
        <p:spPr>
          <a:xfrm>
            <a:off x="2414016" y="2179818"/>
            <a:ext cx="154940" cy="15494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474C691-F351-4142-E8DC-13DE732AEA11}"/>
              </a:ext>
            </a:extLst>
          </p:cNvPr>
          <p:cNvCxnSpPr/>
          <p:nvPr/>
        </p:nvCxnSpPr>
        <p:spPr>
          <a:xfrm flipH="1">
            <a:off x="2011172" y="2794000"/>
            <a:ext cx="960628" cy="0"/>
          </a:xfrm>
          <a:prstGeom prst="line">
            <a:avLst/>
          </a:prstGeom>
          <a:ln w="26340">
            <a:solidFill>
              <a:srgbClr val="37485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381DC126-C430-6E99-5FE8-3E43A45CC5F8}"/>
              </a:ext>
            </a:extLst>
          </p:cNvPr>
          <p:cNvSpPr/>
          <p:nvPr/>
        </p:nvSpPr>
        <p:spPr>
          <a:xfrm>
            <a:off x="1840738" y="2623566"/>
            <a:ext cx="340868" cy="340868"/>
          </a:xfrm>
          <a:prstGeom prst="ellipse">
            <a:avLst/>
          </a:prstGeom>
          <a:solidFill>
            <a:srgbClr val="FFFFFF"/>
          </a:solidFill>
          <a:ln w="17043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41BB0D0-F969-37E1-4FAF-88341D6E46C5}"/>
              </a:ext>
            </a:extLst>
          </p:cNvPr>
          <p:cNvSpPr/>
          <p:nvPr/>
        </p:nvSpPr>
        <p:spPr>
          <a:xfrm>
            <a:off x="1933702" y="2716530"/>
            <a:ext cx="154940" cy="15494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4808BD2-DD79-8493-50E8-7AAF019FACA9}"/>
              </a:ext>
            </a:extLst>
          </p:cNvPr>
          <p:cNvCxnSpPr/>
          <p:nvPr/>
        </p:nvCxnSpPr>
        <p:spPr>
          <a:xfrm flipH="1">
            <a:off x="2491486" y="2794000"/>
            <a:ext cx="480314" cy="536712"/>
          </a:xfrm>
          <a:prstGeom prst="line">
            <a:avLst/>
          </a:prstGeom>
          <a:ln w="26340">
            <a:solidFill>
              <a:srgbClr val="37485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72517A33-232F-9BF9-0F4D-3A39A228717A}"/>
              </a:ext>
            </a:extLst>
          </p:cNvPr>
          <p:cNvSpPr/>
          <p:nvPr/>
        </p:nvSpPr>
        <p:spPr>
          <a:xfrm>
            <a:off x="2321052" y="3160278"/>
            <a:ext cx="340868" cy="340868"/>
          </a:xfrm>
          <a:prstGeom prst="ellipse">
            <a:avLst/>
          </a:prstGeom>
          <a:solidFill>
            <a:srgbClr val="FFFFFF"/>
          </a:solidFill>
          <a:ln w="17043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F8DFBEE-21F3-71C9-F843-E71C83E34B9D}"/>
              </a:ext>
            </a:extLst>
          </p:cNvPr>
          <p:cNvSpPr/>
          <p:nvPr/>
        </p:nvSpPr>
        <p:spPr>
          <a:xfrm>
            <a:off x="2414016" y="3253242"/>
            <a:ext cx="154940" cy="15494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280C23F-9F1A-D796-E01D-C0A70D66FDDC}"/>
              </a:ext>
            </a:extLst>
          </p:cNvPr>
          <p:cNvCxnSpPr/>
          <p:nvPr/>
        </p:nvCxnSpPr>
        <p:spPr>
          <a:xfrm>
            <a:off x="2971800" y="2794000"/>
            <a:ext cx="480314" cy="536712"/>
          </a:xfrm>
          <a:prstGeom prst="line">
            <a:avLst/>
          </a:prstGeom>
          <a:ln w="26340">
            <a:solidFill>
              <a:srgbClr val="37485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FDC1068A-16A7-28DF-021A-B5525E02F97D}"/>
              </a:ext>
            </a:extLst>
          </p:cNvPr>
          <p:cNvSpPr/>
          <p:nvPr/>
        </p:nvSpPr>
        <p:spPr>
          <a:xfrm>
            <a:off x="3281680" y="3160278"/>
            <a:ext cx="340868" cy="340868"/>
          </a:xfrm>
          <a:prstGeom prst="ellipse">
            <a:avLst/>
          </a:prstGeom>
          <a:solidFill>
            <a:srgbClr val="FFFFFF"/>
          </a:solidFill>
          <a:ln w="17043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C41215CF-0059-5769-ED31-3369844CFAD3}"/>
              </a:ext>
            </a:extLst>
          </p:cNvPr>
          <p:cNvSpPr/>
          <p:nvPr/>
        </p:nvSpPr>
        <p:spPr>
          <a:xfrm>
            <a:off x="3374644" y="3253242"/>
            <a:ext cx="154940" cy="15494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C614574-2BB4-AC3E-5D42-55CAAD472965}"/>
              </a:ext>
            </a:extLst>
          </p:cNvPr>
          <p:cNvSpPr/>
          <p:nvPr/>
        </p:nvSpPr>
        <p:spPr>
          <a:xfrm>
            <a:off x="2661920" y="2608072"/>
            <a:ext cx="619760" cy="371856"/>
          </a:xfrm>
          <a:prstGeom prst="round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3627305-AE93-8D75-C6FC-A78CABE88BB6}"/>
              </a:ext>
            </a:extLst>
          </p:cNvPr>
          <p:cNvSpPr/>
          <p:nvPr/>
        </p:nvSpPr>
        <p:spPr>
          <a:xfrm>
            <a:off x="2909824" y="2732024"/>
            <a:ext cx="123952" cy="123952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8462DD0-6B0D-D1B8-E132-618062752EFE}"/>
              </a:ext>
            </a:extLst>
          </p:cNvPr>
          <p:cNvSpPr txBox="1"/>
          <p:nvPr/>
        </p:nvSpPr>
        <p:spPr>
          <a:xfrm>
            <a:off x="787400" y="372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六旋翼无人机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1A818DE-8313-6133-7FED-734BC1AD6CA4}"/>
              </a:ext>
            </a:extLst>
          </p:cNvPr>
          <p:cNvSpPr txBox="1"/>
          <p:nvPr/>
        </p:nvSpPr>
        <p:spPr>
          <a:xfrm>
            <a:off x="787400" y="4038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岸基盲区巡检与目标定位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4FB013-A897-B3FC-62F5-3089CBFB9B88}"/>
              </a:ext>
            </a:extLst>
          </p:cNvPr>
          <p:cNvSpPr/>
          <p:nvPr/>
        </p:nvSpPr>
        <p:spPr>
          <a:xfrm>
            <a:off x="5994400" y="1828800"/>
            <a:ext cx="5638800" cy="2463800"/>
          </a:xfrm>
          <a:prstGeom prst="rect">
            <a:avLst/>
          </a:prstGeom>
          <a:solidFill>
            <a:srgbClr val="F7F2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4BE84A3E-4BD3-9C48-F4BA-D5ED0282AA6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650" y="1917700"/>
            <a:ext cx="3162300" cy="21082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FD381B36-BC6A-3E98-EEA4-799F4DEAFA25}"/>
              </a:ext>
            </a:extLst>
          </p:cNvPr>
          <p:cNvSpPr txBox="1"/>
          <p:nvPr/>
        </p:nvSpPr>
        <p:spPr>
          <a:xfrm>
            <a:off x="6223000" y="372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沙滩无人车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CDCA4C9-4F17-09FE-CF0E-A1C55FB595D1}"/>
              </a:ext>
            </a:extLst>
          </p:cNvPr>
          <p:cNvSpPr txBox="1"/>
          <p:nvPr/>
        </p:nvSpPr>
        <p:spPr>
          <a:xfrm>
            <a:off x="8331200" y="37592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可通行岸滩的清理与转运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0586F52-449E-C2F4-BEA1-DECEC8D47722}"/>
              </a:ext>
            </a:extLst>
          </p:cNvPr>
          <p:cNvSpPr txBox="1"/>
          <p:nvPr/>
        </p:nvSpPr>
        <p:spPr>
          <a:xfrm>
            <a:off x="558800" y="44577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设备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D238227-4899-FD0E-DFB1-910F9C17C446}"/>
              </a:ext>
            </a:extLst>
          </p:cNvPr>
          <p:cNvSpPr txBox="1"/>
          <p:nvPr/>
        </p:nvSpPr>
        <p:spPr>
          <a:xfrm>
            <a:off x="2057400" y="44577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任务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C70D590-221E-C3AA-55B1-6A1A134830EA}"/>
              </a:ext>
            </a:extLst>
          </p:cNvPr>
          <p:cNvSpPr txBox="1"/>
          <p:nvPr/>
        </p:nvSpPr>
        <p:spPr>
          <a:xfrm>
            <a:off x="4419600" y="445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已验证形态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F8DE431-24E5-813C-5C8F-5EA1C252DD09}"/>
              </a:ext>
            </a:extLst>
          </p:cNvPr>
          <p:cNvSpPr txBox="1"/>
          <p:nvPr/>
        </p:nvSpPr>
        <p:spPr>
          <a:xfrm>
            <a:off x="8255000" y="44577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尚未验证 </a:t>
            </a:r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边界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B324428-72D3-9569-DBBE-65B0CAFE8CC8}"/>
              </a:ext>
            </a:extLst>
          </p:cNvPr>
          <p:cNvCxnSpPr/>
          <p:nvPr/>
        </p:nvCxnSpPr>
        <p:spPr>
          <a:xfrm>
            <a:off x="558800" y="4749800"/>
            <a:ext cx="11074400" cy="0"/>
          </a:xfrm>
          <a:prstGeom prst="line">
            <a:avLst/>
          </a:prstGeom>
          <a:ln w="12700">
            <a:solidFill>
              <a:srgbClr val="091B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D532EBF8-F59A-F48D-71B8-B993F41F7F2B}"/>
              </a:ext>
            </a:extLst>
          </p:cNvPr>
          <p:cNvSpPr txBox="1"/>
          <p:nvPr/>
        </p:nvSpPr>
        <p:spPr>
          <a:xfrm>
            <a:off x="558800" y="48895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六旋翼无人机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62CA4DF-C191-98AB-5B42-4712B6FB1746}"/>
              </a:ext>
            </a:extLst>
          </p:cNvPr>
          <p:cNvSpPr txBox="1"/>
          <p:nvPr/>
        </p:nvSpPr>
        <p:spPr>
          <a:xfrm>
            <a:off x="2057400" y="4889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补足岸基摄像头盲区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919DDD8-6B6F-2301-B4AF-8A9B425305BB}"/>
              </a:ext>
            </a:extLst>
          </p:cNvPr>
          <p:cNvSpPr txBox="1"/>
          <p:nvPr/>
        </p:nvSpPr>
        <p:spPr>
          <a:xfrm>
            <a:off x="4419600" y="4889500"/>
            <a:ext cx="353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六旋翼结构、航线方案与事件回传契约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D6341F3-74ED-B455-D86E-B6A8FAC9ED9B}"/>
              </a:ext>
            </a:extLst>
          </p:cNvPr>
          <p:cNvSpPr txBox="1"/>
          <p:nvPr/>
        </p:nvSpPr>
        <p:spPr>
          <a:xfrm>
            <a:off x="8255000" y="48895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真实海况续航、禁飞区作业、直接空中拾取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ECA5E60-6C19-304B-F83A-40B42C9ABFAF}"/>
              </a:ext>
            </a:extLst>
          </p:cNvPr>
          <p:cNvCxnSpPr/>
          <p:nvPr/>
        </p:nvCxnSpPr>
        <p:spPr>
          <a:xfrm>
            <a:off x="558800" y="5422900"/>
            <a:ext cx="11074400" cy="0"/>
          </a:xfrm>
          <a:prstGeom prst="line">
            <a:avLst/>
          </a:prstGeom>
          <a:ln w="6985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750F9437-9382-C9A1-394A-747F1B5A577C}"/>
              </a:ext>
            </a:extLst>
          </p:cNvPr>
          <p:cNvSpPr txBox="1"/>
          <p:nvPr/>
        </p:nvSpPr>
        <p:spPr>
          <a:xfrm>
            <a:off x="558800" y="54991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沙滩无人车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2D5D09E-D67B-B7EE-6F69-155B4D9D7579}"/>
              </a:ext>
            </a:extLst>
          </p:cNvPr>
          <p:cNvSpPr txBox="1"/>
          <p:nvPr/>
        </p:nvSpPr>
        <p:spPr>
          <a:xfrm>
            <a:off x="2057400" y="54991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清理可通行岸滩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F0F85EE-A0B5-9F29-E849-4FC18C5447C6}"/>
              </a:ext>
            </a:extLst>
          </p:cNvPr>
          <p:cNvSpPr txBox="1"/>
          <p:nvPr/>
        </p:nvSpPr>
        <p:spPr>
          <a:xfrm>
            <a:off x="4419600" y="5499100"/>
            <a:ext cx="353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履带底盘、前置机械臂、后置料斗方案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3DFC204-974B-73E3-0096-C16904A01FD1}"/>
              </a:ext>
            </a:extLst>
          </p:cNvPr>
          <p:cNvSpPr txBox="1"/>
          <p:nvPr/>
        </p:nvSpPr>
        <p:spPr>
          <a:xfrm>
            <a:off x="8255000" y="54991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陡坡、湿滑礁石、满载续航与整机现场验证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B3726DF0-69C6-C392-A389-F00A337ECC20}"/>
              </a:ext>
            </a:extLst>
          </p:cNvPr>
          <p:cNvCxnSpPr/>
          <p:nvPr/>
        </p:nvCxnSpPr>
        <p:spPr>
          <a:xfrm>
            <a:off x="558800" y="6032500"/>
            <a:ext cx="11074400" cy="0"/>
          </a:xfrm>
          <a:prstGeom prst="line">
            <a:avLst/>
          </a:prstGeom>
          <a:ln w="6985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3A07112E-207B-6B76-A954-CDAE3DE0247B}"/>
              </a:ext>
            </a:extLst>
          </p:cNvPr>
          <p:cNvSpPr txBox="1"/>
          <p:nvPr/>
        </p:nvSpPr>
        <p:spPr>
          <a:xfrm>
            <a:off x="558800" y="61214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边界原则：当前只陈述已形成的结构方案与集成接口，不将后续研究写成现场能力。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CAFCD5F-ED3B-A918-BCBD-E8A33F92E53D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DE13CFFC-7B1F-9025-8ABF-7300A55B4BA2}"/>
              </a:ext>
            </a:extLst>
          </p:cNvPr>
          <p:cNvCxnSpPr/>
          <p:nvPr/>
        </p:nvCxnSpPr>
        <p:spPr>
          <a:xfrm>
            <a:off x="6197600" y="16129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F849D56D-196F-3FAF-CBB3-8A681147B520}"/>
              </a:ext>
            </a:extLst>
          </p:cNvPr>
          <p:cNvCxnSpPr/>
          <p:nvPr/>
        </p:nvCxnSpPr>
        <p:spPr>
          <a:xfrm>
            <a:off x="635000" y="49657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72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Canvas background">
            <a:extLst>
              <a:ext uri="{FF2B5EF4-FFF2-40B4-BE49-F238E27FC236}">
                <a16:creationId xmlns:a16="http://schemas.microsoft.com/office/drawing/2014/main" id="{B307BE00-E4F7-8F31-EB91-2A688377CF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6" name="Template content panel">
            <a:extLst>
              <a:ext uri="{FF2B5EF4-FFF2-40B4-BE49-F238E27FC236}">
                <a16:creationId xmlns:a16="http://schemas.microsoft.com/office/drawing/2014/main" id="{A7C25082-8D87-0B94-7531-C78DF4E7740E}"/>
              </a:ext>
            </a:extLst>
          </p:cNvPr>
          <p:cNvSpPr/>
          <p:nvPr/>
        </p:nvSpPr>
        <p:spPr>
          <a:xfrm>
            <a:off x="6680200" y="1600200"/>
            <a:ext cx="4953000" cy="48133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mplate content panel">
            <a:extLst>
              <a:ext uri="{FF2B5EF4-FFF2-40B4-BE49-F238E27FC236}">
                <a16:creationId xmlns:a16="http://schemas.microsoft.com/office/drawing/2014/main" id="{DFDCCA25-6FFC-9F83-283C-60473E0143AA}"/>
              </a:ext>
            </a:extLst>
          </p:cNvPr>
          <p:cNvSpPr/>
          <p:nvPr/>
        </p:nvSpPr>
        <p:spPr>
          <a:xfrm>
            <a:off x="457200" y="1600200"/>
            <a:ext cx="5969000" cy="48133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EF26C2-1652-3A57-E1A2-7CA3279FF0F6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F503D2-0B0F-2C4E-A10C-2266EAB9342A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E8FDB69-1403-4463-C4CB-7203CEEE7891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6D88CB-2B92-8284-55F7-4747D8DE0611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产品与架构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74E8F1B-2CBE-536D-E18C-AFE06B704710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43DFAA8-162D-5F4B-02A8-659176F1B0C8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76E34AE-C979-F457-CB1A-4B4B68D27147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</a:t>
            </a:r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平台：从事件到工单，一条链路留痕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F97CC6-722F-4A36-3B34-A0ACC47AB24D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平台已在云端部署，核心能力覆盖发现、规划、审批、执行与回放。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A212D2D-588E-8BEA-CB10-AF1B12B639BB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91C15A4-4B4B-5DB8-89A4-768AE93E66EC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E14C15-D5CF-A1FF-D1A5-4ADE0F125FB7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09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B9D179-6FD0-DEC1-8799-74E028FE742D}"/>
              </a:ext>
            </a:extLst>
          </p:cNvPr>
          <p:cNvSpPr/>
          <p:nvPr/>
        </p:nvSpPr>
        <p:spPr>
          <a:xfrm>
            <a:off x="558800" y="1828800"/>
            <a:ext cx="5562600" cy="3810000"/>
          </a:xfrm>
          <a:prstGeom prst="rect">
            <a:avLst/>
          </a:prstGeom>
          <a:solidFill>
            <a:srgbClr val="F8F8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A514B99-0F52-60E9-1137-C743DB401C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2149084"/>
            <a:ext cx="5410200" cy="304243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216D67D-9BBF-F151-4329-D1649FE130D3}"/>
              </a:ext>
            </a:extLst>
          </p:cNvPr>
          <p:cNvSpPr txBox="1"/>
          <p:nvPr/>
        </p:nvSpPr>
        <p:spPr>
          <a:xfrm>
            <a:off x="685800" y="54483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平台界面示意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B8C492B-7E00-7DAC-1E61-7BE14E90119B}"/>
              </a:ext>
            </a:extLst>
          </p:cNvPr>
          <p:cNvSpPr txBox="1"/>
          <p:nvPr/>
        </p:nvSpPr>
        <p:spPr>
          <a:xfrm>
            <a:off x="685800" y="57023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事件接入、空间派单、审批执行与运行回放共用一条任务链。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62FD5A-E6E4-4DA6-4DD7-C2F91C51E4AD}"/>
              </a:ext>
            </a:extLst>
          </p:cNvPr>
          <p:cNvSpPr txBox="1"/>
          <p:nvPr/>
        </p:nvSpPr>
        <p:spPr>
          <a:xfrm>
            <a:off x="6426200" y="18415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能力层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8281F0-060A-B201-2507-D4F8E4914034}"/>
              </a:ext>
            </a:extLst>
          </p:cNvPr>
          <p:cNvSpPr txBox="1"/>
          <p:nvPr/>
        </p:nvSpPr>
        <p:spPr>
          <a:xfrm>
            <a:off x="7493000" y="1841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平台动作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AF4BF0-5CA0-0D15-D664-0545CE9F1776}"/>
              </a:ext>
            </a:extLst>
          </p:cNvPr>
          <p:cNvSpPr txBox="1"/>
          <p:nvPr/>
        </p:nvSpPr>
        <p:spPr>
          <a:xfrm>
            <a:off x="10312400" y="18415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可留痕结果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EB53896-27C7-1E4A-1E47-CFCE6213B550}"/>
              </a:ext>
            </a:extLst>
          </p:cNvPr>
          <p:cNvCxnSpPr/>
          <p:nvPr/>
        </p:nvCxnSpPr>
        <p:spPr>
          <a:xfrm>
            <a:off x="6426200" y="2159000"/>
            <a:ext cx="5207000" cy="0"/>
          </a:xfrm>
          <a:prstGeom prst="line">
            <a:avLst/>
          </a:prstGeom>
          <a:ln w="12700">
            <a:solidFill>
              <a:srgbClr val="091B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28B8617C-B2FA-3635-5BA8-0F327A247175}"/>
              </a:ext>
            </a:extLst>
          </p:cNvPr>
          <p:cNvSpPr/>
          <p:nvPr/>
        </p:nvSpPr>
        <p:spPr>
          <a:xfrm>
            <a:off x="6426200" y="2362200"/>
            <a:ext cx="63500" cy="3048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6C2E4F8-B372-9A10-C2A7-764067C17E82}"/>
              </a:ext>
            </a:extLst>
          </p:cNvPr>
          <p:cNvSpPr txBox="1"/>
          <p:nvPr/>
        </p:nvSpPr>
        <p:spPr>
          <a:xfrm>
            <a:off x="6604000" y="22987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事件接入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EDB50A-FE41-F4B4-237B-3690CB02E43C}"/>
              </a:ext>
            </a:extLst>
          </p:cNvPr>
          <p:cNvSpPr txBox="1"/>
          <p:nvPr/>
        </p:nvSpPr>
        <p:spPr>
          <a:xfrm>
            <a:off x="7493000" y="22987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视频监测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人工上报双通道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F7EA43C-9934-184F-9F67-7CBFB652D6E9}"/>
              </a:ext>
            </a:extLst>
          </p:cNvPr>
          <p:cNvSpPr txBox="1"/>
          <p:nvPr/>
        </p:nvSpPr>
        <p:spPr>
          <a:xfrm>
            <a:off x="10312400" y="2311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事件记录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17F0A26-0180-D836-DBCD-4BDABFDF9710}"/>
              </a:ext>
            </a:extLst>
          </p:cNvPr>
          <p:cNvCxnSpPr/>
          <p:nvPr/>
        </p:nvCxnSpPr>
        <p:spPr>
          <a:xfrm>
            <a:off x="6426200" y="2794000"/>
            <a:ext cx="52070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4C129B53-654A-DD3D-4984-080CBCB712E9}"/>
              </a:ext>
            </a:extLst>
          </p:cNvPr>
          <p:cNvSpPr/>
          <p:nvPr/>
        </p:nvSpPr>
        <p:spPr>
          <a:xfrm>
            <a:off x="6426200" y="2933700"/>
            <a:ext cx="63500" cy="3048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2350A50-A6A1-1240-F178-52A3083C0486}"/>
              </a:ext>
            </a:extLst>
          </p:cNvPr>
          <p:cNvSpPr txBox="1"/>
          <p:nvPr/>
        </p:nvSpPr>
        <p:spPr>
          <a:xfrm>
            <a:off x="6604000" y="28702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时序验证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400AD4B-AB29-E1DA-6D73-16E512D36A8F}"/>
              </a:ext>
            </a:extLst>
          </p:cNvPr>
          <p:cNvSpPr txBox="1"/>
          <p:nvPr/>
        </p:nvSpPr>
        <p:spPr>
          <a:xfrm>
            <a:off x="7493000" y="28702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长期存在才升级为可信事件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8D19827-DAA5-464B-A5D7-364F569BA4BA}"/>
              </a:ext>
            </a:extLst>
          </p:cNvPr>
          <p:cNvSpPr txBox="1"/>
          <p:nvPr/>
        </p:nvSpPr>
        <p:spPr>
          <a:xfrm>
            <a:off x="10312400" y="28829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可信事件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2EB19FB-F139-C3B7-631A-A54A427681E9}"/>
              </a:ext>
            </a:extLst>
          </p:cNvPr>
          <p:cNvCxnSpPr/>
          <p:nvPr/>
        </p:nvCxnSpPr>
        <p:spPr>
          <a:xfrm>
            <a:off x="6426200" y="3365500"/>
            <a:ext cx="52070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86B7D5FE-D56D-361F-E1E0-B351260A28CA}"/>
              </a:ext>
            </a:extLst>
          </p:cNvPr>
          <p:cNvSpPr/>
          <p:nvPr/>
        </p:nvSpPr>
        <p:spPr>
          <a:xfrm>
            <a:off x="6426200" y="3505200"/>
            <a:ext cx="63500" cy="3048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F9A66DF-C04D-A73C-A06F-EB25B77A8883}"/>
              </a:ext>
            </a:extLst>
          </p:cNvPr>
          <p:cNvSpPr txBox="1"/>
          <p:nvPr/>
        </p:nvSpPr>
        <p:spPr>
          <a:xfrm>
            <a:off x="6604000" y="34417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空间派单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5DB630C-BBC3-D8BF-2EF3-74D250027AD3}"/>
              </a:ext>
            </a:extLst>
          </p:cNvPr>
          <p:cNvSpPr txBox="1"/>
          <p:nvPr/>
        </p:nvSpPr>
        <p:spPr>
          <a:xfrm>
            <a:off x="7493000" y="34417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按区域、距离与设备状态筛选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7697629-2007-BBC7-4937-B9DFAFFF8A32}"/>
              </a:ext>
            </a:extLst>
          </p:cNvPr>
          <p:cNvSpPr txBox="1"/>
          <p:nvPr/>
        </p:nvSpPr>
        <p:spPr>
          <a:xfrm>
            <a:off x="10312400" y="3454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派单依据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9BEDCF6-AE90-0996-4031-F409B4F84842}"/>
              </a:ext>
            </a:extLst>
          </p:cNvPr>
          <p:cNvCxnSpPr/>
          <p:nvPr/>
        </p:nvCxnSpPr>
        <p:spPr>
          <a:xfrm>
            <a:off x="6426200" y="3937000"/>
            <a:ext cx="52070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C6CF567E-B308-C281-98F0-5745F878959B}"/>
              </a:ext>
            </a:extLst>
          </p:cNvPr>
          <p:cNvSpPr/>
          <p:nvPr/>
        </p:nvSpPr>
        <p:spPr>
          <a:xfrm>
            <a:off x="6426200" y="4076700"/>
            <a:ext cx="63500" cy="304800"/>
          </a:xfrm>
          <a:prstGeom prst="rect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926B36B-A3CF-11F1-DE38-C9BE19387847}"/>
              </a:ext>
            </a:extLst>
          </p:cNvPr>
          <p:cNvSpPr txBox="1"/>
          <p:nvPr/>
        </p:nvSpPr>
        <p:spPr>
          <a:xfrm>
            <a:off x="6604000" y="40132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独立审批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DDF8B3E-CF41-C998-4700-00C4DCAADE1E}"/>
              </a:ext>
            </a:extLst>
          </p:cNvPr>
          <p:cNvSpPr txBox="1"/>
          <p:nvPr/>
        </p:nvSpPr>
        <p:spPr>
          <a:xfrm>
            <a:off x="7493000" y="40132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高风险动作授权后下发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6D26484-5BD5-8711-D861-A73B8008957C}"/>
              </a:ext>
            </a:extLst>
          </p:cNvPr>
          <p:cNvSpPr txBox="1"/>
          <p:nvPr/>
        </p:nvSpPr>
        <p:spPr>
          <a:xfrm>
            <a:off x="10312400" y="40259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审批决定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A17EF62-0E1A-ED4E-6838-9BE361D5FBC1}"/>
              </a:ext>
            </a:extLst>
          </p:cNvPr>
          <p:cNvCxnSpPr/>
          <p:nvPr/>
        </p:nvCxnSpPr>
        <p:spPr>
          <a:xfrm>
            <a:off x="6426200" y="4508500"/>
            <a:ext cx="52070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B1ADAB12-32D6-D60E-9F06-D350A4508C78}"/>
              </a:ext>
            </a:extLst>
          </p:cNvPr>
          <p:cNvSpPr/>
          <p:nvPr/>
        </p:nvSpPr>
        <p:spPr>
          <a:xfrm>
            <a:off x="6426200" y="4648200"/>
            <a:ext cx="63500" cy="3048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5B700FB-2296-6934-CB1E-0B29AADAAE4E}"/>
              </a:ext>
            </a:extLst>
          </p:cNvPr>
          <p:cNvSpPr txBox="1"/>
          <p:nvPr/>
        </p:nvSpPr>
        <p:spPr>
          <a:xfrm>
            <a:off x="6604000" y="45847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工单流转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1A6966C-0FF1-4C4B-B8CC-E35FA13F4CCF}"/>
              </a:ext>
            </a:extLst>
          </p:cNvPr>
          <p:cNvSpPr txBox="1"/>
          <p:nvPr/>
        </p:nvSpPr>
        <p:spPr>
          <a:xfrm>
            <a:off x="7493000" y="45847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ACK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、进度、异常与换车重派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02FA0C-9680-FCD0-0A4E-DA94970AAE6B}"/>
              </a:ext>
            </a:extLst>
          </p:cNvPr>
          <p:cNvSpPr txBox="1"/>
          <p:nvPr/>
        </p:nvSpPr>
        <p:spPr>
          <a:xfrm>
            <a:off x="10312400" y="4597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任务状态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92E6B432-6C75-7153-6B6B-099674017C57}"/>
              </a:ext>
            </a:extLst>
          </p:cNvPr>
          <p:cNvCxnSpPr/>
          <p:nvPr/>
        </p:nvCxnSpPr>
        <p:spPr>
          <a:xfrm>
            <a:off x="6426200" y="5080000"/>
            <a:ext cx="52070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1C1111EE-497B-8ECB-4611-E3D633F79206}"/>
              </a:ext>
            </a:extLst>
          </p:cNvPr>
          <p:cNvSpPr/>
          <p:nvPr/>
        </p:nvSpPr>
        <p:spPr>
          <a:xfrm>
            <a:off x="6426200" y="5219700"/>
            <a:ext cx="63500" cy="3048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D207091-9C5D-8132-100C-317F349B0712}"/>
              </a:ext>
            </a:extLst>
          </p:cNvPr>
          <p:cNvSpPr txBox="1"/>
          <p:nvPr/>
        </p:nvSpPr>
        <p:spPr>
          <a:xfrm>
            <a:off x="6604000" y="51562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运行回放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0376D42-F950-6978-D108-25C43D1C9A80}"/>
              </a:ext>
            </a:extLst>
          </p:cNvPr>
          <p:cNvSpPr txBox="1"/>
          <p:nvPr/>
        </p:nvSpPr>
        <p:spPr>
          <a:xfrm>
            <a:off x="7493000" y="51562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从任意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step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复现决策与结果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B8B620B-26E7-3BF6-2DD1-AEF2D3C81E6E}"/>
              </a:ext>
            </a:extLst>
          </p:cNvPr>
          <p:cNvSpPr txBox="1"/>
          <p:nvPr/>
        </p:nvSpPr>
        <p:spPr>
          <a:xfrm>
            <a:off x="10312400" y="51689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运行轨迹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A6E089F-8D66-68DB-EC8A-B4C3859E6A64}"/>
              </a:ext>
            </a:extLst>
          </p:cNvPr>
          <p:cNvCxnSpPr/>
          <p:nvPr/>
        </p:nvCxnSpPr>
        <p:spPr>
          <a:xfrm>
            <a:off x="6426200" y="5651500"/>
            <a:ext cx="52070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A11B282C-EE42-F816-23BD-82B38DF497EE}"/>
              </a:ext>
            </a:extLst>
          </p:cNvPr>
          <p:cNvSpPr/>
          <p:nvPr/>
        </p:nvSpPr>
        <p:spPr>
          <a:xfrm>
            <a:off x="558800" y="5842000"/>
            <a:ext cx="11074400" cy="431800"/>
          </a:xfrm>
          <a:prstGeom prst="rect">
            <a:avLst/>
          </a:prstGeom>
          <a:solidFill>
            <a:srgbClr val="EBF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71C8711-A3C6-8C88-89B8-66DE67A57103}"/>
              </a:ext>
            </a:extLst>
          </p:cNvPr>
          <p:cNvSpPr txBox="1"/>
          <p:nvPr/>
        </p:nvSpPr>
        <p:spPr>
          <a:xfrm>
            <a:off x="7620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已部署验收：华为云 </a:t>
            </a:r>
            <a:r>
              <a:rPr lang="en-US" altLang="zh-CN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ModelArts / AgentArts </a:t>
            </a:r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智能体编排与多轮工具调用。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3EBE4C7-BB8C-7FC4-7F78-226ED2DFAA06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5FADD3D-E824-EBE1-2E33-67EB04D094D3}"/>
              </a:ext>
            </a:extLst>
          </p:cNvPr>
          <p:cNvCxnSpPr/>
          <p:nvPr/>
        </p:nvCxnSpPr>
        <p:spPr>
          <a:xfrm>
            <a:off x="68580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53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Canvas background">
            <a:extLst>
              <a:ext uri="{FF2B5EF4-FFF2-40B4-BE49-F238E27FC236}">
                <a16:creationId xmlns:a16="http://schemas.microsoft.com/office/drawing/2014/main" id="{E4CA86F7-F629-3B01-13EC-CD7B86D7AD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Template content panel">
            <a:extLst>
              <a:ext uri="{FF2B5EF4-FFF2-40B4-BE49-F238E27FC236}">
                <a16:creationId xmlns:a16="http://schemas.microsoft.com/office/drawing/2014/main" id="{5BA3F3F1-F64C-C249-FC72-FCDCEB3DD180}"/>
              </a:ext>
            </a:extLst>
          </p:cNvPr>
          <p:cNvSpPr/>
          <p:nvPr/>
        </p:nvSpPr>
        <p:spPr>
          <a:xfrm>
            <a:off x="3911600" y="5295900"/>
            <a:ext cx="7797800" cy="10160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mplate content panel">
            <a:extLst>
              <a:ext uri="{FF2B5EF4-FFF2-40B4-BE49-F238E27FC236}">
                <a16:creationId xmlns:a16="http://schemas.microsoft.com/office/drawing/2014/main" id="{6139528C-A9FC-95D4-0451-2B4DE02898CD}"/>
              </a:ext>
            </a:extLst>
          </p:cNvPr>
          <p:cNvSpPr/>
          <p:nvPr/>
        </p:nvSpPr>
        <p:spPr>
          <a:xfrm>
            <a:off x="3810000" y="1600200"/>
            <a:ext cx="7823200" cy="44450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D0D5CF-D290-1151-9333-CD33E7516533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5ECF18-2A7B-ACAE-09D5-F0F6FFE585A6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AAAF7B9-FF87-4952-5669-169593400953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4EA9DC-9C9D-8180-7C9B-AF97F7B0DB7D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智能体与可信流转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CCE4A1B-1405-CCD9-EFFF-D2D0F85ADB87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0D2C8A0-00EB-801E-F2A2-493912E95B19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B6C6B86-98CE-B5B2-B9BE-77008B2B0208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不是“套壳大模型”，而是确定性治理智能体内核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0C78B1-07C9-91D4-8775-CE669A34440E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模型负责增强，状态、规则、工具与终止条件由代码保证。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2C21A2A-55A9-FDE9-3121-8A72DF62FDC4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9E1A68B-3537-4EE4-26E7-8BA30450C174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764F0C-F3A2-2FBC-7DEB-C311F620C01C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10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FBC302-C402-6DE0-C167-5254938C1459}"/>
              </a:ext>
            </a:extLst>
          </p:cNvPr>
          <p:cNvSpPr/>
          <p:nvPr/>
        </p:nvSpPr>
        <p:spPr>
          <a:xfrm>
            <a:off x="558800" y="1841500"/>
            <a:ext cx="3124200" cy="4089400"/>
          </a:xfrm>
          <a:prstGeom prst="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849EE7-3604-5E1E-EB95-5146842147F4}"/>
              </a:ext>
            </a:extLst>
          </p:cNvPr>
          <p:cNvSpPr txBox="1"/>
          <p:nvPr/>
        </p:nvSpPr>
        <p:spPr>
          <a:xfrm>
            <a:off x="838200" y="2108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三类过程原语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13B01D-E78B-8583-70E7-4C0594594EF2}"/>
              </a:ext>
            </a:extLst>
          </p:cNvPr>
          <p:cNvSpPr txBox="1"/>
          <p:nvPr/>
        </p:nvSpPr>
        <p:spPr>
          <a:xfrm>
            <a:off x="838200" y="266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Run</a:t>
            </a:r>
            <a:endParaRPr lang="zh-CN" altLang="en-US" sz="165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5CBB5B-FDB6-81B4-F2ED-EEB6308C4C3D}"/>
              </a:ext>
            </a:extLst>
          </p:cNvPr>
          <p:cNvSpPr txBox="1"/>
          <p:nvPr/>
        </p:nvSpPr>
        <p:spPr>
          <a:xfrm>
            <a:off x="838200" y="30226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一次治理过程的容器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A095953-9644-461B-319A-295797D589F5}"/>
              </a:ext>
            </a:extLst>
          </p:cNvPr>
          <p:cNvSpPr txBox="1"/>
          <p:nvPr/>
        </p:nvSpPr>
        <p:spPr>
          <a:xfrm>
            <a:off x="838200" y="3657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Step</a:t>
            </a:r>
            <a:endParaRPr lang="zh-CN" altLang="en-US" sz="165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69093D-9AFC-0204-F012-639DB0ACE055}"/>
              </a:ext>
            </a:extLst>
          </p:cNvPr>
          <p:cNvSpPr txBox="1"/>
          <p:nvPr/>
        </p:nvSpPr>
        <p:spPr>
          <a:xfrm>
            <a:off x="838200" y="40132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一次决策或工具调用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7D1A80-9752-22EF-E797-B4864A72A55B}"/>
              </a:ext>
            </a:extLst>
          </p:cNvPr>
          <p:cNvSpPr txBox="1"/>
          <p:nvPr/>
        </p:nvSpPr>
        <p:spPr>
          <a:xfrm>
            <a:off x="838200" y="4648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Eval</a:t>
            </a:r>
            <a:endParaRPr lang="zh-CN" altLang="en-US" sz="165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8764BA-6734-DCD6-89F0-A1564C6EE31B}"/>
              </a:ext>
            </a:extLst>
          </p:cNvPr>
          <p:cNvSpPr txBox="1"/>
          <p:nvPr/>
        </p:nvSpPr>
        <p:spPr>
          <a:xfrm>
            <a:off x="838200" y="50038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固定场景回归评测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1D38A2-6952-C923-1A2D-B310C60EACE3}"/>
              </a:ext>
            </a:extLst>
          </p:cNvPr>
          <p:cNvSpPr txBox="1"/>
          <p:nvPr/>
        </p:nvSpPr>
        <p:spPr>
          <a:xfrm>
            <a:off x="838200" y="5486399"/>
            <a:ext cx="24638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200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重规划产生新 </a:t>
            </a:r>
            <a:r>
              <a:rPr lang="en-US" altLang="zh-CN" sz="1200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Step</a:t>
            </a:r>
            <a:r>
              <a:rPr lang="zh-CN" altLang="en-US" sz="1200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，历史步骤永不被覆盖。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ACF3D4-4A65-696C-987A-734758C4DE17}"/>
              </a:ext>
            </a:extLst>
          </p:cNvPr>
          <p:cNvSpPr txBox="1"/>
          <p:nvPr/>
        </p:nvSpPr>
        <p:spPr>
          <a:xfrm>
            <a:off x="4064000" y="1676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四类治理原语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1DBAB4-C28A-89EB-D317-CB6FBAC95C53}"/>
              </a:ext>
            </a:extLst>
          </p:cNvPr>
          <p:cNvSpPr txBox="1"/>
          <p:nvPr/>
        </p:nvSpPr>
        <p:spPr>
          <a:xfrm>
            <a:off x="4064000" y="1981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Tool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3EBEF6-4A96-9441-4187-E2B45AC918F1}"/>
              </a:ext>
            </a:extLst>
          </p:cNvPr>
          <p:cNvSpPr txBox="1"/>
          <p:nvPr/>
        </p:nvSpPr>
        <p:spPr>
          <a:xfrm>
            <a:off x="5257800" y="198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工具契约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D2A1496-4EEA-43D8-E10E-AE8B236544D4}"/>
              </a:ext>
            </a:extLst>
          </p:cNvPr>
          <p:cNvSpPr txBox="1"/>
          <p:nvPr/>
        </p:nvSpPr>
        <p:spPr>
          <a:xfrm>
            <a:off x="7188200" y="1981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版本、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Schema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、权限、超时、幂等键、审计事件与错误码缺一不得注册。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7AFB9F7-5373-0118-1772-3B870FCDFB1C}"/>
              </a:ext>
            </a:extLst>
          </p:cNvPr>
          <p:cNvCxnSpPr/>
          <p:nvPr/>
        </p:nvCxnSpPr>
        <p:spPr>
          <a:xfrm>
            <a:off x="4064000" y="2730500"/>
            <a:ext cx="75692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3320A8C-56E0-96B1-EE0C-84687DAD8235}"/>
              </a:ext>
            </a:extLst>
          </p:cNvPr>
          <p:cNvSpPr txBox="1"/>
          <p:nvPr/>
        </p:nvSpPr>
        <p:spPr>
          <a:xfrm>
            <a:off x="4064000" y="2844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Policy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E0A03C-925C-EE7F-761D-B52ACFEBDE71}"/>
              </a:ext>
            </a:extLst>
          </p:cNvPr>
          <p:cNvSpPr txBox="1"/>
          <p:nvPr/>
        </p:nvSpPr>
        <p:spPr>
          <a:xfrm>
            <a:off x="5257800" y="2844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策略守卫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52726B0-DF72-A60B-6C46-D2D255C57700}"/>
              </a:ext>
            </a:extLst>
          </p:cNvPr>
          <p:cNvSpPr txBox="1"/>
          <p:nvPr/>
        </p:nvSpPr>
        <p:spPr>
          <a:xfrm>
            <a:off x="7188200" y="2844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违规动作必须在工具执行前被阻断，不能先执行再解释。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9C108A9-811E-B612-B1A0-BB57F44C394F}"/>
              </a:ext>
            </a:extLst>
          </p:cNvPr>
          <p:cNvCxnSpPr/>
          <p:nvPr/>
        </p:nvCxnSpPr>
        <p:spPr>
          <a:xfrm>
            <a:off x="4064000" y="3594100"/>
            <a:ext cx="75692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D0D49AF5-9E40-DA09-0DC9-440697F17CC9}"/>
              </a:ext>
            </a:extLst>
          </p:cNvPr>
          <p:cNvSpPr txBox="1"/>
          <p:nvPr/>
        </p:nvSpPr>
        <p:spPr>
          <a:xfrm>
            <a:off x="4064000" y="37084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Approval</a:t>
            </a:r>
            <a:endParaRPr lang="zh-CN" altLang="en-US" sz="1200" b="1">
              <a:solidFill>
                <a:srgbClr val="B25847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D128D0B-F13C-A927-3DCA-8DDEE1F17F7B}"/>
              </a:ext>
            </a:extLst>
          </p:cNvPr>
          <p:cNvSpPr txBox="1"/>
          <p:nvPr/>
        </p:nvSpPr>
        <p:spPr>
          <a:xfrm>
            <a:off x="5257800" y="3708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人工闸门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655832A-E4D4-7361-F28A-D08830583536}"/>
              </a:ext>
            </a:extLst>
          </p:cNvPr>
          <p:cNvSpPr txBox="1"/>
          <p:nvPr/>
        </p:nvSpPr>
        <p:spPr>
          <a:xfrm>
            <a:off x="7188200" y="3708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高风险动作保留审批人、理由与时间，不可绕过。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725E0CB-DD15-C08B-0B74-7C2445770751}"/>
              </a:ext>
            </a:extLst>
          </p:cNvPr>
          <p:cNvCxnSpPr/>
          <p:nvPr/>
        </p:nvCxnSpPr>
        <p:spPr>
          <a:xfrm>
            <a:off x="4064000" y="4457700"/>
            <a:ext cx="75692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4DC5FF3-F8BF-B098-2E20-E1D04A2662E8}"/>
              </a:ext>
            </a:extLst>
          </p:cNvPr>
          <p:cNvSpPr txBox="1"/>
          <p:nvPr/>
        </p:nvSpPr>
        <p:spPr>
          <a:xfrm>
            <a:off x="4064000" y="45720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Replay</a:t>
            </a:r>
            <a:endParaRPr lang="zh-CN" altLang="en-US" sz="1200" b="1">
              <a:solidFill>
                <a:srgbClr val="26776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DB7BE50-7983-6D17-D753-74E46598DAB4}"/>
              </a:ext>
            </a:extLst>
          </p:cNvPr>
          <p:cNvSpPr txBox="1"/>
          <p:nvPr/>
        </p:nvSpPr>
        <p:spPr>
          <a:xfrm>
            <a:off x="5257800" y="4572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审计回放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5B85DA-1B68-75E4-FD8E-C6265501987B}"/>
              </a:ext>
            </a:extLst>
          </p:cNvPr>
          <p:cNvSpPr txBox="1"/>
          <p:nvPr/>
        </p:nvSpPr>
        <p:spPr>
          <a:xfrm>
            <a:off x="7188200" y="4572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从任意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step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复现历史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Run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，用于排障、审计与复核。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FA90131-2601-2CF2-9467-6639ED104594}"/>
              </a:ext>
            </a:extLst>
          </p:cNvPr>
          <p:cNvCxnSpPr/>
          <p:nvPr/>
        </p:nvCxnSpPr>
        <p:spPr>
          <a:xfrm>
            <a:off x="4064000" y="5321300"/>
            <a:ext cx="75692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57389B69-DD9E-4473-C214-E2BE541667B1}"/>
              </a:ext>
            </a:extLst>
          </p:cNvPr>
          <p:cNvSpPr/>
          <p:nvPr/>
        </p:nvSpPr>
        <p:spPr>
          <a:xfrm>
            <a:off x="4064000" y="5676900"/>
            <a:ext cx="7569200" cy="482600"/>
          </a:xfrm>
          <a:prstGeom prst="rect">
            <a:avLst/>
          </a:prstGeom>
          <a:solidFill>
            <a:srgbClr val="EBF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4D275EC-FC3B-0065-A4EA-0FD2E202040A}"/>
              </a:ext>
            </a:extLst>
          </p:cNvPr>
          <p:cNvSpPr txBox="1"/>
          <p:nvPr/>
        </p:nvSpPr>
        <p:spPr>
          <a:xfrm>
            <a:off x="4241800" y="5765800"/>
            <a:ext cx="721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大模型输出经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Schema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校验、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Policy Guard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与工具白名单过滤；模型不可用时自动回落规则模式。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6682FF6-77CE-2461-2BAE-ACDD2A6C8C6B}"/>
              </a:ext>
            </a:extLst>
          </p:cNvPr>
          <p:cNvCxnSpPr/>
          <p:nvPr/>
        </p:nvCxnSpPr>
        <p:spPr>
          <a:xfrm>
            <a:off x="39878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C79514C-C1F3-9904-235D-9DEA402171C9}"/>
              </a:ext>
            </a:extLst>
          </p:cNvPr>
          <p:cNvCxnSpPr/>
          <p:nvPr/>
        </p:nvCxnSpPr>
        <p:spPr>
          <a:xfrm>
            <a:off x="4089400" y="53086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2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Canvas background">
            <a:extLst>
              <a:ext uri="{FF2B5EF4-FFF2-40B4-BE49-F238E27FC236}">
                <a16:creationId xmlns:a16="http://schemas.microsoft.com/office/drawing/2014/main" id="{03071391-3326-7B6D-3393-9712EBA64B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6" name="Template content panel">
            <a:extLst>
              <a:ext uri="{FF2B5EF4-FFF2-40B4-BE49-F238E27FC236}">
                <a16:creationId xmlns:a16="http://schemas.microsoft.com/office/drawing/2014/main" id="{6EB9B536-ECF9-C9FC-552D-3AB1FC0DF6E8}"/>
              </a:ext>
            </a:extLst>
          </p:cNvPr>
          <p:cNvSpPr/>
          <p:nvPr/>
        </p:nvSpPr>
        <p:spPr>
          <a:xfrm>
            <a:off x="457200" y="5143500"/>
            <a:ext cx="11252200" cy="1041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mplate content panel">
            <a:extLst>
              <a:ext uri="{FF2B5EF4-FFF2-40B4-BE49-F238E27FC236}">
                <a16:creationId xmlns:a16="http://schemas.microsoft.com/office/drawing/2014/main" id="{5C3C34C4-DDE5-CB5B-301A-2B44968C9A46}"/>
              </a:ext>
            </a:extLst>
          </p:cNvPr>
          <p:cNvSpPr/>
          <p:nvPr/>
        </p:nvSpPr>
        <p:spPr>
          <a:xfrm>
            <a:off x="457200" y="1600200"/>
            <a:ext cx="11252200" cy="32385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E45EC7-DEC2-7B82-53F8-E6F1E53BBC35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AF6958-D2D9-5BAE-B295-E75DB1E973F5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85E5078-3A1A-ABE0-CB65-D15FC6B2C78F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7763D1-6FE2-596C-2B0C-9D06EDAF0C33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智能体与可信流转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A86B786-D142-926C-A7E8-A666DFD3A408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F2CB0E5-3AFE-581F-BAE8-B079BF649072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67694A0-D377-0FAF-CAA2-C0785243CF05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失败原因必须结构化，重规划不能让历史消失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F52979-6711-4B8F-5B73-1A215359F28D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Run </a:t>
            </a:r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状态机覆盖策略、审批、执行、观测与验证；异常进入 </a:t>
            </a:r>
            <a:r>
              <a:rPr lang="en-US" altLang="zh-CN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Replanner </a:t>
            </a:r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或安全终止。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EC36790-76F7-58DD-9C8F-FC07C3B77A5C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A112CB8-2EF2-4584-3353-EFA5687EB319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BBBD1C-80EC-29D9-4B51-C33FEBFCE024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11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89B554C-7259-5F28-6897-8631A4B49887}"/>
              </a:ext>
            </a:extLst>
          </p:cNvPr>
          <p:cNvSpPr/>
          <p:nvPr/>
        </p:nvSpPr>
        <p:spPr>
          <a:xfrm>
            <a:off x="558800" y="2108200"/>
            <a:ext cx="1320800" cy="558800"/>
          </a:xfrm>
          <a:prstGeom prst="roundRect">
            <a:avLst/>
          </a:prstGeom>
          <a:solidFill>
            <a:srgbClr val="F8F8F4"/>
          </a:solidFill>
          <a:ln w="12700">
            <a:solidFill>
              <a:srgbClr val="5F6C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CB158E-E9F9-E67D-67E1-7EED951B46D5}"/>
              </a:ext>
            </a:extLst>
          </p:cNvPr>
          <p:cNvSpPr txBox="1"/>
          <p:nvPr/>
        </p:nvSpPr>
        <p:spPr>
          <a:xfrm>
            <a:off x="558800" y="2108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created</a:t>
            </a:r>
            <a:endParaRPr lang="zh-CN" altLang="en-US" sz="120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3641E62-3743-1D5A-A0BF-E56715554284}"/>
              </a:ext>
            </a:extLst>
          </p:cNvPr>
          <p:cNvCxnSpPr/>
          <p:nvPr/>
        </p:nvCxnSpPr>
        <p:spPr>
          <a:xfrm>
            <a:off x="1879600" y="2387600"/>
            <a:ext cx="381000" cy="0"/>
          </a:xfrm>
          <a:prstGeom prst="line">
            <a:avLst/>
          </a:prstGeom>
          <a:ln w="15240">
            <a:solidFill>
              <a:srgbClr val="D9DFDC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1EB7575-5C66-667C-7417-569E7A4BE7DD}"/>
              </a:ext>
            </a:extLst>
          </p:cNvPr>
          <p:cNvSpPr/>
          <p:nvPr/>
        </p:nvSpPr>
        <p:spPr>
          <a:xfrm>
            <a:off x="2260600" y="2108200"/>
            <a:ext cx="1320800" cy="558800"/>
          </a:xfrm>
          <a:prstGeom prst="roundRect">
            <a:avLst/>
          </a:prstGeom>
          <a:solidFill>
            <a:srgbClr val="F8F8F4"/>
          </a:solidFill>
          <a:ln w="12700">
            <a:solidFill>
              <a:srgbClr val="2858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44E1C64-E1C0-7EC9-7A0C-AD18B5C7885D}"/>
              </a:ext>
            </a:extLst>
          </p:cNvPr>
          <p:cNvSpPr txBox="1"/>
          <p:nvPr/>
        </p:nvSpPr>
        <p:spPr>
          <a:xfrm>
            <a:off x="2260600" y="2108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planning</a:t>
            </a:r>
            <a:endParaRPr lang="zh-CN" altLang="en-US" sz="120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722E0F5-296D-B728-A61F-71184668B0F4}"/>
              </a:ext>
            </a:extLst>
          </p:cNvPr>
          <p:cNvCxnSpPr/>
          <p:nvPr/>
        </p:nvCxnSpPr>
        <p:spPr>
          <a:xfrm>
            <a:off x="3581400" y="2387600"/>
            <a:ext cx="381000" cy="0"/>
          </a:xfrm>
          <a:prstGeom prst="line">
            <a:avLst/>
          </a:prstGeom>
          <a:ln w="15240">
            <a:solidFill>
              <a:srgbClr val="D9DFDC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3F0CDCA-F460-2601-A34C-3C432C677FD9}"/>
              </a:ext>
            </a:extLst>
          </p:cNvPr>
          <p:cNvSpPr/>
          <p:nvPr/>
        </p:nvSpPr>
        <p:spPr>
          <a:xfrm>
            <a:off x="3962400" y="2108200"/>
            <a:ext cx="1320800" cy="558800"/>
          </a:xfrm>
          <a:prstGeom prst="roundRect">
            <a:avLst/>
          </a:prstGeom>
          <a:solidFill>
            <a:srgbClr val="F8F8F4"/>
          </a:solidFill>
          <a:ln w="12700">
            <a:solidFill>
              <a:srgbClr val="A874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1DB3D0-924F-2A5A-ED56-424B4818AC87}"/>
              </a:ext>
            </a:extLst>
          </p:cNvPr>
          <p:cNvSpPr txBox="1"/>
          <p:nvPr/>
        </p:nvSpPr>
        <p:spPr>
          <a:xfrm>
            <a:off x="3962400" y="2108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approval</a:t>
            </a:r>
            <a:endParaRPr lang="zh-CN" altLang="en-US" sz="120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E0E7BE-B34B-5551-B268-75C6E3586E23}"/>
              </a:ext>
            </a:extLst>
          </p:cNvPr>
          <p:cNvCxnSpPr/>
          <p:nvPr/>
        </p:nvCxnSpPr>
        <p:spPr>
          <a:xfrm>
            <a:off x="5283200" y="2387600"/>
            <a:ext cx="381000" cy="0"/>
          </a:xfrm>
          <a:prstGeom prst="line">
            <a:avLst/>
          </a:prstGeom>
          <a:ln w="15240">
            <a:solidFill>
              <a:srgbClr val="D9DFDC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AFAC8BA-38E3-5FDA-8391-EFBC4707572C}"/>
              </a:ext>
            </a:extLst>
          </p:cNvPr>
          <p:cNvSpPr/>
          <p:nvPr/>
        </p:nvSpPr>
        <p:spPr>
          <a:xfrm>
            <a:off x="5664200" y="2108200"/>
            <a:ext cx="1320800" cy="558800"/>
          </a:xfrm>
          <a:prstGeom prst="roundRect">
            <a:avLst/>
          </a:prstGeom>
          <a:solidFill>
            <a:srgbClr val="F8F8F4"/>
          </a:solidFill>
          <a:ln w="12700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D0EB17-528B-A8D6-EB00-E055B81E1B79}"/>
              </a:ext>
            </a:extLst>
          </p:cNvPr>
          <p:cNvSpPr txBox="1"/>
          <p:nvPr/>
        </p:nvSpPr>
        <p:spPr>
          <a:xfrm>
            <a:off x="5664200" y="2108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executing</a:t>
            </a:r>
            <a:endParaRPr lang="zh-CN" altLang="en-US" sz="120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9373E4D-6385-463D-9CEF-093716CF17F7}"/>
              </a:ext>
            </a:extLst>
          </p:cNvPr>
          <p:cNvCxnSpPr/>
          <p:nvPr/>
        </p:nvCxnSpPr>
        <p:spPr>
          <a:xfrm>
            <a:off x="6985000" y="2387600"/>
            <a:ext cx="381000" cy="0"/>
          </a:xfrm>
          <a:prstGeom prst="line">
            <a:avLst/>
          </a:prstGeom>
          <a:ln w="15240">
            <a:solidFill>
              <a:srgbClr val="D9DFDC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9B7BFAC-EF4A-7C38-29F5-B24AF74F5E44}"/>
              </a:ext>
            </a:extLst>
          </p:cNvPr>
          <p:cNvSpPr/>
          <p:nvPr/>
        </p:nvSpPr>
        <p:spPr>
          <a:xfrm>
            <a:off x="7366000" y="2108200"/>
            <a:ext cx="1320800" cy="558800"/>
          </a:xfrm>
          <a:prstGeom prst="roundRect">
            <a:avLst/>
          </a:prstGeom>
          <a:solidFill>
            <a:srgbClr val="F8F8F4"/>
          </a:solidFill>
          <a:ln w="12700">
            <a:solidFill>
              <a:srgbClr val="2858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A1E70EB-74D4-2C68-E058-81CC2CEA80F9}"/>
              </a:ext>
            </a:extLst>
          </p:cNvPr>
          <p:cNvSpPr txBox="1"/>
          <p:nvPr/>
        </p:nvSpPr>
        <p:spPr>
          <a:xfrm>
            <a:off x="7366000" y="2108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observing</a:t>
            </a:r>
            <a:endParaRPr lang="zh-CN" altLang="en-US" sz="120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04DBEF7-ADB3-DFCE-F0C9-42023C0ED192}"/>
              </a:ext>
            </a:extLst>
          </p:cNvPr>
          <p:cNvCxnSpPr/>
          <p:nvPr/>
        </p:nvCxnSpPr>
        <p:spPr>
          <a:xfrm>
            <a:off x="8686800" y="2387600"/>
            <a:ext cx="381000" cy="0"/>
          </a:xfrm>
          <a:prstGeom prst="line">
            <a:avLst/>
          </a:prstGeom>
          <a:ln w="15240">
            <a:solidFill>
              <a:srgbClr val="D9DFDC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664E034-17DC-799A-0D3C-3FDC7F43CB16}"/>
              </a:ext>
            </a:extLst>
          </p:cNvPr>
          <p:cNvSpPr/>
          <p:nvPr/>
        </p:nvSpPr>
        <p:spPr>
          <a:xfrm>
            <a:off x="9067800" y="2108200"/>
            <a:ext cx="1320800" cy="558800"/>
          </a:xfrm>
          <a:prstGeom prst="roundRect">
            <a:avLst/>
          </a:prstGeom>
          <a:solidFill>
            <a:srgbClr val="F8F8F4"/>
          </a:solidFill>
          <a:ln w="12700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186C7E3-E7FD-9FD4-BBA5-01AF3EABD58E}"/>
              </a:ext>
            </a:extLst>
          </p:cNvPr>
          <p:cNvSpPr txBox="1"/>
          <p:nvPr/>
        </p:nvSpPr>
        <p:spPr>
          <a:xfrm>
            <a:off x="9067800" y="2108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verifying</a:t>
            </a:r>
            <a:endParaRPr lang="zh-CN" altLang="en-US" sz="120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1DE340D-6511-01C4-9976-FD4C21FBBA59}"/>
              </a:ext>
            </a:extLst>
          </p:cNvPr>
          <p:cNvCxnSpPr/>
          <p:nvPr/>
        </p:nvCxnSpPr>
        <p:spPr>
          <a:xfrm>
            <a:off x="10388600" y="2387600"/>
            <a:ext cx="177800" cy="0"/>
          </a:xfrm>
          <a:prstGeom prst="line">
            <a:avLst/>
          </a:prstGeom>
          <a:ln w="15240">
            <a:solidFill>
              <a:srgbClr val="D9DFDC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A558AAF-5418-BD43-BB84-59DB159FACF5}"/>
              </a:ext>
            </a:extLst>
          </p:cNvPr>
          <p:cNvSpPr/>
          <p:nvPr/>
        </p:nvSpPr>
        <p:spPr>
          <a:xfrm>
            <a:off x="10566400" y="2108200"/>
            <a:ext cx="1066800" cy="558800"/>
          </a:xfrm>
          <a:prstGeom prst="roundRect">
            <a:avLst/>
          </a:prstGeom>
          <a:solidFill>
            <a:srgbClr val="26776F"/>
          </a:solidFill>
          <a:ln w="12700">
            <a:solidFill>
              <a:srgbClr val="267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B7B47CE-E2E1-5760-5107-D6C776F57166}"/>
              </a:ext>
            </a:extLst>
          </p:cNvPr>
          <p:cNvSpPr txBox="1"/>
          <p:nvPr/>
        </p:nvSpPr>
        <p:spPr>
          <a:xfrm>
            <a:off x="10566400" y="21082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succeeded</a:t>
            </a:r>
            <a:endParaRPr lang="zh-CN" altLang="en-US" sz="120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F00A66E-D02B-37A9-CB08-5B288CEA0149}"/>
              </a:ext>
            </a:extLst>
          </p:cNvPr>
          <p:cNvCxnSpPr/>
          <p:nvPr/>
        </p:nvCxnSpPr>
        <p:spPr>
          <a:xfrm>
            <a:off x="8280400" y="2794000"/>
            <a:ext cx="0" cy="1257300"/>
          </a:xfrm>
          <a:prstGeom prst="line">
            <a:avLst/>
          </a:prstGeom>
          <a:ln w="12700">
            <a:solidFill>
              <a:srgbClr val="D9DFDC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706D952-DAAD-7BDF-BF5B-0FBADB33474A}"/>
              </a:ext>
            </a:extLst>
          </p:cNvPr>
          <p:cNvCxnSpPr/>
          <p:nvPr/>
        </p:nvCxnSpPr>
        <p:spPr>
          <a:xfrm flipH="1">
            <a:off x="8636000" y="2794000"/>
            <a:ext cx="1600200" cy="1257300"/>
          </a:xfrm>
          <a:prstGeom prst="line">
            <a:avLst/>
          </a:prstGeom>
          <a:ln w="12700">
            <a:solidFill>
              <a:srgbClr val="D9DFDC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B05D2F2-D8DC-AE47-A410-9D4C9E466FDA}"/>
              </a:ext>
            </a:extLst>
          </p:cNvPr>
          <p:cNvSpPr/>
          <p:nvPr/>
        </p:nvSpPr>
        <p:spPr>
          <a:xfrm>
            <a:off x="7289800" y="4064000"/>
            <a:ext cx="2921000" cy="584200"/>
          </a:xfrm>
          <a:prstGeom prst="roundRect">
            <a:avLst/>
          </a:prstGeom>
          <a:solidFill>
            <a:srgbClr val="F8EDE9"/>
          </a:solidFill>
          <a:ln w="12700">
            <a:solidFill>
              <a:srgbClr val="B25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F6B4F3D-66CB-355D-FD4F-FCF414E4E94F}"/>
              </a:ext>
            </a:extLst>
          </p:cNvPr>
          <p:cNvSpPr txBox="1"/>
          <p:nvPr/>
        </p:nvSpPr>
        <p:spPr>
          <a:xfrm>
            <a:off x="7289800" y="4064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failed / cancelled / expired</a:t>
            </a:r>
            <a:endParaRPr lang="zh-CN" altLang="en-US" sz="1200" b="1">
              <a:solidFill>
                <a:srgbClr val="B25847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DDC9C0E-0602-DF0F-AE67-9AA2AA487E34}"/>
              </a:ext>
            </a:extLst>
          </p:cNvPr>
          <p:cNvSpPr txBox="1"/>
          <p:nvPr/>
        </p:nvSpPr>
        <p:spPr>
          <a:xfrm>
            <a:off x="8890000" y="34925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Replanner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BBAC6A6-29E6-C030-B345-1DFBC538A4CC}"/>
              </a:ext>
            </a:extLst>
          </p:cNvPr>
          <p:cNvCxnSpPr/>
          <p:nvPr/>
        </p:nvCxnSpPr>
        <p:spPr>
          <a:xfrm flipH="1">
            <a:off x="8763000" y="3759200"/>
            <a:ext cx="127000" cy="292100"/>
          </a:xfrm>
          <a:prstGeom prst="line">
            <a:avLst/>
          </a:prstGeom>
          <a:ln w="1778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DC76DAC-DED7-D1AD-1EE3-5CD7839D979A}"/>
              </a:ext>
            </a:extLst>
          </p:cNvPr>
          <p:cNvSpPr txBox="1"/>
          <p:nvPr/>
        </p:nvSpPr>
        <p:spPr>
          <a:xfrm>
            <a:off x="558800" y="4889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结构化失败原因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A136CBFC-78F3-F890-93D7-70982AC8AF60}"/>
              </a:ext>
            </a:extLst>
          </p:cNvPr>
          <p:cNvSpPr/>
          <p:nvPr/>
        </p:nvSpPr>
        <p:spPr>
          <a:xfrm>
            <a:off x="558800" y="53721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451E2C7-AC5D-BB04-D4BC-308D100E9335}"/>
              </a:ext>
            </a:extLst>
          </p:cNvPr>
          <p:cNvSpPr txBox="1"/>
          <p:nvPr/>
        </p:nvSpPr>
        <p:spPr>
          <a:xfrm>
            <a:off x="736600" y="5283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no_robot_available</a:t>
            </a:r>
            <a:endParaRPr lang="zh-CN" altLang="en-US" sz="1200">
              <a:solidFill>
                <a:srgbClr val="1B2730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7D8AEF01-FC81-EE4B-2B13-0F3C982114C6}"/>
              </a:ext>
            </a:extLst>
          </p:cNvPr>
          <p:cNvSpPr/>
          <p:nvPr/>
        </p:nvSpPr>
        <p:spPr>
          <a:xfrm>
            <a:off x="4191000" y="53721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A960DDB-68CC-3ADA-0F29-C1F25D399B95}"/>
              </a:ext>
            </a:extLst>
          </p:cNvPr>
          <p:cNvSpPr txBox="1"/>
          <p:nvPr/>
        </p:nvSpPr>
        <p:spPr>
          <a:xfrm>
            <a:off x="4368800" y="5283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tool_timeout</a:t>
            </a:r>
            <a:endParaRPr lang="zh-CN" altLang="en-US" sz="1200">
              <a:solidFill>
                <a:srgbClr val="1B2730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354EC451-D1B1-D9B6-733C-7C636A4123EA}"/>
              </a:ext>
            </a:extLst>
          </p:cNvPr>
          <p:cNvSpPr/>
          <p:nvPr/>
        </p:nvSpPr>
        <p:spPr>
          <a:xfrm>
            <a:off x="7823200" y="53721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AEE62FF-F8DA-9C9D-5B81-6B599AC2D228}"/>
              </a:ext>
            </a:extLst>
          </p:cNvPr>
          <p:cNvSpPr txBox="1"/>
          <p:nvPr/>
        </p:nvSpPr>
        <p:spPr>
          <a:xfrm>
            <a:off x="8001000" y="5283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policy_denied</a:t>
            </a:r>
            <a:endParaRPr lang="zh-CN" altLang="en-US" sz="1200">
              <a:solidFill>
                <a:srgbClr val="1B2730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AEDB4335-BFC7-083B-C44F-A27664DC01F3}"/>
              </a:ext>
            </a:extLst>
          </p:cNvPr>
          <p:cNvSpPr/>
          <p:nvPr/>
        </p:nvSpPr>
        <p:spPr>
          <a:xfrm>
            <a:off x="558800" y="57277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7BA8EDC-6F64-B60B-FCBD-D2800BC14D12}"/>
              </a:ext>
            </a:extLst>
          </p:cNvPr>
          <p:cNvSpPr txBox="1"/>
          <p:nvPr/>
        </p:nvSpPr>
        <p:spPr>
          <a:xfrm>
            <a:off x="736600" y="5638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approval_rejected</a:t>
            </a:r>
            <a:endParaRPr lang="zh-CN" altLang="en-US" sz="1200">
              <a:solidFill>
                <a:srgbClr val="1B2730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9EADFF00-DE08-97A2-A8C7-6717FDB9CC31}"/>
              </a:ext>
            </a:extLst>
          </p:cNvPr>
          <p:cNvSpPr/>
          <p:nvPr/>
        </p:nvSpPr>
        <p:spPr>
          <a:xfrm>
            <a:off x="4191000" y="57277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68EDA2A-D5ED-CE09-B275-6CD0330FCF7D}"/>
              </a:ext>
            </a:extLst>
          </p:cNvPr>
          <p:cNvSpPr txBox="1"/>
          <p:nvPr/>
        </p:nvSpPr>
        <p:spPr>
          <a:xfrm>
            <a:off x="4368800" y="5638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task_conflict</a:t>
            </a:r>
            <a:endParaRPr lang="zh-CN" altLang="en-US" sz="1200">
              <a:solidFill>
                <a:srgbClr val="1B2730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81998051-BBA6-5DDE-23B5-A696BC084E18}"/>
              </a:ext>
            </a:extLst>
          </p:cNvPr>
          <p:cNvSpPr/>
          <p:nvPr/>
        </p:nvSpPr>
        <p:spPr>
          <a:xfrm>
            <a:off x="7823200" y="57277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B47B0F8-0DD9-11AD-FB49-2B17EE22291D}"/>
              </a:ext>
            </a:extLst>
          </p:cNvPr>
          <p:cNvSpPr txBox="1"/>
          <p:nvPr/>
        </p:nvSpPr>
        <p:spPr>
          <a:xfrm>
            <a:off x="8001000" y="5638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max_steps_exceeded</a:t>
            </a:r>
            <a:endParaRPr lang="zh-CN" altLang="en-US" sz="1200">
              <a:solidFill>
                <a:srgbClr val="1B2730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F80F077-4911-2ACB-041B-AAEE24BBA80A}"/>
              </a:ext>
            </a:extLst>
          </p:cNvPr>
          <p:cNvSpPr txBox="1"/>
          <p:nvPr/>
        </p:nvSpPr>
        <p:spPr>
          <a:xfrm>
            <a:off x="558800" y="59182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模型不可用时自动回落规则模式，系统核心治理闭环不中断。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10A1E3D-C46C-74EB-106E-DD3533F84EDC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A62DCB8-0CBB-DEB8-DF19-B00683E57415}"/>
              </a:ext>
            </a:extLst>
          </p:cNvPr>
          <p:cNvCxnSpPr/>
          <p:nvPr/>
        </p:nvCxnSpPr>
        <p:spPr>
          <a:xfrm>
            <a:off x="635000" y="51562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628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Canvas background">
            <a:extLst>
              <a:ext uri="{FF2B5EF4-FFF2-40B4-BE49-F238E27FC236}">
                <a16:creationId xmlns:a16="http://schemas.microsoft.com/office/drawing/2014/main" id="{04294DE6-FD62-1CAE-9222-D807BA7951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9" name="Template content panel">
            <a:extLst>
              <a:ext uri="{FF2B5EF4-FFF2-40B4-BE49-F238E27FC236}">
                <a16:creationId xmlns:a16="http://schemas.microsoft.com/office/drawing/2014/main" id="{FE0A44CB-D23D-85DC-9036-55A03649E5AC}"/>
              </a:ext>
            </a:extLst>
          </p:cNvPr>
          <p:cNvSpPr/>
          <p:nvPr/>
        </p:nvSpPr>
        <p:spPr>
          <a:xfrm>
            <a:off x="457200" y="1600200"/>
            <a:ext cx="11252200" cy="4470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241545-35C5-CE61-7B59-43AE72ABB03C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D23D0A-140A-130A-A603-A92949A548DF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93C0DB6-93BC-1892-5B84-7C0D61BB0B72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35DBD4-0885-62D5-900C-9E36FA1BED04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智能体与可信流转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E6A5E3B-8132-5178-83FC-704B1E107198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92DB561-A962-B4DB-7A47-35BE0F79EBA1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5298530-5A6E-B8C6-55D3-8289C8B37193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证据链内建：每个结论都能回答“从哪里来”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892C07-30BE-3AC6-9248-ECA1C2436C2A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设备重复上报、非法状态跳转、</a:t>
            </a:r>
            <a:r>
              <a:rPr lang="en-US" altLang="zh-CN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ACK </a:t>
            </a:r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超时和空数据都不被静默忽略。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991101E-F2C1-69C1-BCE2-16349B06345F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DB85D16-0D0F-2D2E-27B6-5612CEA8E397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87BE97-C7D1-DA20-6F40-540FC8FFF9F4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12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658A72-6085-BF5F-DE12-4CECDA73C10D}"/>
              </a:ext>
            </a:extLst>
          </p:cNvPr>
          <p:cNvSpPr txBox="1"/>
          <p:nvPr/>
        </p:nvSpPr>
        <p:spPr>
          <a:xfrm>
            <a:off x="558800" y="18415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防护机制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8923A1-5D5F-B925-D8FA-78BD6B6F6F0A}"/>
              </a:ext>
            </a:extLst>
          </p:cNvPr>
          <p:cNvSpPr txBox="1"/>
          <p:nvPr/>
        </p:nvSpPr>
        <p:spPr>
          <a:xfrm>
            <a:off x="2438400" y="1841500"/>
            <a:ext cx="264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对应失效方式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522FB1-8838-47D7-E6C9-194371F30D42}"/>
              </a:ext>
            </a:extLst>
          </p:cNvPr>
          <p:cNvSpPr txBox="1"/>
          <p:nvPr/>
        </p:nvSpPr>
        <p:spPr>
          <a:xfrm>
            <a:off x="5461000" y="1841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系统处理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9861EEF-03CE-B538-6A21-526798576378}"/>
              </a:ext>
            </a:extLst>
          </p:cNvPr>
          <p:cNvCxnSpPr/>
          <p:nvPr/>
        </p:nvCxnSpPr>
        <p:spPr>
          <a:xfrm>
            <a:off x="558800" y="2159000"/>
            <a:ext cx="11074400" cy="0"/>
          </a:xfrm>
          <a:prstGeom prst="line">
            <a:avLst/>
          </a:prstGeom>
          <a:ln w="12700">
            <a:solidFill>
              <a:srgbClr val="091B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3979D3A-F6FE-1AB6-94D7-AA61A84E7533}"/>
              </a:ext>
            </a:extLst>
          </p:cNvPr>
          <p:cNvSpPr/>
          <p:nvPr/>
        </p:nvSpPr>
        <p:spPr>
          <a:xfrm>
            <a:off x="558800" y="2374900"/>
            <a:ext cx="63500" cy="3302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593E42-EB60-A052-34D8-C4A3281635AF}"/>
              </a:ext>
            </a:extLst>
          </p:cNvPr>
          <p:cNvSpPr txBox="1"/>
          <p:nvPr/>
        </p:nvSpPr>
        <p:spPr>
          <a:xfrm>
            <a:off x="762000" y="22987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双重幂等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86DAE3-E271-FC59-1B4A-137AB4D413A8}"/>
              </a:ext>
            </a:extLst>
          </p:cNvPr>
          <p:cNvSpPr txBox="1"/>
          <p:nvPr/>
        </p:nvSpPr>
        <p:spPr>
          <a:xfrm>
            <a:off x="2438400" y="23114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重复上报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网络重传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229614-BE04-16A2-D7B5-50DF6A8755E3}"/>
              </a:ext>
            </a:extLst>
          </p:cNvPr>
          <p:cNvSpPr txBox="1"/>
          <p:nvPr/>
        </p:nvSpPr>
        <p:spPr>
          <a:xfrm>
            <a:off x="5461000" y="23114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(device_id, seq)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与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event_id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双重判重，重复提交不重复建单。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3CAFAF-2EA7-D377-A542-11F36597465E}"/>
              </a:ext>
            </a:extLst>
          </p:cNvPr>
          <p:cNvCxnSpPr/>
          <p:nvPr/>
        </p:nvCxnSpPr>
        <p:spPr>
          <a:xfrm>
            <a:off x="558800" y="28067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5F5C018-46B0-0BB6-D62D-2BB269227052}"/>
              </a:ext>
            </a:extLst>
          </p:cNvPr>
          <p:cNvSpPr/>
          <p:nvPr/>
        </p:nvSpPr>
        <p:spPr>
          <a:xfrm>
            <a:off x="558800" y="2959100"/>
            <a:ext cx="63500" cy="3302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BA4AFD-56FC-7ECA-8769-84931B799B87}"/>
              </a:ext>
            </a:extLst>
          </p:cNvPr>
          <p:cNvSpPr txBox="1"/>
          <p:nvPr/>
        </p:nvSpPr>
        <p:spPr>
          <a:xfrm>
            <a:off x="762000" y="28829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状态机守卫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2DE55C8-C8B2-F415-F1A3-3829A2136795}"/>
              </a:ext>
            </a:extLst>
          </p:cNvPr>
          <p:cNvSpPr txBox="1"/>
          <p:nvPr/>
        </p:nvSpPr>
        <p:spPr>
          <a:xfrm>
            <a:off x="2438400" y="28956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未派单直接完成等非法跳转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900490-60B1-7EF6-1533-9F9AB32CEAC9}"/>
              </a:ext>
            </a:extLst>
          </p:cNvPr>
          <p:cNvSpPr txBox="1"/>
          <p:nvPr/>
        </p:nvSpPr>
        <p:spPr>
          <a:xfrm>
            <a:off x="5461000" y="28956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显式允许的迁移表，非法迁移直接拒绝并留痕。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3007074-27FB-33A4-5365-E5B11226A512}"/>
              </a:ext>
            </a:extLst>
          </p:cNvPr>
          <p:cNvCxnSpPr/>
          <p:nvPr/>
        </p:nvCxnSpPr>
        <p:spPr>
          <a:xfrm>
            <a:off x="558800" y="33909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476C9A5-E563-4974-C314-285F6392FDA6}"/>
              </a:ext>
            </a:extLst>
          </p:cNvPr>
          <p:cNvSpPr/>
          <p:nvPr/>
        </p:nvSpPr>
        <p:spPr>
          <a:xfrm>
            <a:off x="558800" y="3543300"/>
            <a:ext cx="63500" cy="3302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B1D6709-DD87-1AE8-AAC4-1F41FB1567DB}"/>
              </a:ext>
            </a:extLst>
          </p:cNvPr>
          <p:cNvSpPr txBox="1"/>
          <p:nvPr/>
        </p:nvSpPr>
        <p:spPr>
          <a:xfrm>
            <a:off x="762000" y="34671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ACK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超时恢复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05BCDA3-3933-0DE1-B507-2BF994A0962B}"/>
              </a:ext>
            </a:extLst>
          </p:cNvPr>
          <p:cNvSpPr txBox="1"/>
          <p:nvPr/>
        </p:nvSpPr>
        <p:spPr>
          <a:xfrm>
            <a:off x="2438400" y="34798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设备收到指令但未确认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C61A7A-C78E-8501-6CBB-F50346FC8513}"/>
              </a:ext>
            </a:extLst>
          </p:cNvPr>
          <p:cNvSpPr txBox="1"/>
          <p:nvPr/>
        </p:nvSpPr>
        <p:spPr>
          <a:xfrm>
            <a:off x="5461000" y="34798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超时回退任务并换车重派，不重复创建任务。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3A05ECF-743E-6B9A-05B8-C95D23A47E3D}"/>
              </a:ext>
            </a:extLst>
          </p:cNvPr>
          <p:cNvCxnSpPr/>
          <p:nvPr/>
        </p:nvCxnSpPr>
        <p:spPr>
          <a:xfrm>
            <a:off x="558800" y="39751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8DA7B56A-013E-B897-4D86-931EBEFCC8DD}"/>
              </a:ext>
            </a:extLst>
          </p:cNvPr>
          <p:cNvSpPr/>
          <p:nvPr/>
        </p:nvSpPr>
        <p:spPr>
          <a:xfrm>
            <a:off x="558800" y="4127500"/>
            <a:ext cx="63500" cy="3302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6CF64E6-C17A-F7AE-9074-01D62B3D9BF6}"/>
              </a:ext>
            </a:extLst>
          </p:cNvPr>
          <p:cNvSpPr txBox="1"/>
          <p:nvPr/>
        </p:nvSpPr>
        <p:spPr>
          <a:xfrm>
            <a:off x="762000" y="40513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PEL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回收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90ADE4-1B94-DAEF-A1AA-770044888BB7}"/>
              </a:ext>
            </a:extLst>
          </p:cNvPr>
          <p:cNvSpPr txBox="1"/>
          <p:nvPr/>
        </p:nvSpPr>
        <p:spPr>
          <a:xfrm>
            <a:off x="2438400" y="40640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消费者崩溃导致消息滞留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16CECE4-1C05-51BC-31DF-889B5829C120}"/>
              </a:ext>
            </a:extLst>
          </p:cNvPr>
          <p:cNvSpPr txBox="1"/>
          <p:nvPr/>
        </p:nvSpPr>
        <p:spPr>
          <a:xfrm>
            <a:off x="5461000" y="40640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Redis Streams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消费组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Pending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消息回收。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51885A8-AE41-B2CF-5609-582165A6BAF4}"/>
              </a:ext>
            </a:extLst>
          </p:cNvPr>
          <p:cNvCxnSpPr/>
          <p:nvPr/>
        </p:nvCxnSpPr>
        <p:spPr>
          <a:xfrm>
            <a:off x="558800" y="45593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E571BA63-3B38-99CC-E896-98C91A91E17D}"/>
              </a:ext>
            </a:extLst>
          </p:cNvPr>
          <p:cNvSpPr/>
          <p:nvPr/>
        </p:nvSpPr>
        <p:spPr>
          <a:xfrm>
            <a:off x="558800" y="4711700"/>
            <a:ext cx="63500" cy="330200"/>
          </a:xfrm>
          <a:prstGeom prst="rect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10EBD8A-C635-33BA-C566-EF8781AB2A6B}"/>
              </a:ext>
            </a:extLst>
          </p:cNvPr>
          <p:cNvSpPr txBox="1"/>
          <p:nvPr/>
        </p:nvSpPr>
        <p:spPr>
          <a:xfrm>
            <a:off x="762000" y="46355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字段可空性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7529C1D-194E-40C9-BB3A-9D19DF2E1EEA}"/>
              </a:ext>
            </a:extLst>
          </p:cNvPr>
          <p:cNvSpPr txBox="1"/>
          <p:nvPr/>
        </p:nvSpPr>
        <p:spPr>
          <a:xfrm>
            <a:off x="2438400" y="46482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无数据源时输出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</a:t>
            </a:r>
            <a:endParaRPr lang="zh-CN" altLang="en-US" sz="1200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4B30CEC-98DC-033C-F333-695DF0423547}"/>
              </a:ext>
            </a:extLst>
          </p:cNvPr>
          <p:cNvSpPr txBox="1"/>
          <p:nvPr/>
        </p:nvSpPr>
        <p:spPr>
          <a:xfrm>
            <a:off x="5461000" y="46482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coverage_area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无来源时返回空，不伪造覆盖结论。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05DE9BD-B68A-327F-F925-8413515E61F1}"/>
              </a:ext>
            </a:extLst>
          </p:cNvPr>
          <p:cNvCxnSpPr/>
          <p:nvPr/>
        </p:nvCxnSpPr>
        <p:spPr>
          <a:xfrm>
            <a:off x="558800" y="51435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23EB6936-F7C3-9063-D3E5-13A430B03D3A}"/>
              </a:ext>
            </a:extLst>
          </p:cNvPr>
          <p:cNvSpPr/>
          <p:nvPr/>
        </p:nvSpPr>
        <p:spPr>
          <a:xfrm>
            <a:off x="558800" y="5295900"/>
            <a:ext cx="63500" cy="3302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F06E588-0991-BFB2-F932-A7C931747AFD}"/>
              </a:ext>
            </a:extLst>
          </p:cNvPr>
          <p:cNvSpPr txBox="1"/>
          <p:nvPr/>
        </p:nvSpPr>
        <p:spPr>
          <a:xfrm>
            <a:off x="762000" y="52197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操作留痕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33A7B6A-413E-1E55-4592-290C82EBB19F}"/>
              </a:ext>
            </a:extLst>
          </p:cNvPr>
          <p:cNvSpPr txBox="1"/>
          <p:nvPr/>
        </p:nvSpPr>
        <p:spPr>
          <a:xfrm>
            <a:off x="2438400" y="52324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谁在何时改了阈值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0C8DDC9-0D31-78D5-9289-C8E6362AB774}"/>
              </a:ext>
            </a:extLst>
          </p:cNvPr>
          <p:cNvSpPr txBox="1"/>
          <p:nvPr/>
        </p:nvSpPr>
        <p:spPr>
          <a:xfrm>
            <a:off x="5461000" y="52324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审计日志覆盖全部写操作与审批决定。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C152CDC-8F4A-A037-AACC-6D3976C82277}"/>
              </a:ext>
            </a:extLst>
          </p:cNvPr>
          <p:cNvCxnSpPr/>
          <p:nvPr/>
        </p:nvCxnSpPr>
        <p:spPr>
          <a:xfrm>
            <a:off x="558800" y="57277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D5ADBBA5-9AE3-27EB-5005-573AAD68F275}"/>
              </a:ext>
            </a:extLst>
          </p:cNvPr>
          <p:cNvSpPr/>
          <p:nvPr/>
        </p:nvSpPr>
        <p:spPr>
          <a:xfrm>
            <a:off x="558800" y="5892800"/>
            <a:ext cx="11074400" cy="431800"/>
          </a:xfrm>
          <a:prstGeom prst="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5626C6C-19A5-8641-CEEA-7D0D8CC904DB}"/>
              </a:ext>
            </a:extLst>
          </p:cNvPr>
          <p:cNvSpPr txBox="1"/>
          <p:nvPr/>
        </p:nvSpPr>
        <p:spPr>
          <a:xfrm>
            <a:off x="762000" y="5930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“无来源不写 </a:t>
            </a:r>
            <a:r>
              <a:rPr lang="en-US" altLang="zh-CN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0”</a:t>
            </a:r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：宁可留空，不可编造；所有关键结论保留来源、版本与回放轨迹。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DC9C35D-137C-D823-42B3-8D1B64A537CF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471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Canvas background">
            <a:extLst>
              <a:ext uri="{FF2B5EF4-FFF2-40B4-BE49-F238E27FC236}">
                <a16:creationId xmlns:a16="http://schemas.microsoft.com/office/drawing/2014/main" id="{F6779003-43E8-8B38-21AF-CC56F2BDBA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emplate content panel">
            <a:extLst>
              <a:ext uri="{FF2B5EF4-FFF2-40B4-BE49-F238E27FC236}">
                <a16:creationId xmlns:a16="http://schemas.microsoft.com/office/drawing/2014/main" id="{6AD1388F-90A2-3DF4-D4D2-141289DF0C28}"/>
              </a:ext>
            </a:extLst>
          </p:cNvPr>
          <p:cNvSpPr/>
          <p:nvPr/>
        </p:nvSpPr>
        <p:spPr>
          <a:xfrm>
            <a:off x="457200" y="5486400"/>
            <a:ext cx="11252200" cy="533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mplate content panel">
            <a:extLst>
              <a:ext uri="{FF2B5EF4-FFF2-40B4-BE49-F238E27FC236}">
                <a16:creationId xmlns:a16="http://schemas.microsoft.com/office/drawing/2014/main" id="{8F074328-C786-CF0D-CC45-338862FF4CE3}"/>
              </a:ext>
            </a:extLst>
          </p:cNvPr>
          <p:cNvSpPr/>
          <p:nvPr/>
        </p:nvSpPr>
        <p:spPr>
          <a:xfrm>
            <a:off x="7797800" y="3327400"/>
            <a:ext cx="3835400" cy="1549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Template content panel">
            <a:extLst>
              <a:ext uri="{FF2B5EF4-FFF2-40B4-BE49-F238E27FC236}">
                <a16:creationId xmlns:a16="http://schemas.microsoft.com/office/drawing/2014/main" id="{A240C070-A46A-7C9E-39BB-16F550D91C17}"/>
              </a:ext>
            </a:extLst>
          </p:cNvPr>
          <p:cNvSpPr/>
          <p:nvPr/>
        </p:nvSpPr>
        <p:spPr>
          <a:xfrm>
            <a:off x="3784600" y="3327400"/>
            <a:ext cx="3733800" cy="1549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mplate content panel">
            <a:extLst>
              <a:ext uri="{FF2B5EF4-FFF2-40B4-BE49-F238E27FC236}">
                <a16:creationId xmlns:a16="http://schemas.microsoft.com/office/drawing/2014/main" id="{66F24CD0-DD16-0A43-D930-159AB36221A6}"/>
              </a:ext>
            </a:extLst>
          </p:cNvPr>
          <p:cNvSpPr/>
          <p:nvPr/>
        </p:nvSpPr>
        <p:spPr>
          <a:xfrm>
            <a:off x="7797800" y="1676400"/>
            <a:ext cx="3835400" cy="1549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mplate content panel">
            <a:extLst>
              <a:ext uri="{FF2B5EF4-FFF2-40B4-BE49-F238E27FC236}">
                <a16:creationId xmlns:a16="http://schemas.microsoft.com/office/drawing/2014/main" id="{994AF85A-5744-4C45-4A5B-9D32095A6FE4}"/>
              </a:ext>
            </a:extLst>
          </p:cNvPr>
          <p:cNvSpPr/>
          <p:nvPr/>
        </p:nvSpPr>
        <p:spPr>
          <a:xfrm>
            <a:off x="3784600" y="1676400"/>
            <a:ext cx="3733800" cy="1549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mplate content panel">
            <a:extLst>
              <a:ext uri="{FF2B5EF4-FFF2-40B4-BE49-F238E27FC236}">
                <a16:creationId xmlns:a16="http://schemas.microsoft.com/office/drawing/2014/main" id="{D33A1E18-4B27-3AF7-109D-5B89086A141F}"/>
              </a:ext>
            </a:extLst>
          </p:cNvPr>
          <p:cNvSpPr/>
          <p:nvPr/>
        </p:nvSpPr>
        <p:spPr>
          <a:xfrm>
            <a:off x="457200" y="1676400"/>
            <a:ext cx="3302000" cy="3657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DC3369-B2AD-B11C-5630-2BEC2C44B790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0F5754-3F82-DC67-4905-EA8DC38CA30E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F9F974C-485A-DAB0-87EF-9C0C957F3AF3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AD22EC-A24D-24C9-F0B1-9463ABEE14CB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技术差异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F782A60-6CBE-F4DA-64F7-8A6D52D33858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F1A8186-D499-CBD2-16E7-29F5BC616E8F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2C602A4-E0C3-B18B-4C6F-63EBF1FDB1FA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技术差异不在模型参数，而在能否放进治理流程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711A53-921F-E5D6-1A28-C99CE3FD8913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开放词汇、时序验证、知识图谱与标准协议共同服务于可信闭环。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075B86E-120F-45D9-A05D-0B10B47322A8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EFEC2D0-CCF2-00FB-F814-CE58003FBCF7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FB9E8D-90F0-B008-CFBA-032A02254781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13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A27D10-DA69-7922-793F-93DD4497D254}"/>
              </a:ext>
            </a:extLst>
          </p:cNvPr>
          <p:cNvSpPr txBox="1"/>
          <p:nvPr/>
        </p:nvSpPr>
        <p:spPr>
          <a:xfrm>
            <a:off x="558800" y="1905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4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76%</a:t>
            </a:r>
            <a:endParaRPr lang="zh-CN" altLang="en-US" sz="44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5CE193-C80C-0E3A-D2A5-49132A06EE34}"/>
              </a:ext>
            </a:extLst>
          </p:cNvPr>
          <p:cNvSpPr txBox="1"/>
          <p:nvPr/>
        </p:nvSpPr>
        <p:spPr>
          <a:xfrm>
            <a:off x="558800" y="27178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合成海面测试中的时序链路过滤率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7E62CD-70F8-DF20-820B-04F6ADC54E4A}"/>
              </a:ext>
            </a:extLst>
          </p:cNvPr>
          <p:cNvSpPr txBox="1"/>
          <p:nvPr/>
        </p:nvSpPr>
        <p:spPr>
          <a:xfrm>
            <a:off x="558800" y="3175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口径：被过滤检测数 </a:t>
            </a:r>
            <a:r>
              <a:rPr lang="en-US" altLang="zh-CN" sz="1200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÷ </a:t>
            </a:r>
            <a:r>
              <a:rPr lang="zh-CN" altLang="en-US" sz="1200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输入检测总数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5BCED74-47F4-B457-7262-9EB7F54C963D}"/>
              </a:ext>
            </a:extLst>
          </p:cNvPr>
          <p:cNvSpPr txBox="1"/>
          <p:nvPr/>
        </p:nvSpPr>
        <p:spPr>
          <a:xfrm>
            <a:off x="558800" y="36068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不等于识别精度、召回率或准确率。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540C363-AC83-38C3-A01B-DC1CC3080426}"/>
              </a:ext>
            </a:extLst>
          </p:cNvPr>
          <p:cNvCxnSpPr/>
          <p:nvPr/>
        </p:nvCxnSpPr>
        <p:spPr>
          <a:xfrm>
            <a:off x="3937000" y="1905000"/>
            <a:ext cx="3429000" cy="0"/>
          </a:xfrm>
          <a:prstGeom prst="line">
            <a:avLst/>
          </a:prstGeom>
          <a:ln w="1270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7F1143F4-22E6-D7F7-F1A7-9567C8B7E016}"/>
              </a:ext>
            </a:extLst>
          </p:cNvPr>
          <p:cNvSpPr txBox="1"/>
          <p:nvPr/>
        </p:nvSpPr>
        <p:spPr>
          <a:xfrm>
            <a:off x="3937000" y="2057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FDFD80-D5BC-AE8E-5CEF-B454435A8582}"/>
              </a:ext>
            </a:extLst>
          </p:cNvPr>
          <p:cNvSpPr txBox="1"/>
          <p:nvPr/>
        </p:nvSpPr>
        <p:spPr>
          <a:xfrm>
            <a:off x="4419600" y="20320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开放词汇检测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6397FB-9796-8729-A8B6-86A1C91E7EED}"/>
              </a:ext>
            </a:extLst>
          </p:cNvPr>
          <p:cNvSpPr txBox="1"/>
          <p:nvPr/>
        </p:nvSpPr>
        <p:spPr>
          <a:xfrm>
            <a:off x="3937000" y="2451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支持按场景增加垃圾词条；独立测试集未放行前不宣称精度。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497761C-9C86-25FD-DE72-82B45CB226D1}"/>
              </a:ext>
            </a:extLst>
          </p:cNvPr>
          <p:cNvCxnSpPr/>
          <p:nvPr/>
        </p:nvCxnSpPr>
        <p:spPr>
          <a:xfrm>
            <a:off x="7797800" y="1905000"/>
            <a:ext cx="3429000" cy="0"/>
          </a:xfrm>
          <a:prstGeom prst="line">
            <a:avLst/>
          </a:prstGeom>
          <a:ln w="1270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BD1D40B-134F-8973-0161-1A3177C23857}"/>
              </a:ext>
            </a:extLst>
          </p:cNvPr>
          <p:cNvSpPr txBox="1"/>
          <p:nvPr/>
        </p:nvSpPr>
        <p:spPr>
          <a:xfrm>
            <a:off x="7797800" y="2057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BEB591-706B-488A-D358-D6FEF7513FB2}"/>
              </a:ext>
            </a:extLst>
          </p:cNvPr>
          <p:cNvSpPr txBox="1"/>
          <p:nvPr/>
        </p:nvSpPr>
        <p:spPr>
          <a:xfrm>
            <a:off x="8280400" y="20320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时序误报抑制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E88C030-4F52-00DE-E987-614078D72E66}"/>
              </a:ext>
            </a:extLst>
          </p:cNvPr>
          <p:cNvSpPr txBox="1"/>
          <p:nvPr/>
        </p:nvSpPr>
        <p:spPr>
          <a:xfrm>
            <a:off x="7797800" y="2451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抽帧、跟踪、连续命中与冷却窗口组合，过滤瞬时浪花和反光。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6762843-1B44-010D-B51A-400801081089}"/>
              </a:ext>
            </a:extLst>
          </p:cNvPr>
          <p:cNvCxnSpPr/>
          <p:nvPr/>
        </p:nvCxnSpPr>
        <p:spPr>
          <a:xfrm>
            <a:off x="3937000" y="3657600"/>
            <a:ext cx="3429000" cy="0"/>
          </a:xfrm>
          <a:prstGeom prst="line">
            <a:avLst/>
          </a:prstGeom>
          <a:ln w="1270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E464589-5F29-1F85-FE11-BB6BBE519EA5}"/>
              </a:ext>
            </a:extLst>
          </p:cNvPr>
          <p:cNvSpPr txBox="1"/>
          <p:nvPr/>
        </p:nvSpPr>
        <p:spPr>
          <a:xfrm>
            <a:off x="3937000" y="3810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F0402C-1D62-534C-C3FF-AE10FA33855C}"/>
              </a:ext>
            </a:extLst>
          </p:cNvPr>
          <p:cNvSpPr txBox="1"/>
          <p:nvPr/>
        </p:nvSpPr>
        <p:spPr>
          <a:xfrm>
            <a:off x="4419600" y="37846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知识图谱 </a:t>
            </a:r>
            <a:r>
              <a:rPr lang="en-US" altLang="zh-CN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MCP</a:t>
            </a:r>
            <a:endParaRPr lang="zh-CN" altLang="en-US" sz="131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1DF340D-26F4-02BD-6288-992FF930A22E}"/>
              </a:ext>
            </a:extLst>
          </p:cNvPr>
          <p:cNvSpPr txBox="1"/>
          <p:nvPr/>
        </p:nvSpPr>
        <p:spPr>
          <a:xfrm>
            <a:off x="3937000" y="4203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多跳检索与证据链固化；通过标准协议暴露知识资产和工具。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93CE767-E54F-A5A5-96CF-EA81C88CFE93}"/>
              </a:ext>
            </a:extLst>
          </p:cNvPr>
          <p:cNvCxnSpPr/>
          <p:nvPr/>
        </p:nvCxnSpPr>
        <p:spPr>
          <a:xfrm>
            <a:off x="7797800" y="3657600"/>
            <a:ext cx="3429000" cy="0"/>
          </a:xfrm>
          <a:prstGeom prst="line">
            <a:avLst/>
          </a:prstGeom>
          <a:ln w="1270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C57BAD1-F80B-4DC1-9F7A-72C9799A0D1F}"/>
              </a:ext>
            </a:extLst>
          </p:cNvPr>
          <p:cNvSpPr txBox="1"/>
          <p:nvPr/>
        </p:nvSpPr>
        <p:spPr>
          <a:xfrm>
            <a:off x="7797800" y="3810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169DF88-788F-0B4E-F7E7-754C11805B2D}"/>
              </a:ext>
            </a:extLst>
          </p:cNvPr>
          <p:cNvSpPr txBox="1"/>
          <p:nvPr/>
        </p:nvSpPr>
        <p:spPr>
          <a:xfrm>
            <a:off x="8280400" y="37846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国产云与多 </a:t>
            </a:r>
            <a:r>
              <a:rPr lang="en-US" altLang="zh-CN" sz="131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provider</a:t>
            </a:r>
            <a:endParaRPr lang="zh-CN" altLang="en-US" sz="131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3F9E796-E96A-3EC2-C626-1399F1E1BAC6}"/>
              </a:ext>
            </a:extLst>
          </p:cNvPr>
          <p:cNvSpPr txBox="1"/>
          <p:nvPr/>
        </p:nvSpPr>
        <p:spPr>
          <a:xfrm>
            <a:off x="7797800" y="4203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华为云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ModelArts / AgentArts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部署验收；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ONNX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按环境探测推理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provider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03370A7-C25F-7554-66DD-6710CED03BC3}"/>
              </a:ext>
            </a:extLst>
          </p:cNvPr>
          <p:cNvCxnSpPr/>
          <p:nvPr/>
        </p:nvCxnSpPr>
        <p:spPr>
          <a:xfrm>
            <a:off x="558800" y="5562600"/>
            <a:ext cx="11074400" cy="0"/>
          </a:xfrm>
          <a:prstGeom prst="line">
            <a:avLst/>
          </a:prstGeom>
          <a:ln w="1016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BB96F53-0904-35C2-392A-A418582723B8}"/>
              </a:ext>
            </a:extLst>
          </p:cNvPr>
          <p:cNvSpPr txBox="1"/>
          <p:nvPr/>
        </p:nvSpPr>
        <p:spPr>
          <a:xfrm>
            <a:off x="558800" y="58166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核心原则：模型是增强项，不是治理闭环的依赖项。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6A60D2E-D127-D702-3032-65B513307D64}"/>
              </a:ext>
            </a:extLst>
          </p:cNvPr>
          <p:cNvSpPr txBox="1"/>
          <p:nvPr/>
        </p:nvSpPr>
        <p:spPr>
          <a:xfrm>
            <a:off x="9652000" y="58166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可关闭 </a:t>
            </a:r>
            <a:r>
              <a:rPr lang="en-US" altLang="zh-CN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可回落 </a:t>
            </a:r>
            <a:r>
              <a:rPr lang="en-US" altLang="zh-CN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可审计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FB42272-7516-72B2-581F-1634CDA2E38C}"/>
              </a:ext>
            </a:extLst>
          </p:cNvPr>
          <p:cNvCxnSpPr/>
          <p:nvPr/>
        </p:nvCxnSpPr>
        <p:spPr>
          <a:xfrm>
            <a:off x="635000" y="1689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5D64F12-0C76-D316-C862-5491E4795F1E}"/>
              </a:ext>
            </a:extLst>
          </p:cNvPr>
          <p:cNvCxnSpPr/>
          <p:nvPr/>
        </p:nvCxnSpPr>
        <p:spPr>
          <a:xfrm>
            <a:off x="3962400" y="1689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3186DFF-EA28-09A9-24EE-C9B34E564FF4}"/>
              </a:ext>
            </a:extLst>
          </p:cNvPr>
          <p:cNvCxnSpPr/>
          <p:nvPr/>
        </p:nvCxnSpPr>
        <p:spPr>
          <a:xfrm>
            <a:off x="7975600" y="1689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D8845FD-6069-5E21-1639-8113FD075521}"/>
              </a:ext>
            </a:extLst>
          </p:cNvPr>
          <p:cNvCxnSpPr/>
          <p:nvPr/>
        </p:nvCxnSpPr>
        <p:spPr>
          <a:xfrm>
            <a:off x="3962400" y="3340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1EB876D-A83B-B0B6-221B-3C3527954829}"/>
              </a:ext>
            </a:extLst>
          </p:cNvPr>
          <p:cNvCxnSpPr/>
          <p:nvPr/>
        </p:nvCxnSpPr>
        <p:spPr>
          <a:xfrm>
            <a:off x="7975600" y="3340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EA80D9C-72E3-0068-7E16-7D66ACABE6FD}"/>
              </a:ext>
            </a:extLst>
          </p:cNvPr>
          <p:cNvCxnSpPr/>
          <p:nvPr/>
        </p:nvCxnSpPr>
        <p:spPr>
          <a:xfrm>
            <a:off x="635000" y="5499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97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Canvas background">
            <a:extLst>
              <a:ext uri="{FF2B5EF4-FFF2-40B4-BE49-F238E27FC236}">
                <a16:creationId xmlns:a16="http://schemas.microsoft.com/office/drawing/2014/main" id="{F288542B-A45E-D12F-1EDF-AEA899E82B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mplate content panel">
            <a:extLst>
              <a:ext uri="{FF2B5EF4-FFF2-40B4-BE49-F238E27FC236}">
                <a16:creationId xmlns:a16="http://schemas.microsoft.com/office/drawing/2014/main" id="{B77689F8-A440-C3AB-1332-4561E8A2A56D}"/>
              </a:ext>
            </a:extLst>
          </p:cNvPr>
          <p:cNvSpPr/>
          <p:nvPr/>
        </p:nvSpPr>
        <p:spPr>
          <a:xfrm>
            <a:off x="457200" y="1600200"/>
            <a:ext cx="7442200" cy="4470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34A22D-0863-C0E3-1DE6-C98EE57A8652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BEA63E-9E29-F2FD-C8CA-F4AABD8F53DA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D3A37D5-B7C1-5AB6-3179-A193C5A8A110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AFEB67-F856-F45B-FA5F-8ADFB75703C6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验证与价值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BF62DE4-F154-0A3A-0481-8CBE9122DC0A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92CE294-AF60-6007-5221-34C93DD665B8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11DA3C6-9717-C162-A599-323BE8A46653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验证体系：已跑通、已集成、已上云与待评测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9A6FF2-4A9A-63BA-7421-5EF6F5503854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把“已验证”与“设计完成”分开，是评审信任的基础。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7F2D2A0-3109-D2EE-E7A2-85D406FB9A38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DA6026C-E51F-977F-B687-DAB02F3D95F3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0444FB-515E-1121-E358-D61C9DC4941D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14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24071E-95B5-2EED-2FFD-7BEE3CDBE0BB}"/>
              </a:ext>
            </a:extLst>
          </p:cNvPr>
          <p:cNvSpPr/>
          <p:nvPr/>
        </p:nvSpPr>
        <p:spPr>
          <a:xfrm>
            <a:off x="558800" y="1879600"/>
            <a:ext cx="76200" cy="6858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A83E2D-CED1-3707-8305-671A818B4953}"/>
              </a:ext>
            </a:extLst>
          </p:cNvPr>
          <p:cNvSpPr txBox="1"/>
          <p:nvPr/>
        </p:nvSpPr>
        <p:spPr>
          <a:xfrm>
            <a:off x="787400" y="1879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固定场景评测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E22F43-BBB8-88B0-CE66-CD53573C7A1A}"/>
              </a:ext>
            </a:extLst>
          </p:cNvPr>
          <p:cNvSpPr txBox="1"/>
          <p:nvPr/>
        </p:nvSpPr>
        <p:spPr>
          <a:xfrm>
            <a:off x="787400" y="2184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8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27 / 27</a:t>
            </a:r>
            <a:endParaRPr lang="zh-CN" altLang="en-US" sz="1980" b="1">
              <a:solidFill>
                <a:srgbClr val="26776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0D0528-D58A-E005-920A-91388160A3F8}"/>
              </a:ext>
            </a:extLst>
          </p:cNvPr>
          <p:cNvSpPr txBox="1"/>
          <p:nvPr/>
        </p:nvSpPr>
        <p:spPr>
          <a:xfrm>
            <a:off x="3149600" y="19304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成功、无设备、超时、拒绝、回放等场景全部通过。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66E5B6-E28F-D01A-1A13-C974F55FAD58}"/>
              </a:ext>
            </a:extLst>
          </p:cNvPr>
          <p:cNvCxnSpPr/>
          <p:nvPr/>
        </p:nvCxnSpPr>
        <p:spPr>
          <a:xfrm>
            <a:off x="558800" y="2679700"/>
            <a:ext cx="7188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0ED29000-3197-2371-5CF5-66D35933BC34}"/>
              </a:ext>
            </a:extLst>
          </p:cNvPr>
          <p:cNvSpPr/>
          <p:nvPr/>
        </p:nvSpPr>
        <p:spPr>
          <a:xfrm>
            <a:off x="558800" y="2794000"/>
            <a:ext cx="76200" cy="6858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080EC0-34AD-0F6E-9DAA-16FFD96A8610}"/>
              </a:ext>
            </a:extLst>
          </p:cNvPr>
          <p:cNvSpPr txBox="1"/>
          <p:nvPr/>
        </p:nvSpPr>
        <p:spPr>
          <a:xfrm>
            <a:off x="787400" y="2794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真实状态集成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8AF9B-E57D-B099-46E1-20EC12D8C6ED}"/>
              </a:ext>
            </a:extLst>
          </p:cNvPr>
          <p:cNvSpPr txBox="1"/>
          <p:nvPr/>
        </p:nvSpPr>
        <p:spPr>
          <a:xfrm>
            <a:off x="787400" y="3098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8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129 </a:t>
            </a:r>
            <a:r>
              <a:rPr lang="zh-CN" altLang="en-US" sz="198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F5BAC9-B805-07F2-2E6F-14E7C2DFC88E}"/>
              </a:ext>
            </a:extLst>
          </p:cNvPr>
          <p:cNvSpPr txBox="1"/>
          <p:nvPr/>
        </p:nvSpPr>
        <p:spPr>
          <a:xfrm>
            <a:off x="3149600" y="28448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HTTP 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鉴权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PostgreSQL 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审批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幂等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重启回放。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2329E76-7C50-455C-C33E-EB9CDEB84D0F}"/>
              </a:ext>
            </a:extLst>
          </p:cNvPr>
          <p:cNvCxnSpPr/>
          <p:nvPr/>
        </p:nvCxnSpPr>
        <p:spPr>
          <a:xfrm>
            <a:off x="558800" y="3594100"/>
            <a:ext cx="7188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0D8082E4-5948-1A8C-ED5A-250BE56A97DF}"/>
              </a:ext>
            </a:extLst>
          </p:cNvPr>
          <p:cNvSpPr/>
          <p:nvPr/>
        </p:nvSpPr>
        <p:spPr>
          <a:xfrm>
            <a:off x="558800" y="3708400"/>
            <a:ext cx="76200" cy="6858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182F4AD-C017-A4EA-B493-E581ABD13B38}"/>
              </a:ext>
            </a:extLst>
          </p:cNvPr>
          <p:cNvSpPr txBox="1"/>
          <p:nvPr/>
        </p:nvSpPr>
        <p:spPr>
          <a:xfrm>
            <a:off x="787400" y="3708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云平台部署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893B9B-F572-0A97-973F-F077C2F0F3BD}"/>
              </a:ext>
            </a:extLst>
          </p:cNvPr>
          <p:cNvSpPr txBox="1"/>
          <p:nvPr/>
        </p:nvSpPr>
        <p:spPr>
          <a:xfrm>
            <a:off x="787400" y="4013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8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ModelArts</a:t>
            </a:r>
            <a:endParaRPr lang="zh-CN" altLang="en-US" sz="198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EBCFB9-6A80-5CDD-E01C-FEBCAEF090BA}"/>
              </a:ext>
            </a:extLst>
          </p:cNvPr>
          <p:cNvSpPr txBox="1"/>
          <p:nvPr/>
        </p:nvSpPr>
        <p:spPr>
          <a:xfrm>
            <a:off x="3149600" y="37592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AgentArts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智能体编排与多轮工具调用验收，无运行错误。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87D745A-AB5B-E989-9A38-476C045AEAF7}"/>
              </a:ext>
            </a:extLst>
          </p:cNvPr>
          <p:cNvCxnSpPr/>
          <p:nvPr/>
        </p:nvCxnSpPr>
        <p:spPr>
          <a:xfrm>
            <a:off x="558800" y="4508500"/>
            <a:ext cx="7188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30F2E9CB-5BB2-FE0A-3323-379A6619D5F4}"/>
              </a:ext>
            </a:extLst>
          </p:cNvPr>
          <p:cNvSpPr/>
          <p:nvPr/>
        </p:nvSpPr>
        <p:spPr>
          <a:xfrm>
            <a:off x="558800" y="4622800"/>
            <a:ext cx="76200" cy="685800"/>
          </a:xfrm>
          <a:prstGeom prst="rect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E5F6B8-0603-4A3E-B8A2-B2C56DDBBE7C}"/>
              </a:ext>
            </a:extLst>
          </p:cNvPr>
          <p:cNvSpPr txBox="1"/>
          <p:nvPr/>
        </p:nvSpPr>
        <p:spPr>
          <a:xfrm>
            <a:off x="787400" y="4622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现场感知精度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696723-6F4F-FBDC-766F-01B7EE893253}"/>
              </a:ext>
            </a:extLst>
          </p:cNvPr>
          <p:cNvSpPr txBox="1"/>
          <p:nvPr/>
        </p:nvSpPr>
        <p:spPr>
          <a:xfrm>
            <a:off x="787400" y="4927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8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未验证</a:t>
            </a:r>
            <a:endParaRPr lang="zh-CN" altLang="en-US" sz="1980" b="1">
              <a:solidFill>
                <a:srgbClr val="B25847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9CB9BDB-2D4D-0379-530B-516B3F5DD121}"/>
              </a:ext>
            </a:extLst>
          </p:cNvPr>
          <p:cNvSpPr txBox="1"/>
          <p:nvPr/>
        </p:nvSpPr>
        <p:spPr>
          <a:xfrm>
            <a:off x="3149600" y="46736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公开基准已有独立评测，连江现场与本设备实测未开展，不宣称现场精度。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30B72AB-A247-6384-FB2F-04A765303EC4}"/>
              </a:ext>
            </a:extLst>
          </p:cNvPr>
          <p:cNvCxnSpPr/>
          <p:nvPr/>
        </p:nvCxnSpPr>
        <p:spPr>
          <a:xfrm>
            <a:off x="558800" y="5422900"/>
            <a:ext cx="7188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9C6E5E3D-3F2A-F20F-2A43-F23132A2FCDA}"/>
              </a:ext>
            </a:extLst>
          </p:cNvPr>
          <p:cNvSpPr/>
          <p:nvPr/>
        </p:nvSpPr>
        <p:spPr>
          <a:xfrm>
            <a:off x="8255000" y="1879600"/>
            <a:ext cx="3378200" cy="3378200"/>
          </a:xfrm>
          <a:prstGeom prst="rect">
            <a:avLst/>
          </a:prstGeom>
          <a:solidFill>
            <a:srgbClr val="F8F8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02847A-81F6-98D1-9F3B-A7CAA8FB2727}"/>
              </a:ext>
            </a:extLst>
          </p:cNvPr>
          <p:cNvSpPr txBox="1"/>
          <p:nvPr/>
        </p:nvSpPr>
        <p:spPr>
          <a:xfrm>
            <a:off x="8509000" y="2133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主动披露的弱项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70AFB04-F448-5549-F60C-A2644D9D1129}"/>
              </a:ext>
            </a:extLst>
          </p:cNvPr>
          <p:cNvSpPr txBox="1"/>
          <p:nvPr/>
        </p:nvSpPr>
        <p:spPr>
          <a:xfrm>
            <a:off x="8509000" y="2641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2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33.3%</a:t>
            </a:r>
            <a:endParaRPr lang="zh-CN" altLang="en-US" sz="352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68B6157-52AC-AA30-5F2B-A57DF17BEE35}"/>
              </a:ext>
            </a:extLst>
          </p:cNvPr>
          <p:cNvSpPr txBox="1"/>
          <p:nvPr/>
        </p:nvSpPr>
        <p:spPr>
          <a:xfrm>
            <a:off x="8509000" y="3251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recovery_success_rate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53A1194-03EC-13C8-835A-4577257FED05}"/>
              </a:ext>
            </a:extLst>
          </p:cNvPr>
          <p:cNvSpPr txBox="1"/>
          <p:nvPr/>
        </p:nvSpPr>
        <p:spPr>
          <a:xfrm>
            <a:off x="8509000" y="36449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故障注入后的完整恢复成功率；正常流程成功率不等同于此指标。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E061B22-2CC5-CFAA-1F68-558EFBB9D5E9}"/>
              </a:ext>
            </a:extLst>
          </p:cNvPr>
          <p:cNvSpPr txBox="1"/>
          <p:nvPr/>
        </p:nvSpPr>
        <p:spPr>
          <a:xfrm>
            <a:off x="8509000" y="45974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下一迭代目标 </a:t>
            </a:r>
            <a:r>
              <a:rPr lang="en-US" altLang="zh-CN" sz="1200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80%</a:t>
            </a:r>
            <a:r>
              <a:rPr lang="zh-CN" altLang="en-US" sz="1200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，已完成弱项定位。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39387EA-E31D-680E-CF65-F8AA8543DDE6}"/>
              </a:ext>
            </a:extLst>
          </p:cNvPr>
          <p:cNvSpPr txBox="1"/>
          <p:nvPr/>
        </p:nvSpPr>
        <p:spPr>
          <a:xfrm>
            <a:off x="8255000" y="54610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故障演练与浏览器回归均已通过；下一步聚焦完整恢复率与现场验证。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357BD53-A044-9439-EADE-185BB73EDE90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890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Canvas background">
            <a:extLst>
              <a:ext uri="{FF2B5EF4-FFF2-40B4-BE49-F238E27FC236}">
                <a16:creationId xmlns:a16="http://schemas.microsoft.com/office/drawing/2014/main" id="{4515802C-0691-ADC2-B7C0-6E06CAF07C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Template content panel">
            <a:extLst>
              <a:ext uri="{FF2B5EF4-FFF2-40B4-BE49-F238E27FC236}">
                <a16:creationId xmlns:a16="http://schemas.microsoft.com/office/drawing/2014/main" id="{F42A95C7-E561-0F83-99C1-EA30A71BF29E}"/>
              </a:ext>
            </a:extLst>
          </p:cNvPr>
          <p:cNvSpPr/>
          <p:nvPr/>
        </p:nvSpPr>
        <p:spPr>
          <a:xfrm>
            <a:off x="457200" y="4038600"/>
            <a:ext cx="11252200" cy="21082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Template content panel">
            <a:extLst>
              <a:ext uri="{FF2B5EF4-FFF2-40B4-BE49-F238E27FC236}">
                <a16:creationId xmlns:a16="http://schemas.microsoft.com/office/drawing/2014/main" id="{3A1FB112-669B-D92C-792E-EED3D9F65896}"/>
              </a:ext>
            </a:extLst>
          </p:cNvPr>
          <p:cNvSpPr/>
          <p:nvPr/>
        </p:nvSpPr>
        <p:spPr>
          <a:xfrm>
            <a:off x="457200" y="3175000"/>
            <a:ext cx="11252200" cy="8128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Template content panel">
            <a:extLst>
              <a:ext uri="{FF2B5EF4-FFF2-40B4-BE49-F238E27FC236}">
                <a16:creationId xmlns:a16="http://schemas.microsoft.com/office/drawing/2014/main" id="{8DFF40E2-1A21-AA3A-130C-B2195C2B92C4}"/>
              </a:ext>
            </a:extLst>
          </p:cNvPr>
          <p:cNvSpPr/>
          <p:nvPr/>
        </p:nvSpPr>
        <p:spPr>
          <a:xfrm>
            <a:off x="457200" y="1600200"/>
            <a:ext cx="11252200" cy="1422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A0CF34-8372-4D76-88B3-C3FF82355AAD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4B6F46-4EE8-4BA1-87A3-F0B34669BF06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4718571-5322-6DFB-D940-B59F6832BE81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97A374-018E-4E43-D876-507B53A445F1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验证与价值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BFF7D7E-FECF-D00D-9530-615597B50C8A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CA579AD-44EB-9D66-D38D-8577430889F4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952FB3C-6AD6-89E4-E135-16C175AF489E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能力边界：当前做到 </a:t>
            </a:r>
            <a:r>
              <a:rPr lang="en-US" altLang="zh-CN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E2</a:t>
            </a:r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，不把方案写成实测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235A27-21E6-45A9-92D5-C90B136EBBC2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E0 </a:t>
            </a:r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规划 </a:t>
            </a:r>
            <a:r>
              <a:rPr lang="en-US" altLang="zh-CN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E1 </a:t>
            </a:r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软件测试 </a:t>
            </a:r>
            <a:r>
              <a:rPr lang="en-US" altLang="zh-CN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E2 </a:t>
            </a:r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合成环境集成 </a:t>
            </a:r>
            <a:r>
              <a:rPr lang="en-US" altLang="zh-CN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E3 </a:t>
            </a:r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现场验证 </a:t>
            </a:r>
            <a:r>
              <a:rPr lang="en-US" altLang="zh-CN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E4 </a:t>
            </a:r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商业验证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501719-0843-79C9-BACC-D011FA8B2317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0328534-D180-E449-C878-76D591C5F580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0DF01E-BA2A-DCC4-EB17-85670AAB24AC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15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A81D3B4-215D-560C-BF8F-CF390784D820}"/>
              </a:ext>
            </a:extLst>
          </p:cNvPr>
          <p:cNvCxnSpPr/>
          <p:nvPr/>
        </p:nvCxnSpPr>
        <p:spPr>
          <a:xfrm>
            <a:off x="558800" y="2374900"/>
            <a:ext cx="11074400" cy="0"/>
          </a:xfrm>
          <a:prstGeom prst="line">
            <a:avLst/>
          </a:prstGeom>
          <a:ln w="1270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0AE08FB-1E23-2B0D-2D37-902975119007}"/>
              </a:ext>
            </a:extLst>
          </p:cNvPr>
          <p:cNvSpPr/>
          <p:nvPr/>
        </p:nvSpPr>
        <p:spPr>
          <a:xfrm>
            <a:off x="558800" y="2298700"/>
            <a:ext cx="63500" cy="152400"/>
          </a:xfrm>
          <a:prstGeom prst="rect">
            <a:avLst/>
          </a:prstGeom>
          <a:solidFill>
            <a:srgbClr val="5F6C7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D57D74-6483-135B-B292-C72A3C8438C5}"/>
              </a:ext>
            </a:extLst>
          </p:cNvPr>
          <p:cNvSpPr txBox="1"/>
          <p:nvPr/>
        </p:nvSpPr>
        <p:spPr>
          <a:xfrm>
            <a:off x="736600" y="1905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E0</a:t>
            </a:r>
            <a:endParaRPr lang="zh-CN" altLang="en-US" sz="137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6148E4-EFD4-2C08-390F-BD609E2B4AFF}"/>
              </a:ext>
            </a:extLst>
          </p:cNvPr>
          <p:cNvSpPr txBox="1"/>
          <p:nvPr/>
        </p:nvSpPr>
        <p:spPr>
          <a:xfrm>
            <a:off x="736600" y="21336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规划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AA5B5F9-C73B-5177-9A4D-161063C5C5B9}"/>
              </a:ext>
            </a:extLst>
          </p:cNvPr>
          <p:cNvSpPr txBox="1"/>
          <p:nvPr/>
        </p:nvSpPr>
        <p:spPr>
          <a:xfrm>
            <a:off x="558800" y="25527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想法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文档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接口草案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D69427-A557-3D1C-DDE7-4413E1069683}"/>
              </a:ext>
            </a:extLst>
          </p:cNvPr>
          <p:cNvSpPr/>
          <p:nvPr/>
        </p:nvSpPr>
        <p:spPr>
          <a:xfrm>
            <a:off x="2794000" y="2298700"/>
            <a:ext cx="63500" cy="1524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31FB95-A75A-0424-D3CB-B86F7DD68182}"/>
              </a:ext>
            </a:extLst>
          </p:cNvPr>
          <p:cNvSpPr txBox="1"/>
          <p:nvPr/>
        </p:nvSpPr>
        <p:spPr>
          <a:xfrm>
            <a:off x="2971800" y="1905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E1</a:t>
            </a:r>
            <a:endParaRPr lang="zh-CN" altLang="en-US" sz="137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7A945-18AB-723D-84E8-24B8C8E64F45}"/>
              </a:ext>
            </a:extLst>
          </p:cNvPr>
          <p:cNvSpPr txBox="1"/>
          <p:nvPr/>
        </p:nvSpPr>
        <p:spPr>
          <a:xfrm>
            <a:off x="2971800" y="21336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软件测试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6A2C8D-3B97-A698-0237-2F9B298FE48A}"/>
              </a:ext>
            </a:extLst>
          </p:cNvPr>
          <p:cNvSpPr txBox="1"/>
          <p:nvPr/>
        </p:nvSpPr>
        <p:spPr>
          <a:xfrm>
            <a:off x="2794000" y="25527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代码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单元测试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确定性仿真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83349C-FEE6-DCA9-58A8-4E5CF98548CC}"/>
              </a:ext>
            </a:extLst>
          </p:cNvPr>
          <p:cNvSpPr/>
          <p:nvPr/>
        </p:nvSpPr>
        <p:spPr>
          <a:xfrm>
            <a:off x="5029200" y="2298700"/>
            <a:ext cx="63500" cy="1524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F7341D-4FA0-9D11-3C43-8A9820344F7D}"/>
              </a:ext>
            </a:extLst>
          </p:cNvPr>
          <p:cNvSpPr txBox="1"/>
          <p:nvPr/>
        </p:nvSpPr>
        <p:spPr>
          <a:xfrm>
            <a:off x="5207000" y="1905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E2</a:t>
            </a:r>
            <a:endParaRPr lang="zh-CN" altLang="en-US" sz="1370" b="1">
              <a:solidFill>
                <a:srgbClr val="26776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D79FBE-C641-A1EB-CF88-A7C6A04E9403}"/>
              </a:ext>
            </a:extLst>
          </p:cNvPr>
          <p:cNvSpPr txBox="1"/>
          <p:nvPr/>
        </p:nvSpPr>
        <p:spPr>
          <a:xfrm>
            <a:off x="5207000" y="21336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合成环境集成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DCFEC2C-EF68-3385-7244-6586C2D26CFA}"/>
              </a:ext>
            </a:extLst>
          </p:cNvPr>
          <p:cNvSpPr txBox="1"/>
          <p:nvPr/>
        </p:nvSpPr>
        <p:spPr>
          <a:xfrm>
            <a:off x="5029200" y="25527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HTTP + DB 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审批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幂等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回放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7D5DD2-22D4-E418-A606-BEC6B185BC29}"/>
              </a:ext>
            </a:extLst>
          </p:cNvPr>
          <p:cNvSpPr/>
          <p:nvPr/>
        </p:nvSpPr>
        <p:spPr>
          <a:xfrm>
            <a:off x="6337300" y="1879600"/>
            <a:ext cx="558800" cy="2794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79D11D-DAD0-5290-5B89-1F4A2D7AE1C8}"/>
              </a:ext>
            </a:extLst>
          </p:cNvPr>
          <p:cNvSpPr txBox="1"/>
          <p:nvPr/>
        </p:nvSpPr>
        <p:spPr>
          <a:xfrm>
            <a:off x="6337300" y="18796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当前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2D3D74-37EB-953B-CBBA-941D398E17BA}"/>
              </a:ext>
            </a:extLst>
          </p:cNvPr>
          <p:cNvSpPr/>
          <p:nvPr/>
        </p:nvSpPr>
        <p:spPr>
          <a:xfrm>
            <a:off x="7264400" y="2298700"/>
            <a:ext cx="63500" cy="1524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C083719-7C8A-4D28-8D71-8148445D3FF2}"/>
              </a:ext>
            </a:extLst>
          </p:cNvPr>
          <p:cNvSpPr txBox="1"/>
          <p:nvPr/>
        </p:nvSpPr>
        <p:spPr>
          <a:xfrm>
            <a:off x="7442200" y="1905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E3</a:t>
            </a:r>
            <a:endParaRPr lang="zh-CN" altLang="en-US" sz="137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62DA1CA-602E-2EE4-219D-3E470645266D}"/>
              </a:ext>
            </a:extLst>
          </p:cNvPr>
          <p:cNvSpPr txBox="1"/>
          <p:nvPr/>
        </p:nvSpPr>
        <p:spPr>
          <a:xfrm>
            <a:off x="7442200" y="21336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现场验证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FC3EA4-E17F-1FDB-99C5-9AFA8D3403A2}"/>
              </a:ext>
            </a:extLst>
          </p:cNvPr>
          <p:cNvSpPr txBox="1"/>
          <p:nvPr/>
        </p:nvSpPr>
        <p:spPr>
          <a:xfrm>
            <a:off x="7264400" y="25527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真实海域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真实设备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真实用户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6DA2AC-9384-1E8C-E797-4274CC65AD87}"/>
              </a:ext>
            </a:extLst>
          </p:cNvPr>
          <p:cNvSpPr/>
          <p:nvPr/>
        </p:nvSpPr>
        <p:spPr>
          <a:xfrm>
            <a:off x="9499600" y="2298700"/>
            <a:ext cx="63500" cy="152400"/>
          </a:xfrm>
          <a:prstGeom prst="rect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D36585D-A488-37CF-9E9E-3EEB7D318444}"/>
              </a:ext>
            </a:extLst>
          </p:cNvPr>
          <p:cNvSpPr txBox="1"/>
          <p:nvPr/>
        </p:nvSpPr>
        <p:spPr>
          <a:xfrm>
            <a:off x="9677400" y="1905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7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E4</a:t>
            </a:r>
            <a:endParaRPr lang="zh-CN" altLang="en-US" sz="1370" b="1">
              <a:solidFill>
                <a:srgbClr val="B25847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53FA26E-072D-D41B-6DC6-1027AF0BD13A}"/>
              </a:ext>
            </a:extLst>
          </p:cNvPr>
          <p:cNvSpPr txBox="1"/>
          <p:nvPr/>
        </p:nvSpPr>
        <p:spPr>
          <a:xfrm>
            <a:off x="9677400" y="21336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商业验证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01DB70B-F2F6-EB01-F741-F8DD9B40402C}"/>
              </a:ext>
            </a:extLst>
          </p:cNvPr>
          <p:cNvSpPr txBox="1"/>
          <p:nvPr/>
        </p:nvSpPr>
        <p:spPr>
          <a:xfrm>
            <a:off x="9499600" y="25527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合同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订单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回款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C951192-8479-425F-CB82-CD0158E41735}"/>
              </a:ext>
            </a:extLst>
          </p:cNvPr>
          <p:cNvSpPr/>
          <p:nvPr/>
        </p:nvSpPr>
        <p:spPr>
          <a:xfrm>
            <a:off x="558800" y="3276600"/>
            <a:ext cx="11074400" cy="685800"/>
          </a:xfrm>
          <a:prstGeom prst="rect">
            <a:avLst/>
          </a:prstGeom>
          <a:solidFill>
            <a:srgbClr val="E9F3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C20E938-03E7-74F6-0553-BF4B99E43DC6}"/>
              </a:ext>
            </a:extLst>
          </p:cNvPr>
          <p:cNvSpPr txBox="1"/>
          <p:nvPr/>
        </p:nvSpPr>
        <p:spPr>
          <a:xfrm>
            <a:off x="762000" y="33528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当前 </a:t>
            </a:r>
            <a:r>
              <a:rPr lang="en-US" altLang="zh-CN" sz="165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E2</a:t>
            </a:r>
            <a:endParaRPr lang="zh-CN" altLang="en-US" sz="1650" b="1">
              <a:solidFill>
                <a:srgbClr val="26776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4F340A9-6CCA-48F0-F22A-62FA02E7589E}"/>
              </a:ext>
            </a:extLst>
          </p:cNvPr>
          <p:cNvSpPr txBox="1"/>
          <p:nvPr/>
        </p:nvSpPr>
        <p:spPr>
          <a:xfrm>
            <a:off x="2209800" y="33655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HTTP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、数据库、审批、幂等与回放已集成；真实海域、整机与商业验证尚未取得。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A565628-9788-0553-EA2D-12B5FECF23AC}"/>
              </a:ext>
            </a:extLst>
          </p:cNvPr>
          <p:cNvSpPr txBox="1"/>
          <p:nvPr/>
        </p:nvSpPr>
        <p:spPr>
          <a:xfrm>
            <a:off x="558800" y="41783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已达成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07A1D72-F3A7-0A47-5C6D-53DE0E7750F8}"/>
              </a:ext>
            </a:extLst>
          </p:cNvPr>
          <p:cNvSpPr txBox="1"/>
          <p:nvPr/>
        </p:nvSpPr>
        <p:spPr>
          <a:xfrm>
            <a:off x="6350000" y="41783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尚未取得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FD1B913-EBA1-9527-3A62-8FFCF08DA709}"/>
              </a:ext>
            </a:extLst>
          </p:cNvPr>
          <p:cNvCxnSpPr/>
          <p:nvPr/>
        </p:nvCxnSpPr>
        <p:spPr>
          <a:xfrm>
            <a:off x="558800" y="4470400"/>
            <a:ext cx="11074400" cy="0"/>
          </a:xfrm>
          <a:prstGeom prst="line">
            <a:avLst/>
          </a:prstGeom>
          <a:ln w="1016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A241788A-80DA-7223-B074-0B684330E01B}"/>
              </a:ext>
            </a:extLst>
          </p:cNvPr>
          <p:cNvSpPr/>
          <p:nvPr/>
        </p:nvSpPr>
        <p:spPr>
          <a:xfrm>
            <a:off x="558800" y="4699000"/>
            <a:ext cx="63500" cy="6350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7014CB6-186E-803C-E59D-35C4CBC547A7}"/>
              </a:ext>
            </a:extLst>
          </p:cNvPr>
          <p:cNvSpPr txBox="1"/>
          <p:nvPr/>
        </p:nvSpPr>
        <p:spPr>
          <a:xfrm>
            <a:off x="762000" y="4610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27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个固定评测场景全部通过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C28D54FA-B428-C0A9-E03F-E8A03997CABB}"/>
              </a:ext>
            </a:extLst>
          </p:cNvPr>
          <p:cNvSpPr/>
          <p:nvPr/>
        </p:nvSpPr>
        <p:spPr>
          <a:xfrm>
            <a:off x="558800" y="5080000"/>
            <a:ext cx="63500" cy="6350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C427F3-C506-DF0B-8A29-0267E47F75C2}"/>
              </a:ext>
            </a:extLst>
          </p:cNvPr>
          <p:cNvSpPr txBox="1"/>
          <p:nvPr/>
        </p:nvSpPr>
        <p:spPr>
          <a:xfrm>
            <a:off x="762000" y="4991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129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项真实状态集成验收通过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A6D8C692-BE35-77BF-5C30-A9BB11ECA74F}"/>
              </a:ext>
            </a:extLst>
          </p:cNvPr>
          <p:cNvSpPr/>
          <p:nvPr/>
        </p:nvSpPr>
        <p:spPr>
          <a:xfrm>
            <a:off x="558800" y="5461000"/>
            <a:ext cx="63500" cy="6350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AB0AD36-176A-48B4-B0AA-8D5BF8C9AB24}"/>
              </a:ext>
            </a:extLst>
          </p:cNvPr>
          <p:cNvSpPr txBox="1"/>
          <p:nvPr/>
        </p:nvSpPr>
        <p:spPr>
          <a:xfrm>
            <a:off x="762000" y="5372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ModelArts / AgentArts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云端部署与工具调用验收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17F551F0-AB7A-66ED-FE63-D906388D967A}"/>
              </a:ext>
            </a:extLst>
          </p:cNvPr>
          <p:cNvSpPr/>
          <p:nvPr/>
        </p:nvSpPr>
        <p:spPr>
          <a:xfrm>
            <a:off x="558800" y="5842000"/>
            <a:ext cx="63500" cy="6350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D4A6508-5049-FEE1-FAB6-4113E5A1380F}"/>
              </a:ext>
            </a:extLst>
          </p:cNvPr>
          <p:cNvSpPr txBox="1"/>
          <p:nvPr/>
        </p:nvSpPr>
        <p:spPr>
          <a:xfrm>
            <a:off x="762000" y="5753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ONNX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导出、多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provider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探测与推理服务化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72C09B6-46B7-5DB3-D4EB-4C7CEB41AAAC}"/>
              </a:ext>
            </a:extLst>
          </p:cNvPr>
          <p:cNvSpPr/>
          <p:nvPr/>
        </p:nvSpPr>
        <p:spPr>
          <a:xfrm>
            <a:off x="6350000" y="4699000"/>
            <a:ext cx="63500" cy="63500"/>
          </a:xfrm>
          <a:prstGeom prst="ellipse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4A1B46C-36D3-FB0A-BA61-42237BB8B363}"/>
              </a:ext>
            </a:extLst>
          </p:cNvPr>
          <p:cNvSpPr txBox="1"/>
          <p:nvPr/>
        </p:nvSpPr>
        <p:spPr>
          <a:xfrm>
            <a:off x="6553200" y="46101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公开基准独立评测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15BDA0B6-CCB2-17C8-E466-CE57A097A6F3}"/>
              </a:ext>
            </a:extLst>
          </p:cNvPr>
          <p:cNvSpPr/>
          <p:nvPr/>
        </p:nvSpPr>
        <p:spPr>
          <a:xfrm>
            <a:off x="6350000" y="5080000"/>
            <a:ext cx="63500" cy="63500"/>
          </a:xfrm>
          <a:prstGeom prst="ellipse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06A5FD9-2172-5FC6-04D1-9DB18CC10A56}"/>
              </a:ext>
            </a:extLst>
          </p:cNvPr>
          <p:cNvSpPr txBox="1"/>
          <p:nvPr/>
        </p:nvSpPr>
        <p:spPr>
          <a:xfrm>
            <a:off x="6553200" y="49911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昇腾硬件实测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3F39372B-03AE-0217-682C-A1C03BDCB963}"/>
              </a:ext>
            </a:extLst>
          </p:cNvPr>
          <p:cNvSpPr/>
          <p:nvPr/>
        </p:nvSpPr>
        <p:spPr>
          <a:xfrm>
            <a:off x="6350000" y="5461000"/>
            <a:ext cx="63500" cy="63500"/>
          </a:xfrm>
          <a:prstGeom prst="ellipse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8E540BC-ACA3-BFEA-18C8-D00E0A5C0883}"/>
              </a:ext>
            </a:extLst>
          </p:cNvPr>
          <p:cNvSpPr txBox="1"/>
          <p:nvPr/>
        </p:nvSpPr>
        <p:spPr>
          <a:xfrm>
            <a:off x="6553200" y="53721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真实海域与整机现场验证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9481840D-EDEC-5BF6-8D16-D9C4E2FDA0BE}"/>
              </a:ext>
            </a:extLst>
          </p:cNvPr>
          <p:cNvSpPr/>
          <p:nvPr/>
        </p:nvSpPr>
        <p:spPr>
          <a:xfrm>
            <a:off x="6350000" y="5842000"/>
            <a:ext cx="63500" cy="63500"/>
          </a:xfrm>
          <a:prstGeom prst="ellipse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E2A97B3-9D41-F2BD-9DEE-0DAA4346A005}"/>
              </a:ext>
            </a:extLst>
          </p:cNvPr>
          <p:cNvSpPr txBox="1"/>
          <p:nvPr/>
        </p:nvSpPr>
        <p:spPr>
          <a:xfrm>
            <a:off x="6553200" y="57531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商业合同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订单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回款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89B517B-49D8-3448-DE3B-7F2938345B93}"/>
              </a:ext>
            </a:extLst>
          </p:cNvPr>
          <p:cNvCxnSpPr/>
          <p:nvPr/>
        </p:nvCxnSpPr>
        <p:spPr>
          <a:xfrm>
            <a:off x="6350000" y="4470400"/>
            <a:ext cx="0" cy="163830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7022B5BE-A30B-9FE2-95AD-3391033972C5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39DC9B4-CCE7-615A-BBCB-092CB4AB7AB2}"/>
              </a:ext>
            </a:extLst>
          </p:cNvPr>
          <p:cNvCxnSpPr/>
          <p:nvPr/>
        </p:nvCxnSpPr>
        <p:spPr>
          <a:xfrm>
            <a:off x="635000" y="31877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39DCFD06-97BB-625F-C9F8-EA6390FE2EC7}"/>
              </a:ext>
            </a:extLst>
          </p:cNvPr>
          <p:cNvCxnSpPr/>
          <p:nvPr/>
        </p:nvCxnSpPr>
        <p:spPr>
          <a:xfrm>
            <a:off x="635000" y="40513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635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Canvas background">
            <a:extLst>
              <a:ext uri="{FF2B5EF4-FFF2-40B4-BE49-F238E27FC236}">
                <a16:creationId xmlns:a16="http://schemas.microsoft.com/office/drawing/2014/main" id="{CDEE5D25-594E-C4F1-8490-9A3CA8BAEB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Template content panel">
            <a:extLst>
              <a:ext uri="{FF2B5EF4-FFF2-40B4-BE49-F238E27FC236}">
                <a16:creationId xmlns:a16="http://schemas.microsoft.com/office/drawing/2014/main" id="{942CDDD8-A5E2-2FF0-0FE3-E42471BC2D9F}"/>
              </a:ext>
            </a:extLst>
          </p:cNvPr>
          <p:cNvSpPr/>
          <p:nvPr/>
        </p:nvSpPr>
        <p:spPr>
          <a:xfrm>
            <a:off x="6477000" y="1600200"/>
            <a:ext cx="5105400" cy="41910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mplate content panel">
            <a:extLst>
              <a:ext uri="{FF2B5EF4-FFF2-40B4-BE49-F238E27FC236}">
                <a16:creationId xmlns:a16="http://schemas.microsoft.com/office/drawing/2014/main" id="{6198E1C1-1BD3-48B9-D743-00930093D44A}"/>
              </a:ext>
            </a:extLst>
          </p:cNvPr>
          <p:cNvSpPr/>
          <p:nvPr/>
        </p:nvSpPr>
        <p:spPr>
          <a:xfrm>
            <a:off x="457200" y="1600200"/>
            <a:ext cx="5715000" cy="38862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7344FC-EBDD-2872-7BDB-2F63CE85D04B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C90125-5B02-F4FC-8677-403994C1FAB2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F0AEB71-3FF9-D819-6A58-581C422CF8A4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AF1E85-0C71-8AE0-222B-D3EAE7A6B4F4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验证与价值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3D0A68D-05FC-56BC-3ABD-40DC5C491A90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E8C60EC-1F68-B5E3-11CD-5849D64677F4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8D706A3-36A9-AF91-C0E8-86E81AA166DC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北极星指标：单位有效成本下完成并经过证据确认的清理闭环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EABAB9-2051-07F6-FA8B-EF15B5A71C02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价值不取决于检测框数量，而取决于问题被处理、被证明且成本可算。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CD03482-5EC6-AC42-8A07-9F256F84C4BB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A789CD9-20FA-568C-0CEB-60FD0D7F659E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618778-60E5-3696-5AD3-D244D4BC5373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16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883CC6-75E9-2DD0-889C-44B6A168644F}"/>
              </a:ext>
            </a:extLst>
          </p:cNvPr>
          <p:cNvSpPr/>
          <p:nvPr/>
        </p:nvSpPr>
        <p:spPr>
          <a:xfrm>
            <a:off x="558800" y="1841500"/>
            <a:ext cx="5562600" cy="3352800"/>
          </a:xfrm>
          <a:prstGeom prst="rect">
            <a:avLst/>
          </a:prstGeom>
          <a:solidFill>
            <a:srgbClr val="F8F8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E4D3DA7-CAD0-9B76-29CA-F45CDF95731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96684"/>
            <a:ext cx="5410200" cy="304243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159B95C-512A-8C22-02E9-77B714BBE0D9}"/>
              </a:ext>
            </a:extLst>
          </p:cNvPr>
          <p:cNvSpPr txBox="1"/>
          <p:nvPr/>
        </p:nvSpPr>
        <p:spPr>
          <a:xfrm>
            <a:off x="711200" y="5143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三维数字沙盘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7FE753-8C99-A445-2999-76A8AB234EFB}"/>
              </a:ext>
            </a:extLst>
          </p:cNvPr>
          <p:cNvSpPr txBox="1"/>
          <p:nvPr/>
        </p:nvSpPr>
        <p:spPr>
          <a:xfrm>
            <a:off x="711200" y="5346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连江海岸场景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任务下发与结果回传预演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E6E56A-5BDF-6056-DE1B-F1F7142FE88A}"/>
              </a:ext>
            </a:extLst>
          </p:cNvPr>
          <p:cNvSpPr txBox="1"/>
          <p:nvPr/>
        </p:nvSpPr>
        <p:spPr>
          <a:xfrm>
            <a:off x="6604000" y="18415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效率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2EC2E3-E03F-93C3-1F6A-190495E65D96}"/>
              </a:ext>
            </a:extLst>
          </p:cNvPr>
          <p:cNvSpPr txBox="1"/>
          <p:nvPr/>
        </p:nvSpPr>
        <p:spPr>
          <a:xfrm>
            <a:off x="7366000" y="1841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空驶距离占比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总航行距离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E6DB6D-E641-0808-0AC4-03CCDC54179D}"/>
              </a:ext>
            </a:extLst>
          </p:cNvPr>
          <p:cNvSpPr txBox="1"/>
          <p:nvPr/>
        </p:nvSpPr>
        <p:spPr>
          <a:xfrm>
            <a:off x="7366000" y="2146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就近派单替代经验派单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A17DFF8-8A28-C3B0-701A-7C7CC1B19870}"/>
              </a:ext>
            </a:extLst>
          </p:cNvPr>
          <p:cNvCxnSpPr/>
          <p:nvPr/>
        </p:nvCxnSpPr>
        <p:spPr>
          <a:xfrm>
            <a:off x="6604000" y="2476500"/>
            <a:ext cx="5029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ECE803B-35B5-0499-FFDA-98FA3962476E}"/>
              </a:ext>
            </a:extLst>
          </p:cNvPr>
          <p:cNvSpPr txBox="1"/>
          <p:nvPr/>
        </p:nvSpPr>
        <p:spPr>
          <a:xfrm>
            <a:off x="6604000" y="26035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响应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3EA7D1-B05B-6841-BFB6-FE3171043B5F}"/>
              </a:ext>
            </a:extLst>
          </p:cNvPr>
          <p:cNvSpPr txBox="1"/>
          <p:nvPr/>
        </p:nvSpPr>
        <p:spPr>
          <a:xfrm>
            <a:off x="7366000" y="260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发现 → 任务开始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1045B8-F839-74CC-BA49-C4E2E435A2E2}"/>
              </a:ext>
            </a:extLst>
          </p:cNvPr>
          <p:cNvSpPr txBox="1"/>
          <p:nvPr/>
        </p:nvSpPr>
        <p:spPr>
          <a:xfrm>
            <a:off x="7366000" y="2908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事件确认后自动进入规划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5B730F0-0A03-7A79-A920-FB914D626ABA}"/>
              </a:ext>
            </a:extLst>
          </p:cNvPr>
          <p:cNvCxnSpPr/>
          <p:nvPr/>
        </p:nvCxnSpPr>
        <p:spPr>
          <a:xfrm>
            <a:off x="6604000" y="3238500"/>
            <a:ext cx="5029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DB9C962-6115-D460-4F4C-36A7F72140C9}"/>
              </a:ext>
            </a:extLst>
          </p:cNvPr>
          <p:cNvSpPr txBox="1"/>
          <p:nvPr/>
        </p:nvSpPr>
        <p:spPr>
          <a:xfrm>
            <a:off x="6604000" y="33655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风险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3F37D3-54D4-56F9-8863-29161D324A2B}"/>
              </a:ext>
            </a:extLst>
          </p:cNvPr>
          <p:cNvSpPr txBox="1"/>
          <p:nvPr/>
        </p:nvSpPr>
        <p:spPr>
          <a:xfrm>
            <a:off x="7366000" y="3365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高风险动作审批覆盖率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CCCBBB-CB65-FC20-9847-3413C5096F5D}"/>
              </a:ext>
            </a:extLst>
          </p:cNvPr>
          <p:cNvSpPr txBox="1"/>
          <p:nvPr/>
        </p:nvSpPr>
        <p:spPr>
          <a:xfrm>
            <a:off x="7366000" y="3670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策略守卫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人工闸门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7D203D7-952A-9BBA-6497-45354E68F293}"/>
              </a:ext>
            </a:extLst>
          </p:cNvPr>
          <p:cNvCxnSpPr/>
          <p:nvPr/>
        </p:nvCxnSpPr>
        <p:spPr>
          <a:xfrm>
            <a:off x="6604000" y="4000500"/>
            <a:ext cx="5029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74BEB89-F5B0-CCB0-4A58-6B089DBAB910}"/>
              </a:ext>
            </a:extLst>
          </p:cNvPr>
          <p:cNvSpPr txBox="1"/>
          <p:nvPr/>
        </p:nvSpPr>
        <p:spPr>
          <a:xfrm>
            <a:off x="6604000" y="41275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可信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F8D8E4C-124F-79AA-0E9C-A2DE742ACAD2}"/>
              </a:ext>
            </a:extLst>
          </p:cNvPr>
          <p:cNvSpPr txBox="1"/>
          <p:nvPr/>
        </p:nvSpPr>
        <p:spPr>
          <a:xfrm>
            <a:off x="7366000" y="4127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有证据支撑的结论占比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FA8D51A-C9B6-4676-D124-BA1825DAA026}"/>
              </a:ext>
            </a:extLst>
          </p:cNvPr>
          <p:cNvSpPr txBox="1"/>
          <p:nvPr/>
        </p:nvSpPr>
        <p:spPr>
          <a:xfrm>
            <a:off x="7366000" y="4432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来源、版本、审批与回放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1216F9B-9440-4E29-252E-C7AEE28A5389}"/>
              </a:ext>
            </a:extLst>
          </p:cNvPr>
          <p:cNvCxnSpPr/>
          <p:nvPr/>
        </p:nvCxnSpPr>
        <p:spPr>
          <a:xfrm>
            <a:off x="6604000" y="4762500"/>
            <a:ext cx="5029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484675C-5B83-F225-35CF-33D5339EE178}"/>
              </a:ext>
            </a:extLst>
          </p:cNvPr>
          <p:cNvSpPr txBox="1"/>
          <p:nvPr/>
        </p:nvSpPr>
        <p:spPr>
          <a:xfrm>
            <a:off x="6604000" y="48895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成本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798BB85-90EF-E5FB-656F-CA3FB9501162}"/>
              </a:ext>
            </a:extLst>
          </p:cNvPr>
          <p:cNvSpPr txBox="1"/>
          <p:nvPr/>
        </p:nvSpPr>
        <p:spPr>
          <a:xfrm>
            <a:off x="7366000" y="4889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每闭环任务成本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每吨成本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2EF3900-BA72-3689-FE8F-BE641C7C34B0}"/>
              </a:ext>
            </a:extLst>
          </p:cNvPr>
          <p:cNvSpPr txBox="1"/>
          <p:nvPr/>
        </p:nvSpPr>
        <p:spPr>
          <a:xfrm>
            <a:off x="7366000" y="5194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参数化台账，可逐年替换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B98350B-6270-EF79-1154-CCA034F64FA6}"/>
              </a:ext>
            </a:extLst>
          </p:cNvPr>
          <p:cNvCxnSpPr/>
          <p:nvPr/>
        </p:nvCxnSpPr>
        <p:spPr>
          <a:xfrm>
            <a:off x="6604000" y="5524500"/>
            <a:ext cx="5029200" cy="0"/>
          </a:xfrm>
          <a:prstGeom prst="line">
            <a:avLst/>
          </a:prstGeom>
          <a:ln w="635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704DF92C-B0D8-B0A9-C2C5-BCC12822557F}"/>
              </a:ext>
            </a:extLst>
          </p:cNvPr>
          <p:cNvSpPr/>
          <p:nvPr/>
        </p:nvSpPr>
        <p:spPr>
          <a:xfrm>
            <a:off x="558800" y="5562600"/>
            <a:ext cx="11074400" cy="635000"/>
          </a:xfrm>
          <a:prstGeom prst="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D6B8918-786D-1548-51DA-8E4456C6302B}"/>
              </a:ext>
            </a:extLst>
          </p:cNvPr>
          <p:cNvSpPr txBox="1"/>
          <p:nvPr/>
        </p:nvSpPr>
        <p:spPr>
          <a:xfrm>
            <a:off x="812800" y="5702300"/>
            <a:ext cx="1056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为什么不用检测框数量或页面访问量：只有闭环质量与成本同时受约束，才能避免“多花钱多检测”或“少花钱但失真”。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2A7D93C-C0B6-0298-09C8-9538A4759DD4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88A6041-4A58-36C8-72F2-48AD32076424}"/>
              </a:ext>
            </a:extLst>
          </p:cNvPr>
          <p:cNvCxnSpPr/>
          <p:nvPr/>
        </p:nvCxnSpPr>
        <p:spPr>
          <a:xfrm>
            <a:off x="6654800" y="16129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94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Canvas background">
            <a:extLst>
              <a:ext uri="{FF2B5EF4-FFF2-40B4-BE49-F238E27FC236}">
                <a16:creationId xmlns:a16="http://schemas.microsoft.com/office/drawing/2014/main" id="{4EEF652C-918E-2B33-D8B8-F22E886926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Template content panel">
            <a:extLst>
              <a:ext uri="{FF2B5EF4-FFF2-40B4-BE49-F238E27FC236}">
                <a16:creationId xmlns:a16="http://schemas.microsoft.com/office/drawing/2014/main" id="{BD0C5B2C-8A54-D080-2691-69383C3E0858}"/>
              </a:ext>
            </a:extLst>
          </p:cNvPr>
          <p:cNvSpPr/>
          <p:nvPr/>
        </p:nvSpPr>
        <p:spPr>
          <a:xfrm>
            <a:off x="457200" y="4902200"/>
            <a:ext cx="11252200" cy="1371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Template content panel">
            <a:extLst>
              <a:ext uri="{FF2B5EF4-FFF2-40B4-BE49-F238E27FC236}">
                <a16:creationId xmlns:a16="http://schemas.microsoft.com/office/drawing/2014/main" id="{46279532-5960-65CC-3517-DD131BFD607A}"/>
              </a:ext>
            </a:extLst>
          </p:cNvPr>
          <p:cNvSpPr/>
          <p:nvPr/>
        </p:nvSpPr>
        <p:spPr>
          <a:xfrm>
            <a:off x="457200" y="1600200"/>
            <a:ext cx="11252200" cy="35052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9DD761-8CE9-FDE1-5CE1-9D96765BCFCE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D71685-DC99-35C1-0A8F-1E662909855E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06C854E-04E2-5D44-5BF1-9A807EB922E3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4EBE85-A439-28C9-30BB-E9DDEBF5D672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商业模式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7E1CBCF-479D-BBCB-9B1B-0DD5E91DD9ED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5F9297D-FD76-8E93-5187-EB209F93759B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8DBD562-972F-3806-27DA-B1E167432248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先做“监测与调度服务”，再扩展设备与运营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E9F8EB-10DE-7AB0-3AF8-A7ECB1AFECBA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付费方是县级主管部门与乡镇政府，高频使用者是操作员与作业队。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156E635-B0F4-8042-13F3-C0A7BB713C1B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5A0624E-2D8F-BEDC-4D6C-6E0DEF5E6F11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541219-3065-BAB4-697F-162E6A87A0ED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17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B8049C-DD29-FC2F-1789-7DD593180528}"/>
              </a:ext>
            </a:extLst>
          </p:cNvPr>
          <p:cNvSpPr txBox="1"/>
          <p:nvPr/>
        </p:nvSpPr>
        <p:spPr>
          <a:xfrm>
            <a:off x="558800" y="18415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服务类型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718DD4-66A5-9DB8-E5C6-903C3F95F5D1}"/>
              </a:ext>
            </a:extLst>
          </p:cNvPr>
          <p:cNvSpPr txBox="1"/>
          <p:nvPr/>
        </p:nvSpPr>
        <p:spPr>
          <a:xfrm>
            <a:off x="2235200" y="1841500"/>
            <a:ext cx="332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交付内容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58CC62-2212-FA0B-83A3-D78F76ED9061}"/>
              </a:ext>
            </a:extLst>
          </p:cNvPr>
          <p:cNvSpPr txBox="1"/>
          <p:nvPr/>
        </p:nvSpPr>
        <p:spPr>
          <a:xfrm>
            <a:off x="5969000" y="18415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收费口径（测算）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99C468-8D88-F628-7006-A0C83ACD6A8E}"/>
              </a:ext>
            </a:extLst>
          </p:cNvPr>
          <p:cNvSpPr txBox="1"/>
          <p:nvPr/>
        </p:nvSpPr>
        <p:spPr>
          <a:xfrm>
            <a:off x="9499600" y="18415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当前状态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F0D4C85-0C6A-D496-AADF-B408F0E42112}"/>
              </a:ext>
            </a:extLst>
          </p:cNvPr>
          <p:cNvCxnSpPr/>
          <p:nvPr/>
        </p:nvCxnSpPr>
        <p:spPr>
          <a:xfrm>
            <a:off x="558800" y="2159000"/>
            <a:ext cx="11074400" cy="0"/>
          </a:xfrm>
          <a:prstGeom prst="line">
            <a:avLst/>
          </a:prstGeom>
          <a:ln w="12700">
            <a:solidFill>
              <a:srgbClr val="091B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C698A2F5-D11E-4E06-1A5D-2AEB230CA0AB}"/>
              </a:ext>
            </a:extLst>
          </p:cNvPr>
          <p:cNvSpPr/>
          <p:nvPr/>
        </p:nvSpPr>
        <p:spPr>
          <a:xfrm>
            <a:off x="558800" y="2362200"/>
            <a:ext cx="63500" cy="3302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EC8303-9FD7-93B1-4888-DF19BAA79951}"/>
              </a:ext>
            </a:extLst>
          </p:cNvPr>
          <p:cNvSpPr txBox="1"/>
          <p:nvPr/>
        </p:nvSpPr>
        <p:spPr>
          <a:xfrm>
            <a:off x="762000" y="22987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平台接入服务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416F8C-6995-30C2-4408-A83E530EBBE5}"/>
              </a:ext>
            </a:extLst>
          </p:cNvPr>
          <p:cNvSpPr txBox="1"/>
          <p:nvPr/>
        </p:nvSpPr>
        <p:spPr>
          <a:xfrm>
            <a:off x="2235200" y="23114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设备接入、权限、调度与治理看板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54BF12-95C8-D484-ABEA-AAC4AFCBA4FE}"/>
              </a:ext>
            </a:extLst>
          </p:cNvPr>
          <p:cNvSpPr txBox="1"/>
          <p:nvPr/>
        </p:nvSpPr>
        <p:spPr>
          <a:xfrm>
            <a:off x="5969000" y="23114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按设备数量与使用时长测算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72BB60-7E73-B2D9-E71E-3921CAE7D28A}"/>
              </a:ext>
            </a:extLst>
          </p:cNvPr>
          <p:cNvSpPr txBox="1"/>
          <p:nvPr/>
        </p:nvSpPr>
        <p:spPr>
          <a:xfrm>
            <a:off x="9499600" y="2311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待试点核验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88EC68F-C1E4-CF6F-BB86-254FE1F5A8DC}"/>
              </a:ext>
            </a:extLst>
          </p:cNvPr>
          <p:cNvCxnSpPr/>
          <p:nvPr/>
        </p:nvCxnSpPr>
        <p:spPr>
          <a:xfrm>
            <a:off x="558800" y="28194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7A5874AF-9205-810F-32C9-8ACF18E76CD5}"/>
              </a:ext>
            </a:extLst>
          </p:cNvPr>
          <p:cNvSpPr/>
          <p:nvPr/>
        </p:nvSpPr>
        <p:spPr>
          <a:xfrm>
            <a:off x="558800" y="2959100"/>
            <a:ext cx="63500" cy="3302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A6CAF8-1F0C-B7DE-A527-9F72964766EA}"/>
              </a:ext>
            </a:extLst>
          </p:cNvPr>
          <p:cNvSpPr txBox="1"/>
          <p:nvPr/>
        </p:nvSpPr>
        <p:spPr>
          <a:xfrm>
            <a:off x="762000" y="28956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设备租赁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B871D0-903E-AB3D-7432-7277ABA937F3}"/>
              </a:ext>
            </a:extLst>
          </p:cNvPr>
          <p:cNvSpPr txBox="1"/>
          <p:nvPr/>
        </p:nvSpPr>
        <p:spPr>
          <a:xfrm>
            <a:off x="2235200" y="29083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无人船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无人机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无人车与基础运维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74078D-1F47-69C7-876B-C956B35DC819}"/>
              </a:ext>
            </a:extLst>
          </p:cNvPr>
          <p:cNvSpPr txBox="1"/>
          <p:nvPr/>
        </p:nvSpPr>
        <p:spPr>
          <a:xfrm>
            <a:off x="5969000" y="29083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按租期与运维范围测算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B083E3-DD8E-44D5-D02B-1F9210B41F6C}"/>
              </a:ext>
            </a:extLst>
          </p:cNvPr>
          <p:cNvSpPr txBox="1"/>
          <p:nvPr/>
        </p:nvSpPr>
        <p:spPr>
          <a:xfrm>
            <a:off x="9499600" y="29083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待试点核验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9584F3F-0EDE-3D14-F582-2992516F2D1D}"/>
              </a:ext>
            </a:extLst>
          </p:cNvPr>
          <p:cNvCxnSpPr/>
          <p:nvPr/>
        </p:nvCxnSpPr>
        <p:spPr>
          <a:xfrm>
            <a:off x="558800" y="34163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A46CF446-426D-38EE-1E2A-85ED22BB3E72}"/>
              </a:ext>
            </a:extLst>
          </p:cNvPr>
          <p:cNvSpPr/>
          <p:nvPr/>
        </p:nvSpPr>
        <p:spPr>
          <a:xfrm>
            <a:off x="558800" y="3556000"/>
            <a:ext cx="63500" cy="3302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95453D7-BD81-9DD3-5AE4-39CC5AFAF4BF}"/>
              </a:ext>
            </a:extLst>
          </p:cNvPr>
          <p:cNvSpPr txBox="1"/>
          <p:nvPr/>
        </p:nvSpPr>
        <p:spPr>
          <a:xfrm>
            <a:off x="762000" y="3492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项目交付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BFB238C-10BB-00B9-DF3D-5E6809E90FB5}"/>
              </a:ext>
            </a:extLst>
          </p:cNvPr>
          <p:cNvSpPr txBox="1"/>
          <p:nvPr/>
        </p:nvSpPr>
        <p:spPr>
          <a:xfrm>
            <a:off x="2235200" y="35052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面向养殖企业与沿海管理单位定制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437DCB8-0D9B-B225-E7F0-39D4D1C39ABF}"/>
              </a:ext>
            </a:extLst>
          </p:cNvPr>
          <p:cNvSpPr txBox="1"/>
          <p:nvPr/>
        </p:nvSpPr>
        <p:spPr>
          <a:xfrm>
            <a:off x="5969000" y="35052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按场景与交付范围报价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79F5C2E-B1CC-DFEB-59BE-2BBB57DDF3EB}"/>
              </a:ext>
            </a:extLst>
          </p:cNvPr>
          <p:cNvSpPr txBox="1"/>
          <p:nvPr/>
        </p:nvSpPr>
        <p:spPr>
          <a:xfrm>
            <a:off x="9499600" y="35052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待试点核验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D5FE95F-E940-BB72-502A-7E4328333114}"/>
              </a:ext>
            </a:extLst>
          </p:cNvPr>
          <p:cNvCxnSpPr/>
          <p:nvPr/>
        </p:nvCxnSpPr>
        <p:spPr>
          <a:xfrm>
            <a:off x="558800" y="40132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9169BFE4-5530-41D7-6367-4F06C4500C78}"/>
              </a:ext>
            </a:extLst>
          </p:cNvPr>
          <p:cNvSpPr/>
          <p:nvPr/>
        </p:nvSpPr>
        <p:spPr>
          <a:xfrm>
            <a:off x="558800" y="4152900"/>
            <a:ext cx="63500" cy="3302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36FE7FD-D4E8-F032-84A0-896CDD543F1C}"/>
              </a:ext>
            </a:extLst>
          </p:cNvPr>
          <p:cNvSpPr txBox="1"/>
          <p:nvPr/>
        </p:nvSpPr>
        <p:spPr>
          <a:xfrm>
            <a:off x="762000" y="4089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运维与数据服务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0F06CD2-ED2D-9E03-7958-B6AC93ADF80A}"/>
              </a:ext>
            </a:extLst>
          </p:cNvPr>
          <p:cNvSpPr txBox="1"/>
          <p:nvPr/>
        </p:nvSpPr>
        <p:spPr>
          <a:xfrm>
            <a:off x="2235200" y="41021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维护、耗材更换与治理效果报告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E3CBB3E-8802-0122-56F1-15AEB2D8C5C3}"/>
              </a:ext>
            </a:extLst>
          </p:cNvPr>
          <p:cNvSpPr txBox="1"/>
          <p:nvPr/>
        </p:nvSpPr>
        <p:spPr>
          <a:xfrm>
            <a:off x="5969000" y="41021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按年度服务范围测算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5249AAF-B757-69BD-0352-A8D21EF75A9D}"/>
              </a:ext>
            </a:extLst>
          </p:cNvPr>
          <p:cNvSpPr txBox="1"/>
          <p:nvPr/>
        </p:nvSpPr>
        <p:spPr>
          <a:xfrm>
            <a:off x="9499600" y="41021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待试点核验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B576C47-6152-EA24-6519-C674C363C249}"/>
              </a:ext>
            </a:extLst>
          </p:cNvPr>
          <p:cNvCxnSpPr/>
          <p:nvPr/>
        </p:nvCxnSpPr>
        <p:spPr>
          <a:xfrm>
            <a:off x="558800" y="46101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1129CFC-A988-85DE-AB1A-27744EF2CB3D}"/>
              </a:ext>
            </a:extLst>
          </p:cNvPr>
          <p:cNvSpPr txBox="1"/>
          <p:nvPr/>
        </p:nvSpPr>
        <p:spPr>
          <a:xfrm>
            <a:off x="558800" y="49657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推广路径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A9354B4-99A3-704C-6972-F0D464F4E682}"/>
              </a:ext>
            </a:extLst>
          </p:cNvPr>
          <p:cNvCxnSpPr/>
          <p:nvPr/>
        </p:nvCxnSpPr>
        <p:spPr>
          <a:xfrm>
            <a:off x="711200" y="5334000"/>
            <a:ext cx="10782300" cy="0"/>
          </a:xfrm>
          <a:prstGeom prst="line">
            <a:avLst/>
          </a:prstGeom>
          <a:ln w="1270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BA3C11AA-9E80-C626-E950-8C9104553135}"/>
              </a:ext>
            </a:extLst>
          </p:cNvPr>
          <p:cNvSpPr/>
          <p:nvPr/>
        </p:nvSpPr>
        <p:spPr>
          <a:xfrm>
            <a:off x="558800" y="52705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482A1F8-7E99-9C42-AC19-3DB81CEB0F10}"/>
              </a:ext>
            </a:extLst>
          </p:cNvPr>
          <p:cNvSpPr txBox="1"/>
          <p:nvPr/>
        </p:nvSpPr>
        <p:spPr>
          <a:xfrm>
            <a:off x="558800" y="5511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41B0E0D-6E72-F308-D9D8-10359595FBE3}"/>
              </a:ext>
            </a:extLst>
          </p:cNvPr>
          <p:cNvSpPr txBox="1"/>
          <p:nvPr/>
        </p:nvSpPr>
        <p:spPr>
          <a:xfrm>
            <a:off x="1041400" y="5486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连江试点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73E4B93-25F4-8493-2C06-28DCC5E13BAF}"/>
              </a:ext>
            </a:extLst>
          </p:cNvPr>
          <p:cNvSpPr txBox="1"/>
          <p:nvPr/>
        </p:nvSpPr>
        <p:spPr>
          <a:xfrm>
            <a:off x="558800" y="57912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养殖区验证无人船；沙滩验证无人车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38EDA170-EE26-5EF4-06F5-4E4BB9295190}"/>
              </a:ext>
            </a:extLst>
          </p:cNvPr>
          <p:cNvSpPr/>
          <p:nvPr/>
        </p:nvSpPr>
        <p:spPr>
          <a:xfrm>
            <a:off x="3352800" y="52705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CF5C8CC-FB0F-D98B-11F9-E868213A5D3C}"/>
              </a:ext>
            </a:extLst>
          </p:cNvPr>
          <p:cNvSpPr txBox="1"/>
          <p:nvPr/>
        </p:nvSpPr>
        <p:spPr>
          <a:xfrm>
            <a:off x="3352800" y="5511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8AB0572-5267-C1AE-3662-E3E59FDC2A35}"/>
              </a:ext>
            </a:extLst>
          </p:cNvPr>
          <p:cNvSpPr txBox="1"/>
          <p:nvPr/>
        </p:nvSpPr>
        <p:spPr>
          <a:xfrm>
            <a:off x="3835400" y="5486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区域复制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C5A935B-3187-91F5-2FEC-29FE347EB1CA}"/>
              </a:ext>
            </a:extLst>
          </p:cNvPr>
          <p:cNvSpPr txBox="1"/>
          <p:nvPr/>
        </p:nvSpPr>
        <p:spPr>
          <a:xfrm>
            <a:off x="3352800" y="57912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推广至条件相近的周边沿海县区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201876EB-5175-548A-6CF0-5076C05FA980}"/>
              </a:ext>
            </a:extLst>
          </p:cNvPr>
          <p:cNvSpPr/>
          <p:nvPr/>
        </p:nvSpPr>
        <p:spPr>
          <a:xfrm>
            <a:off x="6146800" y="52705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FA2A8AD-E213-DD02-3034-9E26675ADEFB}"/>
              </a:ext>
            </a:extLst>
          </p:cNvPr>
          <p:cNvSpPr txBox="1"/>
          <p:nvPr/>
        </p:nvSpPr>
        <p:spPr>
          <a:xfrm>
            <a:off x="6146800" y="5511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5CE8F1B-DB30-9AE5-D571-86DFDCCD9A58}"/>
              </a:ext>
            </a:extLst>
          </p:cNvPr>
          <p:cNvSpPr txBox="1"/>
          <p:nvPr/>
        </p:nvSpPr>
        <p:spPr>
          <a:xfrm>
            <a:off x="6629400" y="5486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规模运营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2B25FB1-E21B-EA87-2EF4-C40879D5FAB0}"/>
              </a:ext>
            </a:extLst>
          </p:cNvPr>
          <p:cNvSpPr txBox="1"/>
          <p:nvPr/>
        </p:nvSpPr>
        <p:spPr>
          <a:xfrm>
            <a:off x="6146800" y="57912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扩展设备组合，叠加运维与数据服务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B83D4FEB-6EE5-B50E-4478-95C1B3025EAD}"/>
              </a:ext>
            </a:extLst>
          </p:cNvPr>
          <p:cNvSpPr/>
          <p:nvPr/>
        </p:nvSpPr>
        <p:spPr>
          <a:xfrm>
            <a:off x="8940800" y="52705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3D301F8-C16B-FD47-6DA5-4D2FFC759BC6}"/>
              </a:ext>
            </a:extLst>
          </p:cNvPr>
          <p:cNvSpPr txBox="1"/>
          <p:nvPr/>
        </p:nvSpPr>
        <p:spPr>
          <a:xfrm>
            <a:off x="8940800" y="5511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23D8F4C-9167-395B-AAE9-A0A304151284}"/>
              </a:ext>
            </a:extLst>
          </p:cNvPr>
          <p:cNvSpPr txBox="1"/>
          <p:nvPr/>
        </p:nvSpPr>
        <p:spPr>
          <a:xfrm>
            <a:off x="9423400" y="5486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生态共建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F8B0023-8633-A650-1733-8E09B89585BF}"/>
              </a:ext>
            </a:extLst>
          </p:cNvPr>
          <p:cNvSpPr txBox="1"/>
          <p:nvPr/>
        </p:nvSpPr>
        <p:spPr>
          <a:xfrm>
            <a:off x="8940800" y="57912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开放接口，第三方设备与数据接入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862CD4F-8493-076D-597C-D6344F5AC7CF}"/>
              </a:ext>
            </a:extLst>
          </p:cNvPr>
          <p:cNvSpPr txBox="1"/>
          <p:nvPr/>
        </p:nvSpPr>
        <p:spPr>
          <a:xfrm>
            <a:off x="558800" y="6096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商业边界：当前没有合同、订单或回款；以上均为试点前测算口径，不构成成交承诺。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E1E9E19-E081-3319-7A0D-7B8F400722E6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9E86FDF0-9E15-C643-CD2C-E37FE6299062}"/>
              </a:ext>
            </a:extLst>
          </p:cNvPr>
          <p:cNvCxnSpPr/>
          <p:nvPr/>
        </p:nvCxnSpPr>
        <p:spPr>
          <a:xfrm>
            <a:off x="635000" y="4914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501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Canvas background">
            <a:extLst>
              <a:ext uri="{FF2B5EF4-FFF2-40B4-BE49-F238E27FC236}">
                <a16:creationId xmlns:a16="http://schemas.microsoft.com/office/drawing/2014/main" id="{6E68316C-41E8-17D8-D3D8-D02B47D5B1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6" name="Template content panel">
            <a:extLst>
              <a:ext uri="{FF2B5EF4-FFF2-40B4-BE49-F238E27FC236}">
                <a16:creationId xmlns:a16="http://schemas.microsoft.com/office/drawing/2014/main" id="{D310FDE5-FC7F-BD6B-F593-0E1D5CAE1181}"/>
              </a:ext>
            </a:extLst>
          </p:cNvPr>
          <p:cNvSpPr/>
          <p:nvPr/>
        </p:nvSpPr>
        <p:spPr>
          <a:xfrm>
            <a:off x="457200" y="4724400"/>
            <a:ext cx="11252200" cy="1498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Template content panel">
            <a:extLst>
              <a:ext uri="{FF2B5EF4-FFF2-40B4-BE49-F238E27FC236}">
                <a16:creationId xmlns:a16="http://schemas.microsoft.com/office/drawing/2014/main" id="{92413541-8087-B3A3-5E90-C676F782F19D}"/>
              </a:ext>
            </a:extLst>
          </p:cNvPr>
          <p:cNvSpPr/>
          <p:nvPr/>
        </p:nvSpPr>
        <p:spPr>
          <a:xfrm>
            <a:off x="7670800" y="1600200"/>
            <a:ext cx="3505200" cy="3022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mplate content panel">
            <a:extLst>
              <a:ext uri="{FF2B5EF4-FFF2-40B4-BE49-F238E27FC236}">
                <a16:creationId xmlns:a16="http://schemas.microsoft.com/office/drawing/2014/main" id="{53CAFEC1-9F23-5D65-2A77-F356906E8E87}"/>
              </a:ext>
            </a:extLst>
          </p:cNvPr>
          <p:cNvSpPr/>
          <p:nvPr/>
        </p:nvSpPr>
        <p:spPr>
          <a:xfrm>
            <a:off x="4064000" y="1600200"/>
            <a:ext cx="3505200" cy="3022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Template content panel">
            <a:extLst>
              <a:ext uri="{FF2B5EF4-FFF2-40B4-BE49-F238E27FC236}">
                <a16:creationId xmlns:a16="http://schemas.microsoft.com/office/drawing/2014/main" id="{459298F7-E985-7D77-AC22-B474DA449BF0}"/>
              </a:ext>
            </a:extLst>
          </p:cNvPr>
          <p:cNvSpPr/>
          <p:nvPr/>
        </p:nvSpPr>
        <p:spPr>
          <a:xfrm>
            <a:off x="457200" y="1600200"/>
            <a:ext cx="3505200" cy="30226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C1B835-9B52-1B86-8722-4311B5052561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4DAD8F-4374-083F-C83F-C63FC61F9E33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142A1C8-0C70-1D87-0923-6B3C343F466F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F7FD5-922A-0420-70BB-5A8DB59FC8AD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05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协作与计划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54FE119-A033-56CC-1D6D-F3311F2384EE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0FEBEEE-831B-0F36-E131-E91AF80CE751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1650D74-6BE6-5ABC-7383-7296F8798CFB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落地节奏：先在可控场景验证，再复制到相近海域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8DB312-9F71-951B-2AF8-83FAFAFBA9A6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每一阶段都有明确的进入条件与退出门槛。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3435B60-0ACF-2CF6-F1B5-3EC90CBD366A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71A6C2C-7F82-A7BC-DFEA-F16A4FB12F1E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82917E-9255-CC7C-480A-B60F76947E05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18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4CC86F2-5BE3-8BF8-8F4B-1AF4C2CD7981}"/>
              </a:ext>
            </a:extLst>
          </p:cNvPr>
          <p:cNvCxnSpPr/>
          <p:nvPr/>
        </p:nvCxnSpPr>
        <p:spPr>
          <a:xfrm>
            <a:off x="558800" y="2006600"/>
            <a:ext cx="3429000" cy="0"/>
          </a:xfrm>
          <a:prstGeom prst="line">
            <a:avLst/>
          </a:prstGeom>
          <a:ln w="25400">
            <a:solidFill>
              <a:srgbClr val="2858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0AD416B-B682-1E47-8B8C-5D398F99C989}"/>
              </a:ext>
            </a:extLst>
          </p:cNvPr>
          <p:cNvSpPr txBox="1"/>
          <p:nvPr/>
        </p:nvSpPr>
        <p:spPr>
          <a:xfrm>
            <a:off x="558800" y="2209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第一阶段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95AE98-D262-6A9D-3ADB-E1B8C406EA1B}"/>
              </a:ext>
            </a:extLst>
          </p:cNvPr>
          <p:cNvSpPr txBox="1"/>
          <p:nvPr/>
        </p:nvSpPr>
        <p:spPr>
          <a:xfrm>
            <a:off x="2844800" y="2209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年内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C3D377D-2F5E-C6C5-22D8-8BFE1884C99A}"/>
              </a:ext>
            </a:extLst>
          </p:cNvPr>
          <p:cNvSpPr/>
          <p:nvPr/>
        </p:nvSpPr>
        <p:spPr>
          <a:xfrm>
            <a:off x="584200" y="2794000"/>
            <a:ext cx="63500" cy="63500"/>
          </a:xfrm>
          <a:prstGeom prst="ellipse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DE1FFF3-F994-30C8-7FE0-9CBC78AB5363}"/>
              </a:ext>
            </a:extLst>
          </p:cNvPr>
          <p:cNvSpPr txBox="1"/>
          <p:nvPr/>
        </p:nvSpPr>
        <p:spPr>
          <a:xfrm>
            <a:off x="762000" y="27051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完成三类设备部件选型与载荷核算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DD3C034-60A2-4720-2F38-B396F757A5AE}"/>
              </a:ext>
            </a:extLst>
          </p:cNvPr>
          <p:cNvSpPr/>
          <p:nvPr/>
        </p:nvSpPr>
        <p:spPr>
          <a:xfrm>
            <a:off x="584200" y="3479800"/>
            <a:ext cx="63500" cy="63500"/>
          </a:xfrm>
          <a:prstGeom prst="ellipse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1A8F745-E4F7-CD73-1A21-6574CD7E9138}"/>
              </a:ext>
            </a:extLst>
          </p:cNvPr>
          <p:cNvSpPr txBox="1"/>
          <p:nvPr/>
        </p:nvSpPr>
        <p:spPr>
          <a:xfrm>
            <a:off x="762000" y="33909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样机集成与连江受控测试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EC8A1FE-017D-4161-B048-175B59778945}"/>
              </a:ext>
            </a:extLst>
          </p:cNvPr>
          <p:cNvSpPr/>
          <p:nvPr/>
        </p:nvSpPr>
        <p:spPr>
          <a:xfrm>
            <a:off x="584200" y="4165600"/>
            <a:ext cx="63500" cy="63500"/>
          </a:xfrm>
          <a:prstGeom prst="ellipse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C2B950-333C-D4FA-55CE-2D97D26D4C55}"/>
              </a:ext>
            </a:extLst>
          </p:cNvPr>
          <p:cNvSpPr txBox="1"/>
          <p:nvPr/>
        </p:nvSpPr>
        <p:spPr>
          <a:xfrm>
            <a:off x="762000" y="40767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启动养殖区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沙滩试点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8330B6B-B4E4-4B97-2B27-829EB3A4480F}"/>
              </a:ext>
            </a:extLst>
          </p:cNvPr>
          <p:cNvCxnSpPr/>
          <p:nvPr/>
        </p:nvCxnSpPr>
        <p:spPr>
          <a:xfrm>
            <a:off x="4394200" y="2006600"/>
            <a:ext cx="3429000" cy="0"/>
          </a:xfrm>
          <a:prstGeom prst="line">
            <a:avLst/>
          </a:prstGeom>
          <a:ln w="25400">
            <a:solidFill>
              <a:srgbClr val="26776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ED4AC9D-7C77-8751-33B5-6BE8B7AA36EA}"/>
              </a:ext>
            </a:extLst>
          </p:cNvPr>
          <p:cNvSpPr txBox="1"/>
          <p:nvPr/>
        </p:nvSpPr>
        <p:spPr>
          <a:xfrm>
            <a:off x="4394200" y="2209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第二阶段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E08DF5E-1339-C11B-9B8F-47B218A30175}"/>
              </a:ext>
            </a:extLst>
          </p:cNvPr>
          <p:cNvSpPr txBox="1"/>
          <p:nvPr/>
        </p:nvSpPr>
        <p:spPr>
          <a:xfrm>
            <a:off x="6680200" y="2209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2-3 </a:t>
            </a:r>
            <a:r>
              <a:rPr lang="zh-CN" altLang="en-US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年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DC4BF7D-0132-60E4-15B4-6E52CCDBE7DA}"/>
              </a:ext>
            </a:extLst>
          </p:cNvPr>
          <p:cNvSpPr/>
          <p:nvPr/>
        </p:nvSpPr>
        <p:spPr>
          <a:xfrm>
            <a:off x="4419600" y="2794000"/>
            <a:ext cx="63500" cy="6350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150D11-626C-890B-6534-B8C3AD465043}"/>
              </a:ext>
            </a:extLst>
          </p:cNvPr>
          <p:cNvSpPr txBox="1"/>
          <p:nvPr/>
        </p:nvSpPr>
        <p:spPr>
          <a:xfrm>
            <a:off x="4597400" y="27051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覆盖周边 </a:t>
            </a:r>
            <a:r>
              <a:rPr lang="en-US" altLang="zh-CN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5 </a:t>
            </a:r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个条件相近沿海县区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FFE7E1EB-0662-74B9-B18A-2050FA2C7BCB}"/>
              </a:ext>
            </a:extLst>
          </p:cNvPr>
          <p:cNvSpPr/>
          <p:nvPr/>
        </p:nvSpPr>
        <p:spPr>
          <a:xfrm>
            <a:off x="4419600" y="3479800"/>
            <a:ext cx="63500" cy="6350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FFC4ED-3ABD-040E-8246-8BBC9E3E6F0D}"/>
              </a:ext>
            </a:extLst>
          </p:cNvPr>
          <p:cNvSpPr txBox="1"/>
          <p:nvPr/>
        </p:nvSpPr>
        <p:spPr>
          <a:xfrm>
            <a:off x="4597400" y="33909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形成区域设置、培训与维护方法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1B921C3-1A99-CBB5-60AE-6A78CFE5662D}"/>
              </a:ext>
            </a:extLst>
          </p:cNvPr>
          <p:cNvSpPr/>
          <p:nvPr/>
        </p:nvSpPr>
        <p:spPr>
          <a:xfrm>
            <a:off x="4419600" y="4165600"/>
            <a:ext cx="63500" cy="63500"/>
          </a:xfrm>
          <a:prstGeom prst="ellipse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6933374-1A05-4E1C-7EF8-B2168C0295E8}"/>
              </a:ext>
            </a:extLst>
          </p:cNvPr>
          <p:cNvSpPr txBox="1"/>
          <p:nvPr/>
        </p:nvSpPr>
        <p:spPr>
          <a:xfrm>
            <a:off x="4597400" y="40767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拓展水质监测等增值服务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F1F34BB-BA7C-91D0-EF7A-834470E58C18}"/>
              </a:ext>
            </a:extLst>
          </p:cNvPr>
          <p:cNvCxnSpPr/>
          <p:nvPr/>
        </p:nvCxnSpPr>
        <p:spPr>
          <a:xfrm>
            <a:off x="8229600" y="2006600"/>
            <a:ext cx="3429000" cy="0"/>
          </a:xfrm>
          <a:prstGeom prst="line">
            <a:avLst/>
          </a:prstGeom>
          <a:ln w="2540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53FFACC8-4ACD-5956-4091-600C80D8EFD2}"/>
              </a:ext>
            </a:extLst>
          </p:cNvPr>
          <p:cNvSpPr txBox="1"/>
          <p:nvPr/>
        </p:nvSpPr>
        <p:spPr>
          <a:xfrm>
            <a:off x="8229600" y="2209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7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第三阶段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D6B0180-6459-943F-11FF-C58566FFB4B3}"/>
              </a:ext>
            </a:extLst>
          </p:cNvPr>
          <p:cNvSpPr txBox="1"/>
          <p:nvPr/>
        </p:nvSpPr>
        <p:spPr>
          <a:xfrm>
            <a:off x="10515600" y="2209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5 </a:t>
            </a:r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年以上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64415297-BA4E-E0DB-2E85-B9989D83E2AF}"/>
              </a:ext>
            </a:extLst>
          </p:cNvPr>
          <p:cNvSpPr/>
          <p:nvPr/>
        </p:nvSpPr>
        <p:spPr>
          <a:xfrm>
            <a:off x="8255000" y="27940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32C3D8E-1EE1-5037-03B7-F53C66C9DB2C}"/>
              </a:ext>
            </a:extLst>
          </p:cNvPr>
          <p:cNvSpPr txBox="1"/>
          <p:nvPr/>
        </p:nvSpPr>
        <p:spPr>
          <a:xfrm>
            <a:off x="8432800" y="27051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形成区域运营与数据服务能力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A41C6A9B-521D-0CF1-32A9-F2124B093BF6}"/>
              </a:ext>
            </a:extLst>
          </p:cNvPr>
          <p:cNvSpPr/>
          <p:nvPr/>
        </p:nvSpPr>
        <p:spPr>
          <a:xfrm>
            <a:off x="8255000" y="34798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B50076-A58D-8AE5-210A-BDD1013CF0AB}"/>
              </a:ext>
            </a:extLst>
          </p:cNvPr>
          <p:cNvSpPr txBox="1"/>
          <p:nvPr/>
        </p:nvSpPr>
        <p:spPr>
          <a:xfrm>
            <a:off x="8432800" y="33909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开放第三方设备接入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1ED63854-94CC-0383-FDC0-678E42F4BA77}"/>
              </a:ext>
            </a:extLst>
          </p:cNvPr>
          <p:cNvSpPr/>
          <p:nvPr/>
        </p:nvSpPr>
        <p:spPr>
          <a:xfrm>
            <a:off x="8255000" y="4165600"/>
            <a:ext cx="63500" cy="635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9758817-CEC4-D869-ABA4-5F5E06635EFE}"/>
              </a:ext>
            </a:extLst>
          </p:cNvPr>
          <p:cNvSpPr txBox="1"/>
          <p:nvPr/>
        </p:nvSpPr>
        <p:spPr>
          <a:xfrm>
            <a:off x="8432800" y="40767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具备条件时拓展境外沿海市场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EB47725-B71A-6D54-6DD2-75531F8A1508}"/>
              </a:ext>
            </a:extLst>
          </p:cNvPr>
          <p:cNvSpPr txBox="1"/>
          <p:nvPr/>
        </p:nvSpPr>
        <p:spPr>
          <a:xfrm>
            <a:off x="558800" y="4927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风险控制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6EAE87D-C86D-E087-F842-646DA364F6B9}"/>
              </a:ext>
            </a:extLst>
          </p:cNvPr>
          <p:cNvSpPr txBox="1"/>
          <p:nvPr/>
        </p:nvSpPr>
        <p:spPr>
          <a:xfrm>
            <a:off x="558800" y="53086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技术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环境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4EF0F8A-6D0C-0C62-43E1-9A8D1315FCAA}"/>
              </a:ext>
            </a:extLst>
          </p:cNvPr>
          <p:cNvSpPr txBox="1"/>
          <p:nvPr/>
        </p:nvSpPr>
        <p:spPr>
          <a:xfrm>
            <a:off x="2235200" y="5308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桌面实验 → 受控联调 → 现场测试，逐级验证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4E80002-EC55-870F-02F7-45F64127DC63}"/>
              </a:ext>
            </a:extLst>
          </p:cNvPr>
          <p:cNvSpPr txBox="1"/>
          <p:nvPr/>
        </p:nvSpPr>
        <p:spPr>
          <a:xfrm>
            <a:off x="6172200" y="53086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作业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公共安全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E4F8D9-6515-BA4B-DF8A-C66B32CB8AED}"/>
              </a:ext>
            </a:extLst>
          </p:cNvPr>
          <p:cNvSpPr txBox="1"/>
          <p:nvPr/>
        </p:nvSpPr>
        <p:spPr>
          <a:xfrm>
            <a:off x="7848600" y="5308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现场负责人、操作与记录人员，确保及时停机回收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5DF1F4C-1A32-21F8-FEA6-24D0D514AD0C}"/>
              </a:ext>
            </a:extLst>
          </p:cNvPr>
          <p:cNvSpPr txBox="1"/>
          <p:nvPr/>
        </p:nvSpPr>
        <p:spPr>
          <a:xfrm>
            <a:off x="558800" y="58166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市场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经营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E7413C5-4BAB-39F3-92E9-668C0115BEA9}"/>
              </a:ext>
            </a:extLst>
          </p:cNvPr>
          <p:cNvSpPr txBox="1"/>
          <p:nvPr/>
        </p:nvSpPr>
        <p:spPr>
          <a:xfrm>
            <a:off x="2235200" y="5816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试点前核对日常任务与预算，按范围交付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E6FA7D8-DF39-9A2A-8954-B688DE781FD0}"/>
              </a:ext>
            </a:extLst>
          </p:cNvPr>
          <p:cNvSpPr txBox="1"/>
          <p:nvPr/>
        </p:nvSpPr>
        <p:spPr>
          <a:xfrm>
            <a:off x="6172200" y="58166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组织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人员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B9C4CD4-4AB7-2BF5-968B-8D4FCBFC80D7}"/>
              </a:ext>
            </a:extLst>
          </p:cNvPr>
          <p:cNvSpPr txBox="1"/>
          <p:nvPr/>
        </p:nvSpPr>
        <p:spPr>
          <a:xfrm>
            <a:off x="7848600" y="5816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任务分级验收，模块化文档与版本登记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5CDC68C-42D2-A231-0860-D58037049066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BEFAA8C-98D6-8414-D97D-485CA9889767}"/>
              </a:ext>
            </a:extLst>
          </p:cNvPr>
          <p:cNvCxnSpPr/>
          <p:nvPr/>
        </p:nvCxnSpPr>
        <p:spPr>
          <a:xfrm>
            <a:off x="42418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99332A5-FA54-E929-9415-3EF997FC4E9D}"/>
              </a:ext>
            </a:extLst>
          </p:cNvPr>
          <p:cNvCxnSpPr/>
          <p:nvPr/>
        </p:nvCxnSpPr>
        <p:spPr>
          <a:xfrm>
            <a:off x="7848600" y="16129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276EDE9-632A-8DA7-53CB-F60BDC9828D2}"/>
              </a:ext>
            </a:extLst>
          </p:cNvPr>
          <p:cNvCxnSpPr/>
          <p:nvPr/>
        </p:nvCxnSpPr>
        <p:spPr>
          <a:xfrm>
            <a:off x="635000" y="4737100"/>
            <a:ext cx="635000" cy="0"/>
          </a:xfrm>
          <a:prstGeom prst="line">
            <a:avLst/>
          </a:prstGeom>
          <a:ln w="17780">
            <a:solidFill>
              <a:srgbClr val="A87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842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Canvas background">
            <a:extLst>
              <a:ext uri="{FF2B5EF4-FFF2-40B4-BE49-F238E27FC236}">
                <a16:creationId xmlns:a16="http://schemas.microsoft.com/office/drawing/2014/main" id="{1F3A5565-3C3E-3BE6-5073-7C50D61503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9" name="Template content panel">
            <a:extLst>
              <a:ext uri="{FF2B5EF4-FFF2-40B4-BE49-F238E27FC236}">
                <a16:creationId xmlns:a16="http://schemas.microsoft.com/office/drawing/2014/main" id="{508CE5E8-FF7C-7133-6AC7-3070E6A32E6F}"/>
              </a:ext>
            </a:extLst>
          </p:cNvPr>
          <p:cNvSpPr/>
          <p:nvPr/>
        </p:nvSpPr>
        <p:spPr>
          <a:xfrm>
            <a:off x="457200" y="5194300"/>
            <a:ext cx="11252200" cy="12065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Template content panel">
            <a:extLst>
              <a:ext uri="{FF2B5EF4-FFF2-40B4-BE49-F238E27FC236}">
                <a16:creationId xmlns:a16="http://schemas.microsoft.com/office/drawing/2014/main" id="{4F08C615-20F2-493C-EE1E-0C9394BF7B0E}"/>
              </a:ext>
            </a:extLst>
          </p:cNvPr>
          <p:cNvSpPr/>
          <p:nvPr/>
        </p:nvSpPr>
        <p:spPr>
          <a:xfrm>
            <a:off x="457200" y="1600200"/>
            <a:ext cx="11252200" cy="35814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739657-FB0C-5836-2322-47E2F93BB960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881BDB-F56A-5D86-91BE-17112A0027BF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F223199-431A-2342-F22A-D66A2D6A3937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299128-A771-22AF-F389-DF3644A4DFDF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05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协作与计划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19A29CE-7858-4FA6-46D8-D1C75C9AA0A2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C9A472-95DF-03D3-34B3-8056A0E201FB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9B8CEE8-9C7C-3233-9162-45123267E7E3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协作结构：算法、平台、硬件与验证形成交付闭环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CDFF14-2839-A1E9-331F-53BC3E813BED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围绕真实治理任务组织跨学科协作，成果、接口与验证记录可交接。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4F9B99B-78CF-21C3-640F-9E5DA0098630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A8BAC0C-2619-557E-7DC1-99D3DD4784D4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1206A1-A58A-D903-BCAB-B7D77DB77070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19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A44322-2005-9833-6CA6-30B842C1545C}"/>
              </a:ext>
            </a:extLst>
          </p:cNvPr>
          <p:cNvSpPr txBox="1"/>
          <p:nvPr/>
        </p:nvSpPr>
        <p:spPr>
          <a:xfrm>
            <a:off x="558800" y="18415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能力模块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EDBE6D-A08E-F1B9-A15E-E4BB7A705CE0}"/>
              </a:ext>
            </a:extLst>
          </p:cNvPr>
          <p:cNvSpPr txBox="1"/>
          <p:nvPr/>
        </p:nvSpPr>
        <p:spPr>
          <a:xfrm>
            <a:off x="2260600" y="1841500"/>
            <a:ext cx="261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负责范围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955D34-09D2-4110-2079-B0DD1F5C09CE}"/>
              </a:ext>
            </a:extLst>
          </p:cNvPr>
          <p:cNvSpPr txBox="1"/>
          <p:nvPr/>
        </p:nvSpPr>
        <p:spPr>
          <a:xfrm>
            <a:off x="5156200" y="18415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主要交付物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D3126E-8479-9E12-6925-CFB6362B5B03}"/>
              </a:ext>
            </a:extLst>
          </p:cNvPr>
          <p:cNvSpPr txBox="1"/>
          <p:nvPr/>
        </p:nvSpPr>
        <p:spPr>
          <a:xfrm>
            <a:off x="8585200" y="18415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可交接记录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7879EF2-29BB-8714-4DEF-9DF704B28B9D}"/>
              </a:ext>
            </a:extLst>
          </p:cNvPr>
          <p:cNvCxnSpPr/>
          <p:nvPr/>
        </p:nvCxnSpPr>
        <p:spPr>
          <a:xfrm>
            <a:off x="558800" y="2159000"/>
            <a:ext cx="11074400" cy="0"/>
          </a:xfrm>
          <a:prstGeom prst="line">
            <a:avLst/>
          </a:prstGeom>
          <a:ln w="12700">
            <a:solidFill>
              <a:srgbClr val="091B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5411DFF2-9126-BB18-5603-741A0A0F4A89}"/>
              </a:ext>
            </a:extLst>
          </p:cNvPr>
          <p:cNvSpPr/>
          <p:nvPr/>
        </p:nvSpPr>
        <p:spPr>
          <a:xfrm>
            <a:off x="558800" y="2374900"/>
            <a:ext cx="63500" cy="3302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9AAC71-1954-E3C8-3871-EC266019BAC3}"/>
              </a:ext>
            </a:extLst>
          </p:cNvPr>
          <p:cNvSpPr txBox="1"/>
          <p:nvPr/>
        </p:nvSpPr>
        <p:spPr>
          <a:xfrm>
            <a:off x="7620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01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A3FB46-82F9-34FE-052B-66A020DA0263}"/>
              </a:ext>
            </a:extLst>
          </p:cNvPr>
          <p:cNvSpPr txBox="1"/>
          <p:nvPr/>
        </p:nvSpPr>
        <p:spPr>
          <a:xfrm>
            <a:off x="1168400" y="2286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算法与感知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EB482E-334E-5587-BAC3-FFE7D16BA2C4}"/>
              </a:ext>
            </a:extLst>
          </p:cNvPr>
          <p:cNvSpPr txBox="1"/>
          <p:nvPr/>
        </p:nvSpPr>
        <p:spPr>
          <a:xfrm>
            <a:off x="2260600" y="22987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检测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跟踪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时序验证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A850A6-C223-59E2-3850-D7A0926C72ED}"/>
              </a:ext>
            </a:extLst>
          </p:cNvPr>
          <p:cNvSpPr txBox="1"/>
          <p:nvPr/>
        </p:nvSpPr>
        <p:spPr>
          <a:xfrm>
            <a:off x="5156200" y="2298700"/>
            <a:ext cx="335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输出：感知服务与测试记录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48C48B5-FE9B-8C3B-4E9F-88775817D500}"/>
              </a:ext>
            </a:extLst>
          </p:cNvPr>
          <p:cNvSpPr txBox="1"/>
          <p:nvPr/>
        </p:nvSpPr>
        <p:spPr>
          <a:xfrm>
            <a:off x="8585200" y="22987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模型版本、评测样例与失败案例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8FEDE4-A06C-6CC3-AE79-8454283A1724}"/>
              </a:ext>
            </a:extLst>
          </p:cNvPr>
          <p:cNvCxnSpPr/>
          <p:nvPr/>
        </p:nvCxnSpPr>
        <p:spPr>
          <a:xfrm>
            <a:off x="558800" y="27940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FE767C4-7EFC-DBD5-C14D-81F0A3A015A8}"/>
              </a:ext>
            </a:extLst>
          </p:cNvPr>
          <p:cNvSpPr/>
          <p:nvPr/>
        </p:nvSpPr>
        <p:spPr>
          <a:xfrm>
            <a:off x="558800" y="2933700"/>
            <a:ext cx="63500" cy="3302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5E175B8-1284-442C-596B-2B5B3BE0EE34}"/>
              </a:ext>
            </a:extLst>
          </p:cNvPr>
          <p:cNvSpPr txBox="1"/>
          <p:nvPr/>
        </p:nvSpPr>
        <p:spPr>
          <a:xfrm>
            <a:off x="762000" y="28448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02</a:t>
            </a:r>
            <a:endParaRPr lang="zh-CN" altLang="en-US" sz="1200" b="1">
              <a:solidFill>
                <a:srgbClr val="26776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ECA9C9-CB5C-3E0F-4477-CAB239E562FA}"/>
              </a:ext>
            </a:extLst>
          </p:cNvPr>
          <p:cNvSpPr txBox="1"/>
          <p:nvPr/>
        </p:nvSpPr>
        <p:spPr>
          <a:xfrm>
            <a:off x="1168400" y="2844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平台与 </a:t>
            </a:r>
            <a:r>
              <a:rPr lang="en-US" altLang="zh-CN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Agent</a:t>
            </a:r>
            <a:endParaRPr lang="zh-CN" altLang="en-US" sz="1200" b="1">
              <a:solidFill>
                <a:srgbClr val="091B2B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34AB98-3E1F-B5D1-6459-A6994C3A3484}"/>
              </a:ext>
            </a:extLst>
          </p:cNvPr>
          <p:cNvSpPr txBox="1"/>
          <p:nvPr/>
        </p:nvSpPr>
        <p:spPr>
          <a:xfrm>
            <a:off x="2260600" y="28575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Runtime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工具契约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审批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F12BA7-9FE0-CF22-B767-CFCC1BD033DF}"/>
              </a:ext>
            </a:extLst>
          </p:cNvPr>
          <p:cNvSpPr txBox="1"/>
          <p:nvPr/>
        </p:nvSpPr>
        <p:spPr>
          <a:xfrm>
            <a:off x="5156200" y="2857500"/>
            <a:ext cx="335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输出：可回放任务链路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30D8B92-00F6-8DA5-D01F-B260D1139AC5}"/>
              </a:ext>
            </a:extLst>
          </p:cNvPr>
          <p:cNvSpPr txBox="1"/>
          <p:nvPr/>
        </p:nvSpPr>
        <p:spPr>
          <a:xfrm>
            <a:off x="8585200" y="28575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Run / Step 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审批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回放记录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CF06E69-0038-EF8D-DD8D-16A1AE230377}"/>
              </a:ext>
            </a:extLst>
          </p:cNvPr>
          <p:cNvCxnSpPr/>
          <p:nvPr/>
        </p:nvCxnSpPr>
        <p:spPr>
          <a:xfrm>
            <a:off x="558800" y="33528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702BC088-CD02-7144-141E-82A5CB63C3AE}"/>
              </a:ext>
            </a:extLst>
          </p:cNvPr>
          <p:cNvSpPr/>
          <p:nvPr/>
        </p:nvSpPr>
        <p:spPr>
          <a:xfrm>
            <a:off x="558800" y="3492500"/>
            <a:ext cx="63500" cy="3302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D96F292-D128-986D-6A19-8A025E8BF5C8}"/>
              </a:ext>
            </a:extLst>
          </p:cNvPr>
          <p:cNvSpPr txBox="1"/>
          <p:nvPr/>
        </p:nvSpPr>
        <p:spPr>
          <a:xfrm>
            <a:off x="762000" y="34036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03</a:t>
            </a:r>
            <a:endParaRPr lang="zh-CN" altLang="en-US" sz="1200" b="1">
              <a:solidFill>
                <a:srgbClr val="A8742A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44778A3-058E-0E17-F8AE-70BECE69E6FB}"/>
              </a:ext>
            </a:extLst>
          </p:cNvPr>
          <p:cNvSpPr txBox="1"/>
          <p:nvPr/>
        </p:nvSpPr>
        <p:spPr>
          <a:xfrm>
            <a:off x="1168400" y="3403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硬件与结构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2358FDE-97D5-D935-8BEF-2DA49095CA0C}"/>
              </a:ext>
            </a:extLst>
          </p:cNvPr>
          <p:cNvSpPr txBox="1"/>
          <p:nvPr/>
        </p:nvSpPr>
        <p:spPr>
          <a:xfrm>
            <a:off x="2260600" y="34163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船体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机械臂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嵌入式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D3B7BD0-034F-859C-5A50-AE6B0D3F002B}"/>
              </a:ext>
            </a:extLst>
          </p:cNvPr>
          <p:cNvSpPr txBox="1"/>
          <p:nvPr/>
        </p:nvSpPr>
        <p:spPr>
          <a:xfrm>
            <a:off x="5156200" y="3416300"/>
            <a:ext cx="335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输出：样机与联调接口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AC2E1E8-82BB-999F-E756-7DF89CADD7FF}"/>
              </a:ext>
            </a:extLst>
          </p:cNvPr>
          <p:cNvSpPr txBox="1"/>
          <p:nvPr/>
        </p:nvSpPr>
        <p:spPr>
          <a:xfrm>
            <a:off x="8585200" y="34163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结构方案、部件清单与接口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F533E62-2581-D1F7-DD17-F379E19EDF3E}"/>
              </a:ext>
            </a:extLst>
          </p:cNvPr>
          <p:cNvCxnSpPr/>
          <p:nvPr/>
        </p:nvCxnSpPr>
        <p:spPr>
          <a:xfrm>
            <a:off x="558800" y="39116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C58EA141-14A3-4319-9107-1218CD674B25}"/>
              </a:ext>
            </a:extLst>
          </p:cNvPr>
          <p:cNvSpPr/>
          <p:nvPr/>
        </p:nvSpPr>
        <p:spPr>
          <a:xfrm>
            <a:off x="558800" y="4051300"/>
            <a:ext cx="63500" cy="330200"/>
          </a:xfrm>
          <a:prstGeom prst="rect">
            <a:avLst/>
          </a:prstGeom>
          <a:solidFill>
            <a:srgbClr val="B258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F46FAAE-9991-2831-3D13-0C62032C6868}"/>
              </a:ext>
            </a:extLst>
          </p:cNvPr>
          <p:cNvSpPr txBox="1"/>
          <p:nvPr/>
        </p:nvSpPr>
        <p:spPr>
          <a:xfrm>
            <a:off x="762000" y="3962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B2584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04</a:t>
            </a:r>
            <a:endParaRPr lang="zh-CN" altLang="en-US" sz="1200" b="1">
              <a:solidFill>
                <a:srgbClr val="B25847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039B55C-03E4-16D0-DCA8-F86FCB2111EE}"/>
              </a:ext>
            </a:extLst>
          </p:cNvPr>
          <p:cNvSpPr txBox="1"/>
          <p:nvPr/>
        </p:nvSpPr>
        <p:spPr>
          <a:xfrm>
            <a:off x="1168400" y="3962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验证与资料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7C5F120-C90E-9ADD-0AD5-0CDDE538F5FF}"/>
              </a:ext>
            </a:extLst>
          </p:cNvPr>
          <p:cNvSpPr txBox="1"/>
          <p:nvPr/>
        </p:nvSpPr>
        <p:spPr>
          <a:xfrm>
            <a:off x="2260600" y="3975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集成验收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回归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文档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F1685B8-380F-AF5C-6A83-3F44DCE316AC}"/>
              </a:ext>
            </a:extLst>
          </p:cNvPr>
          <p:cNvSpPr txBox="1"/>
          <p:nvPr/>
        </p:nvSpPr>
        <p:spPr>
          <a:xfrm>
            <a:off x="5156200" y="3975100"/>
            <a:ext cx="335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输出：验收清单与证据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90583B5-FB41-02C2-5A91-BFF296E1C70D}"/>
              </a:ext>
            </a:extLst>
          </p:cNvPr>
          <p:cNvSpPr txBox="1"/>
          <p:nvPr/>
        </p:nvSpPr>
        <p:spPr>
          <a:xfrm>
            <a:off x="8585200" y="39751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测试用例、日志与问题闭环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ED6863C-245E-56E4-8C4F-2D847055AC94}"/>
              </a:ext>
            </a:extLst>
          </p:cNvPr>
          <p:cNvCxnSpPr/>
          <p:nvPr/>
        </p:nvCxnSpPr>
        <p:spPr>
          <a:xfrm>
            <a:off x="558800" y="44704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9E3816DE-2A67-6079-41CF-16814EAD8BD6}"/>
              </a:ext>
            </a:extLst>
          </p:cNvPr>
          <p:cNvSpPr/>
          <p:nvPr/>
        </p:nvSpPr>
        <p:spPr>
          <a:xfrm>
            <a:off x="558800" y="4610100"/>
            <a:ext cx="63500" cy="3302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0FAF009-99C8-2A35-3700-11E2232E0538}"/>
              </a:ext>
            </a:extLst>
          </p:cNvPr>
          <p:cNvSpPr txBox="1"/>
          <p:nvPr/>
        </p:nvSpPr>
        <p:spPr>
          <a:xfrm>
            <a:off x="762000" y="4521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05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E74375E-FF8E-EED9-8DD4-95AD18FD9BA6}"/>
              </a:ext>
            </a:extLst>
          </p:cNvPr>
          <p:cNvSpPr txBox="1"/>
          <p:nvPr/>
        </p:nvSpPr>
        <p:spPr>
          <a:xfrm>
            <a:off x="1168400" y="45212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展示与交互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C992A52-DDE6-42B5-B0CC-FC9D0A322913}"/>
              </a:ext>
            </a:extLst>
          </p:cNvPr>
          <p:cNvSpPr txBox="1"/>
          <p:nvPr/>
        </p:nvSpPr>
        <p:spPr>
          <a:xfrm>
            <a:off x="2260600" y="45339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界面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演示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可视化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B42D0A7-8724-A857-9854-A8FFB4E95EFC}"/>
              </a:ext>
            </a:extLst>
          </p:cNvPr>
          <p:cNvSpPr txBox="1"/>
          <p:nvPr/>
        </p:nvSpPr>
        <p:spPr>
          <a:xfrm>
            <a:off x="5156200" y="4533900"/>
            <a:ext cx="335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输出：演示与试点反馈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88F1449-AC78-B322-1299-3D9D35948697}"/>
              </a:ext>
            </a:extLst>
          </p:cNvPr>
          <p:cNvSpPr txBox="1"/>
          <p:nvPr/>
        </p:nvSpPr>
        <p:spPr>
          <a:xfrm>
            <a:off x="8585200" y="45339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操作记录、演示脚本与反馈清单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9CA64E9-8718-AF41-6196-D03DC6825527}"/>
              </a:ext>
            </a:extLst>
          </p:cNvPr>
          <p:cNvCxnSpPr/>
          <p:nvPr/>
        </p:nvCxnSpPr>
        <p:spPr>
          <a:xfrm>
            <a:off x="558800" y="50292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6D91937C-DF09-558B-9D09-C0D195E9DD81}"/>
              </a:ext>
            </a:extLst>
          </p:cNvPr>
          <p:cNvSpPr txBox="1"/>
          <p:nvPr/>
        </p:nvSpPr>
        <p:spPr>
          <a:xfrm>
            <a:off x="558800" y="53213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协作闭环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A644BEC-6B21-2CBE-944C-194896E30F20}"/>
              </a:ext>
            </a:extLst>
          </p:cNvPr>
          <p:cNvCxnSpPr/>
          <p:nvPr/>
        </p:nvCxnSpPr>
        <p:spPr>
          <a:xfrm>
            <a:off x="711200" y="5676900"/>
            <a:ext cx="10795000" cy="0"/>
          </a:xfrm>
          <a:prstGeom prst="line">
            <a:avLst/>
          </a:prstGeom>
          <a:ln w="1524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26AB71B4-820D-AD4C-AA1B-1D5BE9667699}"/>
              </a:ext>
            </a:extLst>
          </p:cNvPr>
          <p:cNvSpPr/>
          <p:nvPr/>
        </p:nvSpPr>
        <p:spPr>
          <a:xfrm>
            <a:off x="825500" y="56134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1BA79A5-3929-CFC0-BB6E-7B01A2E31132}"/>
              </a:ext>
            </a:extLst>
          </p:cNvPr>
          <p:cNvSpPr txBox="1"/>
          <p:nvPr/>
        </p:nvSpPr>
        <p:spPr>
          <a:xfrm>
            <a:off x="50800" y="5854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场景定义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44D1DE7D-8380-96C6-A53E-D96CCD9218DC}"/>
              </a:ext>
            </a:extLst>
          </p:cNvPr>
          <p:cNvSpPr/>
          <p:nvPr/>
        </p:nvSpPr>
        <p:spPr>
          <a:xfrm>
            <a:off x="3213100" y="56134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7D58BCA-B9DA-D370-6425-55548E4A1776}"/>
              </a:ext>
            </a:extLst>
          </p:cNvPr>
          <p:cNvSpPr txBox="1"/>
          <p:nvPr/>
        </p:nvSpPr>
        <p:spPr>
          <a:xfrm>
            <a:off x="2438400" y="5854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原型开发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D37F6C64-FFA2-1D84-8FAE-3FB9A399B7F7}"/>
              </a:ext>
            </a:extLst>
          </p:cNvPr>
          <p:cNvSpPr/>
          <p:nvPr/>
        </p:nvSpPr>
        <p:spPr>
          <a:xfrm>
            <a:off x="5600700" y="56134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A058627-B787-3865-AE1E-39C5B7ACC150}"/>
              </a:ext>
            </a:extLst>
          </p:cNvPr>
          <p:cNvSpPr txBox="1"/>
          <p:nvPr/>
        </p:nvSpPr>
        <p:spPr>
          <a:xfrm>
            <a:off x="4826000" y="5854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联调验收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0920807B-BC38-AA32-9B2D-7CA61E6DD6BF}"/>
              </a:ext>
            </a:extLst>
          </p:cNvPr>
          <p:cNvSpPr/>
          <p:nvPr/>
        </p:nvSpPr>
        <p:spPr>
          <a:xfrm>
            <a:off x="7988300" y="56134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2D599AC-36B7-14B0-78D2-FCABB9341953}"/>
              </a:ext>
            </a:extLst>
          </p:cNvPr>
          <p:cNvSpPr txBox="1"/>
          <p:nvPr/>
        </p:nvSpPr>
        <p:spPr>
          <a:xfrm>
            <a:off x="7213600" y="5854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试点反馈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07B2C547-9A54-F93B-8097-3E1E446C8559}"/>
              </a:ext>
            </a:extLst>
          </p:cNvPr>
          <p:cNvSpPr/>
          <p:nvPr/>
        </p:nvSpPr>
        <p:spPr>
          <a:xfrm>
            <a:off x="10375900" y="5613400"/>
            <a:ext cx="127000" cy="127000"/>
          </a:xfrm>
          <a:prstGeom prst="ellipse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7113034-CD3F-F4AC-68F8-5B79A1F86B82}"/>
              </a:ext>
            </a:extLst>
          </p:cNvPr>
          <p:cNvSpPr txBox="1"/>
          <p:nvPr/>
        </p:nvSpPr>
        <p:spPr>
          <a:xfrm>
            <a:off x="9601200" y="5854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版本迭代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026E91-7A13-8269-C699-C1D556ECAAAD}"/>
              </a:ext>
            </a:extLst>
          </p:cNvPr>
          <p:cNvSpPr txBox="1"/>
          <p:nvPr/>
        </p:nvSpPr>
        <p:spPr>
          <a:xfrm>
            <a:off x="558800" y="61468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同一套任务、工具与证据契约贯穿开发、验收与试点反馈。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1A56294F-4FE7-BA78-E154-6D606B408522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85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BEAF6098-5FE4-713F-EDB5-15EF11077331}"/>
              </a:ext>
            </a:extLst>
          </p:cNvPr>
          <p:cNvCxnSpPr/>
          <p:nvPr/>
        </p:nvCxnSpPr>
        <p:spPr>
          <a:xfrm>
            <a:off x="635000" y="52070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492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Canvas background">
            <a:extLst>
              <a:ext uri="{FF2B5EF4-FFF2-40B4-BE49-F238E27FC236}">
                <a16:creationId xmlns:a16="http://schemas.microsoft.com/office/drawing/2014/main" id="{2D9F8B6B-4DCA-EAAE-8620-207F20C895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Template content panel">
            <a:extLst>
              <a:ext uri="{FF2B5EF4-FFF2-40B4-BE49-F238E27FC236}">
                <a16:creationId xmlns:a16="http://schemas.microsoft.com/office/drawing/2014/main" id="{60242F96-8E84-9670-B274-A3EABF593BAD}"/>
              </a:ext>
            </a:extLst>
          </p:cNvPr>
          <p:cNvSpPr/>
          <p:nvPr/>
        </p:nvSpPr>
        <p:spPr>
          <a:xfrm>
            <a:off x="457200" y="1600200"/>
            <a:ext cx="11252200" cy="3937000"/>
          </a:xfrm>
          <a:prstGeom prst="roundRect">
            <a:avLst>
              <a:gd name="adj" fmla="val 4500"/>
            </a:avLst>
          </a:prstGeom>
          <a:solidFill>
            <a:srgbClr val="FFFFFF">
              <a:alpha val="11000"/>
            </a:srgbClr>
          </a:solidFill>
          <a:ln w="8255">
            <a:solidFill>
              <a:srgbClr val="D9D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4C78AE-7509-D37D-5CC5-E112D70B9743}"/>
              </a:ext>
            </a:extLst>
          </p:cNvPr>
          <p:cNvSpPr txBox="1"/>
          <p:nvPr/>
        </p:nvSpPr>
        <p:spPr>
          <a:xfrm>
            <a:off x="558800" y="2032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DBA340-DBF0-F968-339B-996272135E17}"/>
              </a:ext>
            </a:extLst>
          </p:cNvPr>
          <p:cNvSpPr txBox="1"/>
          <p:nvPr/>
        </p:nvSpPr>
        <p:spPr>
          <a:xfrm>
            <a:off x="1600200" y="2032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200" b="1">
              <a:solidFill>
                <a:srgbClr val="28587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0A0073A-9D0E-D8CB-CA9B-0CEBD92A0256}"/>
              </a:ext>
            </a:extLst>
          </p:cNvPr>
          <p:cNvSpPr/>
          <p:nvPr/>
        </p:nvSpPr>
        <p:spPr>
          <a:xfrm>
            <a:off x="2590800" y="330200"/>
            <a:ext cx="50800" cy="50800"/>
          </a:xfrm>
          <a:prstGeom prst="ellipse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6103E5-A991-747F-D7DB-FC4B298146A7}"/>
              </a:ext>
            </a:extLst>
          </p:cNvPr>
          <p:cNvSpPr txBox="1"/>
          <p:nvPr/>
        </p:nvSpPr>
        <p:spPr>
          <a:xfrm>
            <a:off x="8636000" y="203200"/>
            <a:ext cx="299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05  /  </a:t>
            </a:r>
            <a:r>
              <a:rPr lang="zh-CN" altLang="en-US" sz="120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协作与计划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EC9C23C-4DF0-0DAD-A43F-0B657F926B16}"/>
              </a:ext>
            </a:extLst>
          </p:cNvPr>
          <p:cNvCxnSpPr/>
          <p:nvPr/>
        </p:nvCxnSpPr>
        <p:spPr>
          <a:xfrm>
            <a:off x="558800" y="596900"/>
            <a:ext cx="11074400" cy="0"/>
          </a:xfrm>
          <a:prstGeom prst="line">
            <a:avLst/>
          </a:prstGeom>
          <a:ln w="889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540B8D1-3C2B-CEBE-ED52-BD99240066C6}"/>
              </a:ext>
            </a:extLst>
          </p:cNvPr>
          <p:cNvCxnSpPr/>
          <p:nvPr/>
        </p:nvCxnSpPr>
        <p:spPr>
          <a:xfrm>
            <a:off x="558800" y="596900"/>
            <a:ext cx="1371600" cy="0"/>
          </a:xfrm>
          <a:prstGeom prst="line">
            <a:avLst/>
          </a:prstGeom>
          <a:ln w="15240">
            <a:solidFill>
              <a:srgbClr val="A8742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A1AC7B7-872E-327A-FCC3-E954C492B2E9}"/>
              </a:ext>
            </a:extLst>
          </p:cNvPr>
          <p:cNvSpPr txBox="1"/>
          <p:nvPr/>
        </p:nvSpPr>
        <p:spPr>
          <a:xfrm>
            <a:off x="558800" y="774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4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研发成果：平台、结构方案与知识产权同步推进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7059E3-3780-F8CB-C389-B9D21CC87702}"/>
              </a:ext>
            </a:extLst>
          </p:cNvPr>
          <p:cNvSpPr txBox="1"/>
          <p:nvPr/>
        </p:nvSpPr>
        <p:spPr>
          <a:xfrm>
            <a:off x="558800" y="12827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固定测评、真实状态集成与知识产权材料均已形成。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826E260-C966-E9B1-99CE-3E966ABF333A}"/>
              </a:ext>
            </a:extLst>
          </p:cNvPr>
          <p:cNvCxnSpPr/>
          <p:nvPr/>
        </p:nvCxnSpPr>
        <p:spPr>
          <a:xfrm>
            <a:off x="558800" y="6451600"/>
            <a:ext cx="11074400" cy="0"/>
          </a:xfrm>
          <a:prstGeom prst="line">
            <a:avLst/>
          </a:prstGeom>
          <a:ln w="7620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39B30EF-C598-55D1-9389-F0F1665B7392}"/>
              </a:ext>
            </a:extLst>
          </p:cNvPr>
          <p:cNvSpPr txBox="1"/>
          <p:nvPr/>
        </p:nvSpPr>
        <p:spPr>
          <a:xfrm>
            <a:off x="558800" y="652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 ·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E78A06-94C6-285D-492A-17C6E271468D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20</a:t>
            </a:r>
            <a:endParaRPr lang="zh-CN" altLang="en-US" sz="1200" b="1">
              <a:solidFill>
                <a:srgbClr val="5F6C74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24A781-9228-26CF-20A0-9D82658D6260}"/>
              </a:ext>
            </a:extLst>
          </p:cNvPr>
          <p:cNvSpPr txBox="1"/>
          <p:nvPr/>
        </p:nvSpPr>
        <p:spPr>
          <a:xfrm>
            <a:off x="558800" y="1841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指标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3791D0-75C9-8609-878D-F768BDD0E0D0}"/>
              </a:ext>
            </a:extLst>
          </p:cNvPr>
          <p:cNvSpPr txBox="1"/>
          <p:nvPr/>
        </p:nvSpPr>
        <p:spPr>
          <a:xfrm>
            <a:off x="2082800" y="18415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成果类型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6746D7-9078-0E58-9126-DD14A3618DB1}"/>
              </a:ext>
            </a:extLst>
          </p:cNvPr>
          <p:cNvSpPr txBox="1"/>
          <p:nvPr/>
        </p:nvSpPr>
        <p:spPr>
          <a:xfrm>
            <a:off x="4572000" y="18415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当前状态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1A6044-6A48-5764-0FB2-EDC391EE40C1}"/>
              </a:ext>
            </a:extLst>
          </p:cNvPr>
          <p:cNvSpPr txBox="1"/>
          <p:nvPr/>
        </p:nvSpPr>
        <p:spPr>
          <a:xfrm>
            <a:off x="7112000" y="18415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口径与证据说明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02DFF3E-B472-5088-9524-7E6F484F6196}"/>
              </a:ext>
            </a:extLst>
          </p:cNvPr>
          <p:cNvCxnSpPr/>
          <p:nvPr/>
        </p:nvCxnSpPr>
        <p:spPr>
          <a:xfrm>
            <a:off x="558800" y="2159000"/>
            <a:ext cx="11074400" cy="0"/>
          </a:xfrm>
          <a:prstGeom prst="line">
            <a:avLst/>
          </a:prstGeom>
          <a:ln w="12700">
            <a:solidFill>
              <a:srgbClr val="091B2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68D1BF23-9737-89A7-8D6A-9C19398998F6}"/>
              </a:ext>
            </a:extLst>
          </p:cNvPr>
          <p:cNvSpPr/>
          <p:nvPr/>
        </p:nvSpPr>
        <p:spPr>
          <a:xfrm>
            <a:off x="558800" y="2400300"/>
            <a:ext cx="63500" cy="3556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C5B8E0A-246D-27F7-3E78-87E92B4A421A}"/>
              </a:ext>
            </a:extLst>
          </p:cNvPr>
          <p:cNvSpPr txBox="1"/>
          <p:nvPr/>
        </p:nvSpPr>
        <p:spPr>
          <a:xfrm>
            <a:off x="762000" y="22987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27 / 27</a:t>
            </a:r>
            <a:endParaRPr lang="zh-CN" altLang="en-US" sz="1650" b="1">
              <a:solidFill>
                <a:srgbClr val="26776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70BCD3-E2F8-1086-2A08-98B3C9F05D44}"/>
              </a:ext>
            </a:extLst>
          </p:cNvPr>
          <p:cNvSpPr txBox="1"/>
          <p:nvPr/>
        </p:nvSpPr>
        <p:spPr>
          <a:xfrm>
            <a:off x="2082800" y="2311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固定场景评测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AA38E5-CCBC-B4DE-A860-F0B1DD66D8A7}"/>
              </a:ext>
            </a:extLst>
          </p:cNvPr>
          <p:cNvSpPr txBox="1"/>
          <p:nvPr/>
        </p:nvSpPr>
        <p:spPr>
          <a:xfrm>
            <a:off x="4572000" y="23114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已通过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514862-5EE6-9CA9-6C3E-93C7DF3951B7}"/>
              </a:ext>
            </a:extLst>
          </p:cNvPr>
          <p:cNvSpPr txBox="1"/>
          <p:nvPr/>
        </p:nvSpPr>
        <p:spPr>
          <a:xfrm>
            <a:off x="7112000" y="23114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成功、异常、拒绝与回放场景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BDFB2DA-4E26-99DC-0E58-C736E2A6051D}"/>
              </a:ext>
            </a:extLst>
          </p:cNvPr>
          <p:cNvCxnSpPr/>
          <p:nvPr/>
        </p:nvCxnSpPr>
        <p:spPr>
          <a:xfrm>
            <a:off x="558800" y="28829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F06A2F8-9968-9D3D-EA2A-0133A2715AE9}"/>
              </a:ext>
            </a:extLst>
          </p:cNvPr>
          <p:cNvSpPr/>
          <p:nvPr/>
        </p:nvSpPr>
        <p:spPr>
          <a:xfrm>
            <a:off x="558800" y="3073400"/>
            <a:ext cx="63500" cy="355600"/>
          </a:xfrm>
          <a:prstGeom prst="rect">
            <a:avLst/>
          </a:prstGeom>
          <a:solidFill>
            <a:srgbClr val="26776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0DBA80-A585-F0CD-E6F2-D74B64869873}"/>
              </a:ext>
            </a:extLst>
          </p:cNvPr>
          <p:cNvSpPr txBox="1"/>
          <p:nvPr/>
        </p:nvSpPr>
        <p:spPr>
          <a:xfrm>
            <a:off x="762000" y="29718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5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129 </a:t>
            </a:r>
            <a:r>
              <a:rPr lang="zh-CN" altLang="en-US" sz="1650" b="1">
                <a:solidFill>
                  <a:srgbClr val="26776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DCC2721-0C11-36A2-3028-E07FA6AF3A9C}"/>
              </a:ext>
            </a:extLst>
          </p:cNvPr>
          <p:cNvSpPr txBox="1"/>
          <p:nvPr/>
        </p:nvSpPr>
        <p:spPr>
          <a:xfrm>
            <a:off x="2082800" y="2984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真实状态集成验收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135C3B-A2F5-871C-1F1D-15C0665766CE}"/>
              </a:ext>
            </a:extLst>
          </p:cNvPr>
          <p:cNvSpPr txBox="1"/>
          <p:nvPr/>
        </p:nvSpPr>
        <p:spPr>
          <a:xfrm>
            <a:off x="4572000" y="29845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已通过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A1D2E56-1748-048A-7250-06B41917F5AF}"/>
              </a:ext>
            </a:extLst>
          </p:cNvPr>
          <p:cNvSpPr txBox="1"/>
          <p:nvPr/>
        </p:nvSpPr>
        <p:spPr>
          <a:xfrm>
            <a:off x="7112000" y="29845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HTTP 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鉴权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PostgreSQL 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审批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幂等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+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回放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512E84A-3F57-E72B-8228-3BBB7E2996D1}"/>
              </a:ext>
            </a:extLst>
          </p:cNvPr>
          <p:cNvCxnSpPr/>
          <p:nvPr/>
        </p:nvCxnSpPr>
        <p:spPr>
          <a:xfrm>
            <a:off x="558800" y="35560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D29DB62-F7E7-2D84-D697-61397AA7D4F4}"/>
              </a:ext>
            </a:extLst>
          </p:cNvPr>
          <p:cNvSpPr/>
          <p:nvPr/>
        </p:nvSpPr>
        <p:spPr>
          <a:xfrm>
            <a:off x="558800" y="3746500"/>
            <a:ext cx="63500" cy="3556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5A0F61B-57F3-9C67-05AB-CD72A6C4422E}"/>
              </a:ext>
            </a:extLst>
          </p:cNvPr>
          <p:cNvSpPr txBox="1"/>
          <p:nvPr/>
        </p:nvSpPr>
        <p:spPr>
          <a:xfrm>
            <a:off x="762000" y="36449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8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5 </a:t>
            </a:r>
            <a:r>
              <a:rPr lang="zh-CN" altLang="en-US" sz="198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项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814D752-F18A-4E37-0CAB-7A7F45E5F451}"/>
              </a:ext>
            </a:extLst>
          </p:cNvPr>
          <p:cNvSpPr txBox="1"/>
          <p:nvPr/>
        </p:nvSpPr>
        <p:spPr>
          <a:xfrm>
            <a:off x="2082800" y="3657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软件著作权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02FDA7A-3992-6A25-8E89-E445BDD358CC}"/>
              </a:ext>
            </a:extLst>
          </p:cNvPr>
          <p:cNvSpPr txBox="1"/>
          <p:nvPr/>
        </p:nvSpPr>
        <p:spPr>
          <a:xfrm>
            <a:off x="4572000" y="36576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申请中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969BF2B-CD18-BEA3-D386-509D97A6E127}"/>
              </a:ext>
            </a:extLst>
          </p:cNvPr>
          <p:cNvSpPr txBox="1"/>
          <p:nvPr/>
        </p:nvSpPr>
        <p:spPr>
          <a:xfrm>
            <a:off x="7112000" y="36576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申请材料已形成，不代表已授权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B8C908F-3899-D806-549B-55D5AF4F09BE}"/>
              </a:ext>
            </a:extLst>
          </p:cNvPr>
          <p:cNvCxnSpPr/>
          <p:nvPr/>
        </p:nvCxnSpPr>
        <p:spPr>
          <a:xfrm>
            <a:off x="558800" y="42291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CD03EFBF-1B83-6EC8-55F9-54D5E1F40C12}"/>
              </a:ext>
            </a:extLst>
          </p:cNvPr>
          <p:cNvSpPr/>
          <p:nvPr/>
        </p:nvSpPr>
        <p:spPr>
          <a:xfrm>
            <a:off x="558800" y="4419600"/>
            <a:ext cx="63500" cy="355600"/>
          </a:xfrm>
          <a:prstGeom prst="rect">
            <a:avLst/>
          </a:prstGeom>
          <a:solidFill>
            <a:srgbClr val="A874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BA42B82-D9D0-96C2-5468-84D0FDB5A660}"/>
              </a:ext>
            </a:extLst>
          </p:cNvPr>
          <p:cNvSpPr txBox="1"/>
          <p:nvPr/>
        </p:nvSpPr>
        <p:spPr>
          <a:xfrm>
            <a:off x="762000" y="43180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8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 </a:t>
            </a:r>
            <a:r>
              <a:rPr lang="zh-CN" altLang="en-US" sz="198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篇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7B9BB0F-9AE5-5A45-3363-BA3DC1F8AEA1}"/>
              </a:ext>
            </a:extLst>
          </p:cNvPr>
          <p:cNvSpPr txBox="1"/>
          <p:nvPr/>
        </p:nvSpPr>
        <p:spPr>
          <a:xfrm>
            <a:off x="2082800" y="43307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论文投稿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36CD293-D553-A016-04FD-5A0C9F609C0F}"/>
              </a:ext>
            </a:extLst>
          </p:cNvPr>
          <p:cNvSpPr txBox="1"/>
          <p:nvPr/>
        </p:nvSpPr>
        <p:spPr>
          <a:xfrm>
            <a:off x="4572000" y="43307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ICASSP 2027 </a:t>
            </a:r>
            <a:r>
              <a:rPr lang="zh-CN" altLang="en-US" sz="1200" b="1">
                <a:solidFill>
                  <a:srgbClr val="A8742A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在审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583CA75-AB75-B40A-0DC3-0A2E046299EF}"/>
              </a:ext>
            </a:extLst>
          </p:cNvPr>
          <p:cNvSpPr txBox="1"/>
          <p:nvPr/>
        </p:nvSpPr>
        <p:spPr>
          <a:xfrm>
            <a:off x="7112000" y="43307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处于审稿流程，不代表已录用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AE533F6-7D31-69BF-8435-F17851976E4F}"/>
              </a:ext>
            </a:extLst>
          </p:cNvPr>
          <p:cNvCxnSpPr/>
          <p:nvPr/>
        </p:nvCxnSpPr>
        <p:spPr>
          <a:xfrm>
            <a:off x="558800" y="49022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5C34370F-01DB-9271-8FC0-BB5560452924}"/>
              </a:ext>
            </a:extLst>
          </p:cNvPr>
          <p:cNvSpPr/>
          <p:nvPr/>
        </p:nvSpPr>
        <p:spPr>
          <a:xfrm>
            <a:off x="558800" y="5092700"/>
            <a:ext cx="63500" cy="355600"/>
          </a:xfrm>
          <a:prstGeom prst="rect">
            <a:avLst/>
          </a:prstGeom>
          <a:solidFill>
            <a:srgbClr val="2858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43CAF53-870D-2B19-86E7-8ACA88AA0865}"/>
              </a:ext>
            </a:extLst>
          </p:cNvPr>
          <p:cNvSpPr txBox="1"/>
          <p:nvPr/>
        </p:nvSpPr>
        <p:spPr>
          <a:xfrm>
            <a:off x="762000" y="49911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8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3 </a:t>
            </a:r>
            <a:r>
              <a:rPr lang="zh-CN" altLang="en-US" sz="1980" b="1">
                <a:solidFill>
                  <a:srgbClr val="28587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类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DD143CB-6343-7072-0133-B6809F14B456}"/>
              </a:ext>
            </a:extLst>
          </p:cNvPr>
          <p:cNvSpPr txBox="1"/>
          <p:nvPr/>
        </p:nvSpPr>
        <p:spPr>
          <a:xfrm>
            <a:off x="2082800" y="5003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091B2B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移动载体结构方案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8525B12-D546-81E1-4D17-C4DE41F147F5}"/>
              </a:ext>
            </a:extLst>
          </p:cNvPr>
          <p:cNvSpPr txBox="1"/>
          <p:nvPr/>
        </p:nvSpPr>
        <p:spPr>
          <a:xfrm>
            <a:off x="4572000" y="5003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1B273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已形成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2E3F8E-87B4-5ED1-3E4A-7C096996419D}"/>
              </a:ext>
            </a:extLst>
          </p:cNvPr>
          <p:cNvSpPr txBox="1"/>
          <p:nvPr/>
        </p:nvSpPr>
        <p:spPr>
          <a:xfrm>
            <a:off x="7112000" y="5003800"/>
            <a:ext cx="452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无人船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无人机 </a:t>
            </a:r>
            <a:r>
              <a:rPr lang="en-US" altLang="zh-CN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/ </a:t>
            </a:r>
            <a:r>
              <a:rPr lang="zh-CN" altLang="en-US" sz="1200">
                <a:solidFill>
                  <a:srgbClr val="5F6C74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无人车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BEA18D3-D9D0-0180-6902-3044CFF6696F}"/>
              </a:ext>
            </a:extLst>
          </p:cNvPr>
          <p:cNvCxnSpPr/>
          <p:nvPr/>
        </p:nvCxnSpPr>
        <p:spPr>
          <a:xfrm>
            <a:off x="558800" y="5575300"/>
            <a:ext cx="11074400" cy="0"/>
          </a:xfrm>
          <a:prstGeom prst="line">
            <a:avLst/>
          </a:prstGeom>
          <a:ln w="6604">
            <a:solidFill>
              <a:srgbClr val="D9DFD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E5CD2DA2-6332-CBC0-37BD-45CA7E84B1B8}"/>
              </a:ext>
            </a:extLst>
          </p:cNvPr>
          <p:cNvSpPr/>
          <p:nvPr/>
        </p:nvSpPr>
        <p:spPr>
          <a:xfrm>
            <a:off x="558800" y="5816600"/>
            <a:ext cx="11074400" cy="482600"/>
          </a:xfrm>
          <a:prstGeom prst="rect">
            <a:avLst/>
          </a:prstGeom>
          <a:solidFill>
            <a:srgbClr val="091B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7BDE525-961C-2F4F-B8FE-CA023987C86E}"/>
              </a:ext>
            </a:extLst>
          </p:cNvPr>
          <p:cNvSpPr txBox="1"/>
          <p:nvPr/>
        </p:nvSpPr>
        <p:spPr>
          <a:xfrm>
            <a:off x="7620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材料口径：软件著作权为申请中，论文为在审；固定测评与集成验收是当前主要技术证据。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BC913F0-986F-7296-E7BD-C8FD824462C2}"/>
              </a:ext>
            </a:extLst>
          </p:cNvPr>
          <p:cNvCxnSpPr/>
          <p:nvPr/>
        </p:nvCxnSpPr>
        <p:spPr>
          <a:xfrm>
            <a:off x="635000" y="1612900"/>
            <a:ext cx="635000" cy="0"/>
          </a:xfrm>
          <a:prstGeom prst="line">
            <a:avLst/>
          </a:prstGeom>
          <a:ln w="17780">
            <a:solidFill>
              <a:srgbClr val="267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477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anvas background">
            <a:extLst>
              <a:ext uri="{FF2B5EF4-FFF2-40B4-BE49-F238E27FC236}">
                <a16:creationId xmlns:a16="http://schemas.microsoft.com/office/drawing/2014/main" id="{63AEDDD4-2500-A6C2-A2F9-0708F63FAD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F08818E-A8E1-2D64-C1F0-B58DACCD15A1}"/>
              </a:ext>
            </a:extLst>
          </p:cNvPr>
          <p:cNvCxnSpPr/>
          <p:nvPr/>
        </p:nvCxnSpPr>
        <p:spPr>
          <a:xfrm>
            <a:off x="558800" y="698500"/>
            <a:ext cx="5791200" cy="0"/>
          </a:xfrm>
          <a:prstGeom prst="line">
            <a:avLst/>
          </a:prstGeom>
          <a:ln w="15240">
            <a:solidFill>
              <a:srgbClr val="DAAB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429046B-9B11-4AD1-9F2B-1C67D1816EE6}"/>
              </a:ext>
            </a:extLst>
          </p:cNvPr>
          <p:cNvSpPr txBox="1"/>
          <p:nvPr/>
        </p:nvSpPr>
        <p:spPr>
          <a:xfrm>
            <a:off x="558800" y="18161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感谢观看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7A3E67-000D-1FFF-5A6D-062F8A85DACB}"/>
              </a:ext>
            </a:extLst>
          </p:cNvPr>
          <p:cNvSpPr txBox="1"/>
          <p:nvPr/>
        </p:nvSpPr>
        <p:spPr>
          <a:xfrm>
            <a:off x="558800" y="2895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8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Q &amp; A  </a:t>
            </a:r>
            <a:r>
              <a:rPr lang="zh-CN" altLang="en-US" sz="198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欢迎交流与指正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BB99F3-9CD8-9D23-677F-1395BF267E4F}"/>
              </a:ext>
            </a:extLst>
          </p:cNvPr>
          <p:cNvSpPr txBox="1"/>
          <p:nvPr/>
        </p:nvSpPr>
        <p:spPr>
          <a:xfrm>
            <a:off x="558800" y="396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8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探海灵眸 </a:t>
            </a:r>
            <a:r>
              <a:rPr lang="en-US" altLang="zh-CN" sz="1480" b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Oceanus</a:t>
            </a:r>
            <a:endParaRPr lang="zh-CN" altLang="en-US" sz="1480" b="1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530C6F-9D9C-8EA7-26D7-43C67DD32295}"/>
              </a:ext>
            </a:extLst>
          </p:cNvPr>
          <p:cNvSpPr txBox="1"/>
          <p:nvPr/>
        </p:nvSpPr>
        <p:spPr>
          <a:xfrm>
            <a:off x="558800" y="4394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AI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应用解决方案 </a:t>
            </a:r>
            <a:r>
              <a:rPr lang="en-US" altLang="zh-CN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· </a:t>
            </a:r>
            <a:r>
              <a:rPr lang="zh-CN" altLang="en-US" sz="125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海洋科创赛道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000EE7-2913-0960-5CA1-C1781C017027}"/>
              </a:ext>
            </a:extLst>
          </p:cNvPr>
          <p:cNvSpPr txBox="1"/>
          <p:nvPr/>
        </p:nvSpPr>
        <p:spPr>
          <a:xfrm>
            <a:off x="558800" y="4800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2026 </a:t>
            </a:r>
            <a:r>
              <a:rPr lang="zh-CN" altLang="en-US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海峡大学生人工智能创意大赛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F5821A-0E50-44A6-2EA1-C2061C671159}"/>
              </a:ext>
            </a:extLst>
          </p:cNvPr>
          <p:cNvSpPr txBox="1"/>
          <p:nvPr/>
        </p:nvSpPr>
        <p:spPr>
          <a:xfrm>
            <a:off x="558800" y="5257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海陆空协同海洋环境治理智能体平台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C6B4AD1-AD0D-4731-05B3-E5A27991C19F}"/>
              </a:ext>
            </a:extLst>
          </p:cNvPr>
          <p:cNvCxnSpPr/>
          <p:nvPr/>
        </p:nvCxnSpPr>
        <p:spPr>
          <a:xfrm>
            <a:off x="558800" y="5943600"/>
            <a:ext cx="4902200" cy="0"/>
          </a:xfrm>
          <a:prstGeom prst="line">
            <a:avLst/>
          </a:prstGeom>
          <a:ln w="8890">
            <a:solidFill>
              <a:srgbClr val="37485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943772E-B3A4-A9E0-9729-414BE5D2576A}"/>
              </a:ext>
            </a:extLst>
          </p:cNvPr>
          <p:cNvSpPr txBox="1"/>
          <p:nvPr/>
        </p:nvSpPr>
        <p:spPr>
          <a:xfrm>
            <a:off x="558800" y="60833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固定测评 </a:t>
            </a:r>
            <a:r>
              <a:rPr lang="en-US" altLang="zh-CN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27/27 · </a:t>
            </a:r>
            <a:r>
              <a:rPr lang="zh-CN" altLang="en-US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集成验收 </a:t>
            </a:r>
            <a:r>
              <a:rPr lang="en-US" altLang="zh-CN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129 </a:t>
            </a:r>
            <a:r>
              <a:rPr lang="zh-CN" altLang="en-US" sz="1200" b="1">
                <a:solidFill>
                  <a:srgbClr val="DAAB6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项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FD6A2B4-3CD1-C1F6-A68F-E9B1790CF3E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713" y="1333500"/>
            <a:ext cx="5889374" cy="44196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B3611E5-1561-A2A4-5018-3871D80DB4FD}"/>
              </a:ext>
            </a:extLst>
          </p:cNvPr>
          <p:cNvSpPr txBox="1"/>
          <p:nvPr/>
        </p:nvSpPr>
        <p:spPr>
          <a:xfrm>
            <a:off x="11176000" y="65024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D7E1E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21</a:t>
            </a:r>
            <a:endParaRPr lang="zh-CN" altLang="en-US" sz="1200" b="1">
              <a:solidFill>
                <a:srgbClr val="D7E1E2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644A21E-A048-6DE5-1975-9797F5084744}"/>
              </a:ext>
            </a:extLst>
          </p:cNvPr>
          <p:cNvCxnSpPr/>
          <p:nvPr/>
        </p:nvCxnSpPr>
        <p:spPr>
          <a:xfrm>
            <a:off x="304800" y="228600"/>
            <a:ext cx="533400" cy="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157E316-15B6-D407-2ACC-4823E0EF3AAF}"/>
              </a:ext>
            </a:extLst>
          </p:cNvPr>
          <p:cNvCxnSpPr/>
          <p:nvPr/>
        </p:nvCxnSpPr>
        <p:spPr>
          <a:xfrm>
            <a:off x="304800" y="228600"/>
            <a:ext cx="0" cy="53340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249E102-B187-5610-68FF-72B3C5CB0E8E}"/>
              </a:ext>
            </a:extLst>
          </p:cNvPr>
          <p:cNvCxnSpPr/>
          <p:nvPr/>
        </p:nvCxnSpPr>
        <p:spPr>
          <a:xfrm>
            <a:off x="11353800" y="228600"/>
            <a:ext cx="533400" cy="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E0DCB46-E4E2-9AC0-4D32-7230C5869E03}"/>
              </a:ext>
            </a:extLst>
          </p:cNvPr>
          <p:cNvCxnSpPr/>
          <p:nvPr/>
        </p:nvCxnSpPr>
        <p:spPr>
          <a:xfrm>
            <a:off x="11887200" y="228600"/>
            <a:ext cx="0" cy="53340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BCE3FD7-00F3-5D7B-8450-12DCD6E88456}"/>
              </a:ext>
            </a:extLst>
          </p:cNvPr>
          <p:cNvCxnSpPr/>
          <p:nvPr/>
        </p:nvCxnSpPr>
        <p:spPr>
          <a:xfrm>
            <a:off x="304800" y="6096000"/>
            <a:ext cx="0" cy="53340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3CF9761-8B89-F86C-5F8C-610534E83447}"/>
              </a:ext>
            </a:extLst>
          </p:cNvPr>
          <p:cNvCxnSpPr/>
          <p:nvPr/>
        </p:nvCxnSpPr>
        <p:spPr>
          <a:xfrm>
            <a:off x="304800" y="6629400"/>
            <a:ext cx="533400" cy="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B28F4CA-577B-63A8-F9C2-4EFD8E7800C4}"/>
              </a:ext>
            </a:extLst>
          </p:cNvPr>
          <p:cNvCxnSpPr/>
          <p:nvPr/>
        </p:nvCxnSpPr>
        <p:spPr>
          <a:xfrm>
            <a:off x="11353800" y="6629400"/>
            <a:ext cx="533400" cy="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599C9D2-9A60-466E-84EF-A5A9ED044A26}"/>
              </a:ext>
            </a:extLst>
          </p:cNvPr>
          <p:cNvCxnSpPr/>
          <p:nvPr/>
        </p:nvCxnSpPr>
        <p:spPr>
          <a:xfrm>
            <a:off x="11887200" y="6096000"/>
            <a:ext cx="0" cy="533400"/>
          </a:xfrm>
          <a:prstGeom prst="line">
            <a:avLst/>
          </a:prstGeom>
          <a:ln w="10160">
            <a:solidFill>
              <a:srgbClr val="DAA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11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5617</Words>
  <Application>Microsoft Office PowerPoint</Application>
  <PresentationFormat>宽屏</PresentationFormat>
  <Paragraphs>582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Noto Sans SC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2026-10-20T14:45:21Z</dcterms:created>
  <dcterms:modified xsi:type="dcterms:W3CDTF">2026-10-20T14:54:47Z</dcterms:modified>
  <dc:subject/>
  <cp:keywords/>
  <dc:description/>
  <cp:category/>
  <cp:contentStatus/>
  <dc:identifier/>
  <dc:language/>
  <cp:version/>
</cp:coreProperties>
</file>