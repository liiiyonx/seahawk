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2743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8B97A8"/>
                </a:solidFill>
                <a:latin typeface="Microsoft YaHei"/>
                <a:ea typeface="Microsoft YaHei"/>
              </a:rPr>
              <a:t>校级选拔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B6BB8"/>
                </a:solidFill>
                <a:latin typeface="Microsoft YaHei"/>
                <a:ea typeface="Microsoft YaHei"/>
              </a:rPr>
              <a:t>2026年福州理工学院人工智能创新项目校级选拔 · 项目介绍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618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海漂垃圾「感知—决策—执行」全链路智能治理系统  ·  AI+智慧海洋方向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7648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负责人：李涌翔（智能科学与技术2025级）   |   成员：许鑫杰 · 陈泽韩 · 李泽群 · 晏可鑫   |   指导教师：范忆梅</a:t>
            </a:r>
          </a:p>
        </p:txBody>
      </p:sp>
      <p:sp>
        <p:nvSpPr>
          <p:cNvPr id="8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问题背景与应用痛点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02 / 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960120"/>
            <a:ext cx="50749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ollu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3" y="996696"/>
            <a:ext cx="4584190" cy="34381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4048" y="4434839"/>
            <a:ext cx="5074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sz="1000" b="0">
                <a:solidFill>
                  <a:srgbClr val="8B97A8"/>
                </a:solidFill>
                <a:latin typeface="Microsoft YaHei"/>
                <a:ea typeface="Microsoft YaHei"/>
              </a:rPr>
              <a:t>沿海养殖区海漂垃圾典型场景（AI示意图）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014984"/>
            <a:ext cx="768096" cy="219456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/>
            <a:r>
              <a:rPr sz="900" b="1">
                <a:solidFill>
                  <a:srgbClr val="1E4FA8"/>
                </a:solidFill>
                <a:latin typeface="Microsoft YaHei"/>
                <a:ea typeface="Microsoft YaHei"/>
              </a:rPr>
              <a:t>AI示意图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809744"/>
            <a:ext cx="5074920" cy="786384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28032"/>
            <a:ext cx="48463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sz="1050" b="0">
                <a:solidFill>
                  <a:srgbClr val="1A2230"/>
                </a:solidFill>
                <a:latin typeface="Microsoft YaHei"/>
                <a:ea typeface="Microsoft YaHei"/>
              </a:rPr>
              <a:t>连江全县 2023年1—10月 累计清理海漂垃圾  </a:t>
            </a:r>
          </a:p>
          <a:p>
            <a:pPr algn="l"/>
            <a:r>
              <a:rPr lang="zh-CN" sz="1300" b="1">
                <a:solidFill>
                  <a:srgbClr val="D9534F"/>
                </a:solidFill>
                <a:latin typeface="Microsoft YaHei"/>
                <a:ea typeface="Microsoft YaHei"/>
              </a:rPr>
              <a:t>2.92 万吨</a:t>
            </a:r>
          </a:p>
          <a:p>
            <a:pPr algn="l"/>
            <a:r>
              <a:rPr lang="zh-CN" sz="950" b="0">
                <a:solidFill>
                  <a:srgbClr val="8B97A8"/>
                </a:solidFill>
                <a:latin typeface="Microsoft YaHei"/>
                <a:ea typeface="Microsoft YaHei"/>
              </a:rPr>
              <a:t>（公开报道口径）</a:t>
            </a:r>
          </a:p>
          <a:p>
            <a:pPr algn="l"/>
            <a:r>
              <a:rPr lang="zh-CN" sz="950" b="0">
                <a:solidFill>
                  <a:srgbClr val="0E3F8C"/>
                </a:solidFill>
                <a:latin typeface="Microsoft YaHei"/>
                <a:ea typeface="Microsoft YaHei"/>
              </a:rPr>
              <a:t>连江县海渔局访谈（2026.10，记录存档）：乡镇清运量「给不出确切数据」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96012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01  发现滞后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人工巡查覆盖有限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垃圾滞留海面数天，发现常滞后于扩散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96012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78240" y="96012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02  调度低效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电话协调跨队伍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派单靠经验，跨队伍空驶多、重复航行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96012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0" y="288036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03  临水风险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人工打捞安全风险高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船边捞取作业事故隐患大，依赖天气窗口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88036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78240" y="2880360"/>
            <a:ext cx="30175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73152" tIns="91440" b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3F8C"/>
                </a:solidFill>
                <a:latin typeface="Microsoft YaHei"/>
                <a:ea typeface="Microsoft YaHei"/>
              </a:rPr>
              <a:t>04  成效难量化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9534F"/>
                </a:solidFill>
                <a:latin typeface="Microsoft YaHei"/>
                <a:ea typeface="Microsoft YaHei"/>
              </a:rPr>
              <a:t>无统一台账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Microsoft YaHei"/>
                <a:ea typeface="Microsoft YaHei"/>
              </a:rPr>
              <a:t>清理量分散记录，考核与汇报缺数据支撑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880360"/>
            <a:ext cx="73152" cy="17830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5650992"/>
            <a:ext cx="11420856" cy="658368"/>
          </a:xfrm>
          <a:prstGeom prst="roundRect">
            <a:avLst>
              <a:gd name="adj" fmla="val 6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垃圾清理不是没有人在做，而是「发现慢、调度乱、算不清」</a:t>
            </a:r>
          </a:p>
        </p:txBody>
      </p:sp>
      <p:sp>
        <p:nvSpPr>
          <p:cNvPr id="38" name=""/>
          <p:cNvSpPr/>
          <p:nvPr/>
        </p:nvSpPr>
        <p:spPr>
          <a:xfrm>
            <a:off x="5664200" y="4813300"/>
            <a:ext cx="6134100" cy="7874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txBody>
          <a:bodyPr/>
          <a:p/>
        </p:txBody>
      </p:sp>
      <p:sp>
        <p:nvSpPr>
          <p:cNvPr id="39" name=""/>
          <p:cNvSpPr/>
          <p:nvPr/>
        </p:nvSpPr>
        <p:spPr>
          <a:xfrm>
            <a:off x="5791200" y="4889500"/>
            <a:ext cx="58801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1A2230"/>
                </a:solidFill>
                <a:latin typeface="Microsoft YaHei"/>
                <a:ea typeface="Microsoft YaHei"/>
              </a:rPr>
              <a:t>目标用户：县海渔局（付费方）· 沿海乡镇（执行方）· 海上环卫作业队（作业方）</a:t>
            </a:r>
            <a:endParaRPr/>
          </a:p>
          <a:p>
            <a:pPr/>
            <a:r>
              <a:rPr lang="zh-CN" sz="1000">
                <a:solidFill>
                  <a:srgbClr val="1A2230"/>
                </a:solidFill>
                <a:latin typeface="Microsoft YaHei"/>
                <a:ea typeface="Microsoft YaHei"/>
              </a:rPr>
              <a:t>为什么必须是AI：浪花泡沫/反光与浮球单帧难分、几十公里岸线人盯不过来——靠自动识别＋时序校验＋智能体研判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总体解决方案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03 / 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5440680"/>
            <a:ext cx="11420856" cy="77724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109728" bIns="109728"/>
          <a:lstStyle/>
          <a:p>
            <a:pPr algn="l"/>
            <a:r>
              <a:rPr lang="zh-CN" sz="1300" b="0">
                <a:solidFill>
                  <a:srgbClr val="0E3F8C"/>
                </a:solidFill>
                <a:latin typeface="Microsoft YaHei"/>
                <a:ea typeface="Microsoft YaHei"/>
              </a:rPr>
              <a:t>关键设计：机器人本体只是可替换的 MQTT 作业端，软件侧已具备「事件→规划→工具调用→工单→审批→派单→回传→审计→回放→评测」完整闭环，可先软件后硬件分期落地。</a:t>
            </a:r>
          </a:p>
        </p:txBody>
      </p:sp>
      <p:graphicFrame>
        <p:nvGraphicFramePr>
          <p:cNvPr id="90" name="架构总表"/>
          <p:cNvGraphicFramePr>
            <a:graphicFrameLocks noGrp="1"/>
          </p:cNvGraphicFramePr>
          <p:nvPr/>
        </p:nvGraphicFramePr>
        <p:xfrm>
          <a:off x="381000" y="863600"/>
          <a:ext cx="114173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2286000"/>
                <a:gridCol w="3111500"/>
                <a:gridCol w="3048000"/>
                <a:gridCol w="1955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核心组件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关键技术选型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层级职责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数据流向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感知层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岸基摄像头 · 边缘计算盒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OpenCV 主通道（零数据依赖、现场可调）＋ YOLO-World 零样本对照 ＋ 时序校验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漂浮垃圾实时识别与事件生成；瞬态误报抑制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① 视频流 → 流媒体 → 大屏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② 事件流 → 平台（MQTT）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决策层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智能体运行内核 · 事件研判 · 派单引擎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确定性 Runtime：计划 / 工具调用 / 策略守卫 / 人工审批 / 轨迹回放 ＋ PostGIS 空间就近派单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事件研判、空间就近派单；写操作须过策略守卫＋人工审批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③ 指令流 → 机器人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（MQTT）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执行层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3D7B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水面清洁机器人（可替换 MQTT 作业端）· 机械臂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MQTT 指令 / 回执 ＋ 树莓派总线舵机 SDK 受控拾取闭环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受控拾取作业；任务轨迹与状态回传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④ 回传流 → 平台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（MQTT＋对象存储）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0F5F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zh-CN"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核算层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数据底座 · 监测大屏 · 报表中心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PostgreSQL＋PostGIS ／ Redis 7 Streams ／ EMQX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热力图与量化报表；决策证据链与审计日志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治理台账与报表</a:t>
                      </a:r>
                    </a:p>
                    <a:p>
                      <a:pPr algn="l"/>
                      <a:r>
                        <a:rPr lang="zh-CN" sz="1000" b="0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→ 监管考核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5"/>
                      </a:solidFill>
                    </a:lnL>
                    <a:lnR w="6350" cap="flat" cmpd="sng" algn="ctr">
                      <a:solidFill>
                        <a:srgbClr val="D6DCE5"/>
                      </a:solidFill>
                    </a:lnR>
                    <a:lnT w="6350" cap="flat" cmpd="sng" algn="ctr">
                      <a:solidFill>
                        <a:srgbClr val="D6DCE5"/>
                      </a:solidFill>
                    </a:lnT>
                    <a:lnB w="6350" cap="flat" cmpd="sng" algn="ctr">
                      <a:solidFill>
                        <a:srgbClr val="D6DC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AI 技术路线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04 / 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1005840"/>
            <a:ext cx="59893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1005840"/>
            <a:ext cx="91440" cy="14173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1078992"/>
            <a:ext cx="571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</a:rPr>
              <a:t>边缘感知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1417320"/>
            <a:ext cx="56967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OpenCV 传统视觉主通道：零数据依赖、纯 CPU、参数现场可调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YOLO-World 零样本检测为对照通道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时序校验链路：抑制瞬态误报、空间聚类、历史对比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2532888"/>
            <a:ext cx="59893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2532888"/>
            <a:ext cx="91440" cy="14173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2606040"/>
            <a:ext cx="571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</a:rPr>
              <a:t>智能体决策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2944368"/>
            <a:ext cx="56967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确定性运行内核 Run / Step / Tool / Policy / Approval / Replay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写操作须经人工审批门禁；轨迹回放 + 证据链 + 审计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机械臂桥接：树莓派总线舵机 SDK，受控拾取闭环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059936"/>
            <a:ext cx="598932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4059936"/>
            <a:ext cx="91440" cy="141732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133088"/>
            <a:ext cx="571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D7BD9"/>
                </a:solidFill>
                <a:latin typeface="Microsoft YaHei"/>
                <a:ea typeface="Microsoft YaHei"/>
              </a:rPr>
              <a:t>数据底座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4471416"/>
            <a:ext cx="56967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PostgreSQL + PostGIS：空间索引支撑热力图与就近派单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Redis 7：缓存 + Streams 事件队列 + PEL 回收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230"/>
                </a:solidFill>
                <a:latin typeface="Microsoft YaHei"/>
                <a:ea typeface="Microsoft YaHei"/>
              </a:rPr>
              <a:t>• EMQX MQTT：移动网络友好的设备接入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005840"/>
            <a:ext cx="5266944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506474"/>
            <a:ext cx="5193792" cy="29215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7960" y="4892040"/>
            <a:ext cx="526694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智能体运行控制台实拍（运行列表 / 审批队列 / 工具目录 / 评测指标）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" y="5532120"/>
            <a:ext cx="11420856" cy="731520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91440" bIns="91440"/>
          <a:lstStyle/>
          <a:p>
            <a:pPr algn="l"/>
            <a:r>
              <a:rPr lang="zh-CN" sz="1300" b="1">
                <a:solidFill>
                  <a:srgbClr val="1E4FA8"/>
                </a:solidFill>
                <a:latin typeface="Microsoft YaHei"/>
                <a:ea typeface="Microsoft YaHei"/>
              </a:rPr>
              <a:t>口径纪律：</a:t>
            </a:r>
          </a:p>
          <a:p>
            <a:pPr algn="l"/>
            <a:r>
              <a:rPr lang="zh-CN" sz="1300" b="0">
                <a:solidFill>
                  <a:srgbClr val="0E3F8C"/>
                </a:solidFill>
                <a:latin typeface="Microsoft YaHei"/>
                <a:ea typeface="Microsoft YaHei"/>
              </a:rPr>
              <a:t>42%～76% 为时序链路误报抑制率（被时序过滤的检测数 / 输入检测数），非识别精度、非召回率。独立测试集量化评测省赛前补齐（见第 8 页计划①）。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当前成果与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05 / 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1061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项自动化测试通过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440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27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个智能体评测场景全通过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129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项真实状态集成验收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96012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</a:p>
          <a:p>
            <a:pPr algn="ctr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个平台页面 / 四类角色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2423160"/>
            <a:ext cx="55778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ete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" y="2459736"/>
            <a:ext cx="5055616" cy="28437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4048" y="5303520"/>
            <a:ext cx="5577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sz="1000" b="0">
                <a:solidFill>
                  <a:srgbClr val="8B97A8"/>
                </a:solidFill>
                <a:latin typeface="Microsoft YaHei"/>
                <a:ea typeface="Microsoft YaHei"/>
              </a:rPr>
              <a:t>受控环境实拍：边缘感知软件检出塑料袋（界面置信度 81%，非识别精度指标）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423160"/>
            <a:ext cx="560527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ap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896" y="2459736"/>
            <a:ext cx="4044744" cy="28437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99632" y="5303520"/>
            <a:ext cx="56052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监测大屏卫星地图：四乡镇点位 + 实时告警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669280"/>
            <a:ext cx="11420856" cy="603504"/>
          </a:xfrm>
          <a:prstGeom prst="roundRect">
            <a:avLst>
              <a:gd name="adj" fmla="val 5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91440" bIns="91440"/>
          <a:lstStyle/>
          <a:p>
            <a:pPr algn="l"/>
            <a:r>
              <a:rPr sz="1300" b="1">
                <a:solidFill>
                  <a:srgbClr val="1E4FA8"/>
                </a:solidFill>
                <a:latin typeface="Microsoft YaHei"/>
                <a:ea typeface="Microsoft YaHei"/>
              </a:rPr>
              <a:t>辅证：</a:t>
            </a:r>
          </a:p>
          <a:p>
            <a:pPr algn="l"/>
            <a:r>
              <a:rPr sz="1300" b="0">
                <a:solidFill>
                  <a:srgbClr val="0E3F8C"/>
                </a:solidFill>
                <a:latin typeface="Microsoft YaHei"/>
                <a:ea typeface="Microsoft YaHei"/>
              </a:rPr>
              <a:t>机械臂树莓派舵机受控闭环 · 129/129 真实状态集成验收 · 12 类缺陷注入自证 · 代码仓库 github.com/Liiiyonx/seahawk · 软件著作权登记申请中 · 可运行可演示可复现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创新点与优势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06 / 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96012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11247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11247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112471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区域级治理闭环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152704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感知—决策—执行—核算四级系统，区别于市面单机清洁船产品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96012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82512" y="11247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1247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112471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养殖区特色检测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52704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1200" b="0">
                <a:solidFill>
                  <a:srgbClr val="4A5568"/>
                </a:solidFill>
                <a:latin typeface="Microsoft YaHei"/>
                <a:ea typeface="Microsoft YaHei"/>
              </a:rPr>
              <a:t>面向养殖区四类特色垃圾（EPS 浮球/塑料/渔具/其他），轻量、可部署、参数现场可调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251460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352" y="267919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6791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267919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决策全程可追溯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308152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1200" b="0">
                <a:solidFill>
                  <a:srgbClr val="4A5568"/>
                </a:solidFill>
                <a:latin typeface="Microsoft YaHei"/>
                <a:ea typeface="Microsoft YaHei"/>
              </a:rPr>
              <a:t>轨迹回放 + 证据链 + 审计三重保障，AI 不越权执行、写操作须审批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2514600"/>
            <a:ext cx="557784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2512" y="267919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26791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2679192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3F8C"/>
                </a:solidFill>
                <a:latin typeface="Microsoft YaHei"/>
                <a:ea typeface="Microsoft YaHei"/>
              </a:rPr>
              <a:t>工程质量保障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3081528"/>
            <a:ext cx="4663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1200" b="0">
                <a:solidFill>
                  <a:srgbClr val="4A5568"/>
                </a:solidFill>
                <a:latin typeface="Microsoft YaHei"/>
                <a:ea typeface="Microsoft YaHei"/>
              </a:rPr>
              <a:t>契约漂移自证 + 缺陷注入自证，1061 项测试 + 129 集成验收覆盖七层验证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84048" y="4069080"/>
          <a:ext cx="1142085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4288536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市面竞品（WasteShark / Clearbot 等）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探海灵眸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单机产品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感知—决策—执行—核算四级系统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识别对象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通用漂浮垃圾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中国养殖区特色垃圾（EPS 浮球/渔具/饵料袋）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数据价值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清理量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热力图 + 派单调度 + 量化报表 + 溯源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WasteShark 起售价 2.36 万美元（按 1:7.2 折算约 17 万元/台）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国产化低成本路线（询价进行中）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应用价值与落地场景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07 / 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960120"/>
            <a:ext cx="448056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1268730"/>
            <a:ext cx="4407408" cy="33055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0" y="4846320"/>
            <a:ext cx="4480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B97A8"/>
                </a:solidFill>
                <a:latin typeface="Microsoft YaHei"/>
                <a:ea typeface="Microsoft YaHei"/>
              </a:rPr>
              <a:t>治理成效示意（AI示意图）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54512" y="1014984"/>
            <a:ext cx="768096" cy="219456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/>
            <a:r>
              <a:rPr sz="900" b="1">
                <a:solidFill>
                  <a:srgbClr val="1E4FA8"/>
                </a:solidFill>
                <a:latin typeface="Microsoft YaHei"/>
                <a:ea typeface="Microsoft YaHei"/>
              </a:rPr>
              <a:t>AI示意图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960120"/>
            <a:ext cx="66751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960120"/>
            <a:ext cx="91440" cy="123444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10515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</a:rPr>
              <a:t>县海洋渔业主管部门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10515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【付费方】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435608"/>
            <a:ext cx="64008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一张图监管考核汇报，事件/任务/清理量/风险可追溯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331720"/>
            <a:ext cx="66751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331720"/>
            <a:ext cx="91440" cy="1234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24231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</a:rPr>
              <a:t>沿海乡镇操作员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24231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【预算执行方】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2807208"/>
            <a:ext cx="64008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少点几次少打几个电话，异常自动到人，过程可追溯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703320"/>
            <a:ext cx="667512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3703320"/>
            <a:ext cx="91440" cy="123444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37947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D7BD9"/>
                </a:solidFill>
                <a:latin typeface="Microsoft YaHei"/>
                <a:ea typeface="Microsoft YaHei"/>
              </a:rPr>
              <a:t>海上环卫作业队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37947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9534F"/>
                </a:solidFill>
                <a:latin typeface="Microsoft YaHei"/>
                <a:ea typeface="Microsoft YaHei"/>
              </a:rPr>
              <a:t>【直接用户】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4178808"/>
            <a:ext cx="64008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Microsoft YaHei"/>
                <a:ea typeface="Microsoft YaHei"/>
              </a:rPr>
              <a:t>减少空驶和重复航行，保留人工接管，降低临水风险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5074920"/>
            <a:ext cx="6675120" cy="868680"/>
          </a:xfrm>
          <a:prstGeom prst="roundRect">
            <a:avLst>
              <a:gd name="adj" fmla="val 4000"/>
            </a:avLst>
          </a:prstGeom>
          <a:solidFill>
            <a:srgbClr val="F0F5FC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73152" bIns="7315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E3F8C"/>
                </a:solidFill>
                <a:latin typeface="Microsoft YaHei"/>
                <a:ea typeface="Microsoft YaHei"/>
              </a:rPr>
              <a:t>商业模式（测算价口径，非成交价）</a:t>
            </a:r>
          </a:p>
          <a:p>
            <a:pPr algn="l"/>
            <a:r>
              <a:rPr sz="1150" b="0">
                <a:solidFill>
                  <a:srgbClr val="1A2230"/>
                </a:solidFill>
                <a:latin typeface="Microsoft YaHei"/>
                <a:ea typeface="Microsoft YaHei"/>
              </a:rPr>
              <a:t>监测服务费 + 清理服务费 + 设备销售/租赁；访谈线索：现行采购为全县「全年总包制」</a:t>
            </a:r>
          </a:p>
          <a:p>
            <a:pPr algn="l"/>
            <a:r>
              <a:rPr sz="1150" b="0">
                <a:solidFill>
                  <a:srgbClr val="1E4FA8"/>
                </a:solidFill>
                <a:latin typeface="Microsoft YaHei"/>
                <a:ea typeface="Microsoft YaHei"/>
              </a:rPr>
              <a:t>水面机器人核心部件已完成 5 项供应商询价调研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6016752"/>
            <a:ext cx="5577840" cy="384048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/>
            <a:r>
              <a:rPr lang="zh-CN" sz="1150" b="1">
                <a:solidFill>
                  <a:srgbClr val="1E4FA8"/>
                </a:solidFill>
                <a:latin typeface="Microsoft YaHei"/>
                <a:ea typeface="Microsoft YaHei"/>
              </a:rPr>
              <a:t>连江县海渔局访谈（2026.10）：「自动识别＋清理，乡镇肯定非常的认可」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taviz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6309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E3F8C"/>
                </a:solidFill>
                <a:latin typeface="Microsoft YaHei"/>
                <a:ea typeface="Microsoft YaHei"/>
              </a:rPr>
              <a:t>后续完善计划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908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概况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9056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成果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9024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F0F5FC"/>
          </a:solidFill>
          <a:ln w="63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0">
                <a:solidFill>
                  <a:srgbClr val="8B97A8"/>
                </a:solidFill>
                <a:latin typeface="Microsoft YaHei"/>
                <a:ea typeface="Microsoft YaHei"/>
              </a:rPr>
              <a:t>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0" y="256032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583680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B97A8"/>
                </a:solidFill>
                <a:latin typeface="Microsoft YaHei"/>
                <a:ea typeface="Microsoft YaHei"/>
              </a:rPr>
              <a:t>探海灵眸 Oceanus · 福州理工学院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83680"/>
            <a:ext cx="17556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E4FA8"/>
                </a:solidFill>
                <a:latin typeface="Microsoft YaHei"/>
                <a:ea typeface="Microsoft YaHei"/>
              </a:rPr>
              <a:t>08 / 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463040"/>
            <a:ext cx="10725912" cy="36576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13432" y="1371600"/>
            <a:ext cx="219456" cy="219456"/>
          </a:xfrm>
          <a:prstGeom prst="ellipse">
            <a:avLst/>
          </a:prstGeom>
          <a:solidFill>
            <a:srgbClr val="1E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691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E4FA8"/>
                </a:solidFill>
                <a:latin typeface="Microsoft YaHei"/>
                <a:ea typeface="Microsoft YaHei"/>
              </a:rPr>
              <a:t>10.13—10.14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057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E3F8C"/>
                </a:solidFill>
                <a:latin typeface="Microsoft YaHei"/>
                <a:ea typeface="Microsoft YaHei"/>
              </a:rPr>
              <a:t>校内集中打磨</a:t>
            </a:r>
          </a:p>
        </p:txBody>
      </p:sp>
      <p:sp>
        <p:nvSpPr>
          <p:cNvPr id="20" name="Oval 19"/>
          <p:cNvSpPr/>
          <p:nvPr/>
        </p:nvSpPr>
        <p:spPr>
          <a:xfrm>
            <a:off x="5888736" y="1371600"/>
            <a:ext cx="219456" cy="219456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6824" y="1691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3F8C"/>
                </a:solidFill>
                <a:latin typeface="Microsoft YaHei"/>
                <a:ea typeface="Microsoft YaHei"/>
              </a:rPr>
              <a:t>10.15 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2057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sz="1400" b="0">
                <a:solidFill>
                  <a:srgbClr val="0E3F8C"/>
                </a:solidFill>
                <a:latin typeface="Microsoft YaHei"/>
                <a:ea typeface="Microsoft YaHei"/>
              </a:rPr>
              <a:t>海峡大赛报名</a:t>
            </a:r>
          </a:p>
        </p:txBody>
      </p:sp>
      <p:sp>
        <p:nvSpPr>
          <p:cNvPr id="23" name="Oval 22"/>
          <p:cNvSpPr/>
          <p:nvPr/>
        </p:nvSpPr>
        <p:spPr>
          <a:xfrm>
            <a:off x="9464040" y="1371600"/>
            <a:ext cx="219456" cy="219456"/>
          </a:xfrm>
          <a:prstGeom prst="ellipse">
            <a:avLst/>
          </a:prstGeom>
          <a:solidFill>
            <a:srgbClr val="3D7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1691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7BD9"/>
                </a:solidFill>
                <a:latin typeface="Microsoft YaHei"/>
                <a:ea typeface="Microsoft YaHei"/>
              </a:rPr>
              <a:t>10.16—10.20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2057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sz="1400" b="0">
                <a:solidFill>
                  <a:srgbClr val="0E3F8C"/>
                </a:solidFill>
                <a:latin typeface="Microsoft YaHei"/>
                <a:ea typeface="Microsoft YaHei"/>
              </a:rPr>
              <a:t>海峡大赛作品完善与提交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2423160"/>
            <a:ext cx="11420856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4048" y="2423160"/>
            <a:ext cx="11420856" cy="41148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423160"/>
            <a:ext cx="1115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</a:rPr>
              <a:t>海峡大赛前完善清单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971800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① 补齐感知独立测试集，形成量化评测报告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319272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② 水面机器人样机集成与受控水域联调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666744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③ 演示视频 / 讲解视频成片完善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014216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④ 补充系统设计文档、架构与接口定义说明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61688"/>
            <a:ext cx="10789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230"/>
                </a:solidFill>
                <a:latin typeface="Microsoft YaHei"/>
                <a:ea typeface="Microsoft YaHei"/>
              </a:rPr>
              <a:t>⑤ 推进与连江县沿海乡镇的试点对接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983480"/>
            <a:ext cx="11420856" cy="1188720"/>
          </a:xfrm>
          <a:prstGeom prst="roundRect">
            <a:avLst>
              <a:gd name="adj" fmla="val 4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73152" tIns="109728" bIns="109728"/>
          <a:lstStyle/>
          <a:p>
            <a:pPr algn="l">
              <a:spcAft>
                <a:spcPts val="600"/>
              </a:spcAft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诚信口径声明 —— 有据可依 · 有人把关 · 有迹可循</a:t>
            </a:r>
          </a:p>
          <a:p>
            <a:pPr algn="l">
              <a:spcAft>
                <a:spcPts val="300"/>
              </a:spcAft>
            </a:pPr>
            <a:r>
              <a:rPr lang="zh-CN" sz="1300" b="0">
                <a:solidFill>
                  <a:srgbClr val="1A2230"/>
                </a:solidFill>
                <a:latin typeface="Microsoft YaHei"/>
                <a:ea typeface="Microsoft YaHei"/>
              </a:rPr>
              <a:t>• 全部数据可溯源：测试可复跑、指标带口径、商业数字为测算价</a:t>
            </a:r>
          </a:p>
          <a:p>
            <a:pPr algn="l"/>
            <a:r>
              <a:rPr lang="zh-CN" sz="1300" b="0">
                <a:solidFill>
                  <a:srgbClr val="1A2230"/>
                </a:solidFill>
                <a:latin typeface="Microsoft YaHei"/>
                <a:ea typeface="Microsoft YaHei"/>
              </a:rPr>
              <a:t>• 关键口径：76%/42% 仅指「时序链路误报抑制率」，不代表识别精度</a:t>
            </a:r>
          </a:p>
          <a:p>
            <a:pPr algn="l"/>
            <a:r>
              <a:rPr lang="zh-CN" sz="1300" b="0">
                <a:solidFill>
                  <a:srgbClr val="1A2230"/>
                </a:solidFill>
                <a:latin typeface="Microsoft YaHei"/>
                <a:ea typeface="Microsoft YaHei"/>
              </a:rPr>
              <a:t>• AI 生成素材一律标注「AI示意图」；真实系统截图均为本机演示环境实测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